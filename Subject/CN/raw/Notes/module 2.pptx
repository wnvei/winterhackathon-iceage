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40" r:id="rId1"/>
  </p:sldMasterIdLst>
  <p:sldIdLst>
    <p:sldId id="256" r:id="rId2"/>
    <p:sldId id="315" r:id="rId3"/>
    <p:sldId id="311" r:id="rId4"/>
    <p:sldId id="312" r:id="rId5"/>
    <p:sldId id="257" r:id="rId6"/>
    <p:sldId id="258" r:id="rId7"/>
    <p:sldId id="259" r:id="rId8"/>
    <p:sldId id="313" r:id="rId9"/>
    <p:sldId id="260" r:id="rId10"/>
    <p:sldId id="306" r:id="rId11"/>
    <p:sldId id="314" r:id="rId12"/>
    <p:sldId id="261" r:id="rId13"/>
    <p:sldId id="316" r:id="rId14"/>
    <p:sldId id="263" r:id="rId15"/>
    <p:sldId id="317" r:id="rId16"/>
    <p:sldId id="325" r:id="rId17"/>
    <p:sldId id="326" r:id="rId18"/>
    <p:sldId id="327" r:id="rId19"/>
    <p:sldId id="264" r:id="rId20"/>
    <p:sldId id="273" r:id="rId21"/>
    <p:sldId id="267" r:id="rId22"/>
    <p:sldId id="268" r:id="rId23"/>
    <p:sldId id="274" r:id="rId24"/>
    <p:sldId id="269" r:id="rId25"/>
    <p:sldId id="270" r:id="rId26"/>
    <p:sldId id="318" r:id="rId27"/>
    <p:sldId id="319" r:id="rId28"/>
    <p:sldId id="283" r:id="rId29"/>
    <p:sldId id="284" r:id="rId30"/>
    <p:sldId id="320" r:id="rId31"/>
    <p:sldId id="286" r:id="rId32"/>
    <p:sldId id="287" r:id="rId33"/>
    <p:sldId id="289" r:id="rId34"/>
    <p:sldId id="290" r:id="rId35"/>
    <p:sldId id="291" r:id="rId36"/>
    <p:sldId id="292" r:id="rId37"/>
    <p:sldId id="294" r:id="rId38"/>
    <p:sldId id="305" r:id="rId39"/>
    <p:sldId id="304" r:id="rId40"/>
    <p:sldId id="296" r:id="rId41"/>
    <p:sldId id="321" r:id="rId42"/>
    <p:sldId id="322" r:id="rId43"/>
    <p:sldId id="297" r:id="rId44"/>
    <p:sldId id="307" r:id="rId45"/>
    <p:sldId id="308" r:id="rId46"/>
    <p:sldId id="309" r:id="rId47"/>
    <p:sldId id="323"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82" d="100"/>
          <a:sy n="82" d="100"/>
        </p:scale>
        <p:origin x="720" y="82"/>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nisha santhmayor" userId="6ac4dd35e4b97012" providerId="LiveId" clId="{8EFBE9A3-0E3A-4017-B044-4681D583E55E}"/>
    <pc:docChg chg="undo custSel delSld modSld">
      <pc:chgData name="vanisha santhmayor" userId="6ac4dd35e4b97012" providerId="LiveId" clId="{8EFBE9A3-0E3A-4017-B044-4681D583E55E}" dt="2025-09-04T03:26:27.524" v="58" actId="47"/>
      <pc:docMkLst>
        <pc:docMk/>
      </pc:docMkLst>
      <pc:sldChg chg="modSp mod">
        <pc:chgData name="vanisha santhmayor" userId="6ac4dd35e4b97012" providerId="LiveId" clId="{8EFBE9A3-0E3A-4017-B044-4681D583E55E}" dt="2025-08-23T05:16:14.170" v="34" actId="115"/>
        <pc:sldMkLst>
          <pc:docMk/>
          <pc:sldMk cId="2058601333" sldId="286"/>
        </pc:sldMkLst>
        <pc:spChg chg="mod">
          <ac:chgData name="vanisha santhmayor" userId="6ac4dd35e4b97012" providerId="LiveId" clId="{8EFBE9A3-0E3A-4017-B044-4681D583E55E}" dt="2025-08-23T05:16:14.170" v="34" actId="115"/>
          <ac:spMkLst>
            <pc:docMk/>
            <pc:sldMk cId="2058601333" sldId="286"/>
            <ac:spMk id="3" creationId="{00000000-0000-0000-0000-000000000000}"/>
          </ac:spMkLst>
        </pc:spChg>
      </pc:sldChg>
      <pc:sldChg chg="modSp mod">
        <pc:chgData name="vanisha santhmayor" userId="6ac4dd35e4b97012" providerId="LiveId" clId="{8EFBE9A3-0E3A-4017-B044-4681D583E55E}" dt="2025-08-23T05:11:34.573" v="9" actId="207"/>
        <pc:sldMkLst>
          <pc:docMk/>
          <pc:sldMk cId="136865491" sldId="287"/>
        </pc:sldMkLst>
        <pc:spChg chg="mod">
          <ac:chgData name="vanisha santhmayor" userId="6ac4dd35e4b97012" providerId="LiveId" clId="{8EFBE9A3-0E3A-4017-B044-4681D583E55E}" dt="2025-08-23T05:11:34.573" v="9" actId="207"/>
          <ac:spMkLst>
            <pc:docMk/>
            <pc:sldMk cId="136865491" sldId="287"/>
            <ac:spMk id="4" creationId="{F4D550E4-8F6C-DDDE-CED6-142F4A0C7515}"/>
          </ac:spMkLst>
        </pc:spChg>
      </pc:sldChg>
      <pc:sldChg chg="modSp mod">
        <pc:chgData name="vanisha santhmayor" userId="6ac4dd35e4b97012" providerId="LiveId" clId="{8EFBE9A3-0E3A-4017-B044-4681D583E55E}" dt="2025-08-23T05:11:46.484" v="10" actId="207"/>
        <pc:sldMkLst>
          <pc:docMk/>
          <pc:sldMk cId="4285773182" sldId="289"/>
        </pc:sldMkLst>
        <pc:spChg chg="mod">
          <ac:chgData name="vanisha santhmayor" userId="6ac4dd35e4b97012" providerId="LiveId" clId="{8EFBE9A3-0E3A-4017-B044-4681D583E55E}" dt="2025-08-23T05:11:46.484" v="10" actId="207"/>
          <ac:spMkLst>
            <pc:docMk/>
            <pc:sldMk cId="4285773182" sldId="289"/>
            <ac:spMk id="3" creationId="{00000000-0000-0000-0000-000000000000}"/>
          </ac:spMkLst>
        </pc:spChg>
      </pc:sldChg>
      <pc:sldChg chg="modSp mod">
        <pc:chgData name="vanisha santhmayor" userId="6ac4dd35e4b97012" providerId="LiveId" clId="{8EFBE9A3-0E3A-4017-B044-4681D583E55E}" dt="2025-08-23T05:13:10.300" v="25" actId="113"/>
        <pc:sldMkLst>
          <pc:docMk/>
          <pc:sldMk cId="914504977" sldId="290"/>
        </pc:sldMkLst>
        <pc:spChg chg="mod">
          <ac:chgData name="vanisha santhmayor" userId="6ac4dd35e4b97012" providerId="LiveId" clId="{8EFBE9A3-0E3A-4017-B044-4681D583E55E}" dt="2025-08-23T05:13:10.300" v="25" actId="113"/>
          <ac:spMkLst>
            <pc:docMk/>
            <pc:sldMk cId="914504977" sldId="290"/>
            <ac:spMk id="2" creationId="{00000000-0000-0000-0000-000000000000}"/>
          </ac:spMkLst>
        </pc:spChg>
        <pc:spChg chg="mod">
          <ac:chgData name="vanisha santhmayor" userId="6ac4dd35e4b97012" providerId="LiveId" clId="{8EFBE9A3-0E3A-4017-B044-4681D583E55E}" dt="2025-08-23T05:12:06.212" v="12" actId="207"/>
          <ac:spMkLst>
            <pc:docMk/>
            <pc:sldMk cId="914504977" sldId="290"/>
            <ac:spMk id="3" creationId="{00000000-0000-0000-0000-000000000000}"/>
          </ac:spMkLst>
        </pc:spChg>
      </pc:sldChg>
      <pc:sldChg chg="modSp mod">
        <pc:chgData name="vanisha santhmayor" userId="6ac4dd35e4b97012" providerId="LiveId" clId="{8EFBE9A3-0E3A-4017-B044-4681D583E55E}" dt="2025-08-23T05:12:27.058" v="15" actId="207"/>
        <pc:sldMkLst>
          <pc:docMk/>
          <pc:sldMk cId="374208636" sldId="291"/>
        </pc:sldMkLst>
        <pc:spChg chg="mod">
          <ac:chgData name="vanisha santhmayor" userId="6ac4dd35e4b97012" providerId="LiveId" clId="{8EFBE9A3-0E3A-4017-B044-4681D583E55E}" dt="2025-08-23T05:12:27.058" v="15" actId="207"/>
          <ac:spMkLst>
            <pc:docMk/>
            <pc:sldMk cId="374208636" sldId="291"/>
            <ac:spMk id="3" creationId="{00000000-0000-0000-0000-000000000000}"/>
          </ac:spMkLst>
        </pc:spChg>
      </pc:sldChg>
      <pc:sldChg chg="modSp mod">
        <pc:chgData name="vanisha santhmayor" userId="6ac4dd35e4b97012" providerId="LiveId" clId="{8EFBE9A3-0E3A-4017-B044-4681D583E55E}" dt="2025-08-23T05:12:49.134" v="19" actId="207"/>
        <pc:sldMkLst>
          <pc:docMk/>
          <pc:sldMk cId="766801846" sldId="292"/>
        </pc:sldMkLst>
        <pc:spChg chg="mod">
          <ac:chgData name="vanisha santhmayor" userId="6ac4dd35e4b97012" providerId="LiveId" clId="{8EFBE9A3-0E3A-4017-B044-4681D583E55E}" dt="2025-08-23T05:12:49.134" v="19" actId="207"/>
          <ac:spMkLst>
            <pc:docMk/>
            <pc:sldMk cId="766801846" sldId="292"/>
            <ac:spMk id="3" creationId="{00000000-0000-0000-0000-000000000000}"/>
          </ac:spMkLst>
        </pc:spChg>
      </pc:sldChg>
      <pc:sldChg chg="modSp mod">
        <pc:chgData name="vanisha santhmayor" userId="6ac4dd35e4b97012" providerId="LiveId" clId="{8EFBE9A3-0E3A-4017-B044-4681D583E55E}" dt="2025-08-28T03:26:04.068" v="37" actId="207"/>
        <pc:sldMkLst>
          <pc:docMk/>
          <pc:sldMk cId="672507984" sldId="294"/>
        </pc:sldMkLst>
        <pc:spChg chg="mod">
          <ac:chgData name="vanisha santhmayor" userId="6ac4dd35e4b97012" providerId="LiveId" clId="{8EFBE9A3-0E3A-4017-B044-4681D583E55E}" dt="2025-08-28T03:26:04.068" v="37" actId="207"/>
          <ac:spMkLst>
            <pc:docMk/>
            <pc:sldMk cId="672507984" sldId="294"/>
            <ac:spMk id="3" creationId="{00000000-0000-0000-0000-000000000000}"/>
          </ac:spMkLst>
        </pc:spChg>
        <pc:picChg chg="mod">
          <ac:chgData name="vanisha santhmayor" userId="6ac4dd35e4b97012" providerId="LiveId" clId="{8EFBE9A3-0E3A-4017-B044-4681D583E55E}" dt="2025-08-28T03:25:25.473" v="36" actId="14100"/>
          <ac:picMkLst>
            <pc:docMk/>
            <pc:sldMk cId="672507984" sldId="294"/>
            <ac:picMk id="4" creationId="{1BD7C8D6-4B50-B81B-A783-A71D9B3ED7B0}"/>
          </ac:picMkLst>
        </pc:picChg>
      </pc:sldChg>
      <pc:sldChg chg="modSp mod">
        <pc:chgData name="vanisha santhmayor" userId="6ac4dd35e4b97012" providerId="LiveId" clId="{8EFBE9A3-0E3A-4017-B044-4681D583E55E}" dt="2025-08-28T03:34:15.464" v="47" actId="207"/>
        <pc:sldMkLst>
          <pc:docMk/>
          <pc:sldMk cId="691474338" sldId="296"/>
        </pc:sldMkLst>
        <pc:spChg chg="mod">
          <ac:chgData name="vanisha santhmayor" userId="6ac4dd35e4b97012" providerId="LiveId" clId="{8EFBE9A3-0E3A-4017-B044-4681D583E55E}" dt="2025-08-28T03:34:15.464" v="47" actId="207"/>
          <ac:spMkLst>
            <pc:docMk/>
            <pc:sldMk cId="691474338" sldId="296"/>
            <ac:spMk id="3" creationId="{00000000-0000-0000-0000-000000000000}"/>
          </ac:spMkLst>
        </pc:spChg>
      </pc:sldChg>
      <pc:sldChg chg="modSp mod">
        <pc:chgData name="vanisha santhmayor" userId="6ac4dd35e4b97012" providerId="LiveId" clId="{8EFBE9A3-0E3A-4017-B044-4681D583E55E}" dt="2025-08-28T03:28:00.099" v="45" actId="207"/>
        <pc:sldMkLst>
          <pc:docMk/>
          <pc:sldMk cId="1216342331" sldId="304"/>
        </pc:sldMkLst>
        <pc:spChg chg="mod">
          <ac:chgData name="vanisha santhmayor" userId="6ac4dd35e4b97012" providerId="LiveId" clId="{8EFBE9A3-0E3A-4017-B044-4681D583E55E}" dt="2025-08-28T03:28:00.099" v="45" actId="207"/>
          <ac:spMkLst>
            <pc:docMk/>
            <pc:sldMk cId="1216342331" sldId="304"/>
            <ac:spMk id="3" creationId="{00000000-0000-0000-0000-000000000000}"/>
          </ac:spMkLst>
        </pc:spChg>
        <pc:picChg chg="mod">
          <ac:chgData name="vanisha santhmayor" userId="6ac4dd35e4b97012" providerId="LiveId" clId="{8EFBE9A3-0E3A-4017-B044-4681D583E55E}" dt="2025-08-28T03:27:34.951" v="42" actId="14100"/>
          <ac:picMkLst>
            <pc:docMk/>
            <pc:sldMk cId="1216342331" sldId="304"/>
            <ac:picMk id="5" creationId="{A59620E0-F078-BBCE-3499-C02B2888A339}"/>
          </ac:picMkLst>
        </pc:picChg>
      </pc:sldChg>
      <pc:sldChg chg="modSp mod">
        <pc:chgData name="vanisha santhmayor" userId="6ac4dd35e4b97012" providerId="LiveId" clId="{8EFBE9A3-0E3A-4017-B044-4681D583E55E}" dt="2025-08-28T03:27:28.120" v="41" actId="207"/>
        <pc:sldMkLst>
          <pc:docMk/>
          <pc:sldMk cId="2279190164" sldId="305"/>
        </pc:sldMkLst>
        <pc:spChg chg="mod">
          <ac:chgData name="vanisha santhmayor" userId="6ac4dd35e4b97012" providerId="LiveId" clId="{8EFBE9A3-0E3A-4017-B044-4681D583E55E}" dt="2025-08-28T03:27:28.120" v="41" actId="207"/>
          <ac:spMkLst>
            <pc:docMk/>
            <pc:sldMk cId="2279190164" sldId="305"/>
            <ac:spMk id="3" creationId="{00000000-0000-0000-0000-000000000000}"/>
          </ac:spMkLst>
        </pc:spChg>
      </pc:sldChg>
      <pc:sldChg chg="modSp mod">
        <pc:chgData name="vanisha santhmayor" userId="6ac4dd35e4b97012" providerId="LiveId" clId="{8EFBE9A3-0E3A-4017-B044-4681D583E55E}" dt="2025-08-28T06:10:42.716" v="54" actId="207"/>
        <pc:sldMkLst>
          <pc:docMk/>
          <pc:sldMk cId="3545691937" sldId="307"/>
        </pc:sldMkLst>
        <pc:spChg chg="mod">
          <ac:chgData name="vanisha santhmayor" userId="6ac4dd35e4b97012" providerId="LiveId" clId="{8EFBE9A3-0E3A-4017-B044-4681D583E55E}" dt="2025-08-28T06:10:42.716" v="54" actId="207"/>
          <ac:spMkLst>
            <pc:docMk/>
            <pc:sldMk cId="3545691937" sldId="307"/>
            <ac:spMk id="3" creationId="{00000000-0000-0000-0000-000000000000}"/>
          </ac:spMkLst>
        </pc:spChg>
      </pc:sldChg>
      <pc:sldChg chg="modSp mod">
        <pc:chgData name="vanisha santhmayor" userId="6ac4dd35e4b97012" providerId="LiveId" clId="{8EFBE9A3-0E3A-4017-B044-4681D583E55E}" dt="2025-08-28T06:10:32.047" v="53" actId="207"/>
        <pc:sldMkLst>
          <pc:docMk/>
          <pc:sldMk cId="808631461" sldId="308"/>
        </pc:sldMkLst>
        <pc:spChg chg="mod">
          <ac:chgData name="vanisha santhmayor" userId="6ac4dd35e4b97012" providerId="LiveId" clId="{8EFBE9A3-0E3A-4017-B044-4681D583E55E}" dt="2025-08-28T06:10:25.216" v="52" actId="207"/>
          <ac:spMkLst>
            <pc:docMk/>
            <pc:sldMk cId="808631461" sldId="308"/>
            <ac:spMk id="2" creationId="{00000000-0000-0000-0000-000000000000}"/>
          </ac:spMkLst>
        </pc:spChg>
        <pc:spChg chg="mod">
          <ac:chgData name="vanisha santhmayor" userId="6ac4dd35e4b97012" providerId="LiveId" clId="{8EFBE9A3-0E3A-4017-B044-4681D583E55E}" dt="2025-08-28T06:10:32.047" v="53" actId="207"/>
          <ac:spMkLst>
            <pc:docMk/>
            <pc:sldMk cId="808631461" sldId="308"/>
            <ac:spMk id="3" creationId="{00000000-0000-0000-0000-000000000000}"/>
          </ac:spMkLst>
        </pc:spChg>
      </pc:sldChg>
      <pc:sldChg chg="modSp mod">
        <pc:chgData name="vanisha santhmayor" userId="6ac4dd35e4b97012" providerId="LiveId" clId="{8EFBE9A3-0E3A-4017-B044-4681D583E55E}" dt="2025-08-28T06:10:53.024" v="56" actId="115"/>
        <pc:sldMkLst>
          <pc:docMk/>
          <pc:sldMk cId="795078296" sldId="309"/>
        </pc:sldMkLst>
        <pc:spChg chg="mod">
          <ac:chgData name="vanisha santhmayor" userId="6ac4dd35e4b97012" providerId="LiveId" clId="{8EFBE9A3-0E3A-4017-B044-4681D583E55E}" dt="2025-08-28T06:10:53.024" v="56" actId="115"/>
          <ac:spMkLst>
            <pc:docMk/>
            <pc:sldMk cId="795078296" sldId="309"/>
            <ac:spMk id="3" creationId="{00000000-0000-0000-0000-000000000000}"/>
          </ac:spMkLst>
        </pc:spChg>
      </pc:sldChg>
      <pc:sldChg chg="modSp mod">
        <pc:chgData name="vanisha santhmayor" userId="6ac4dd35e4b97012" providerId="LiveId" clId="{8EFBE9A3-0E3A-4017-B044-4681D583E55E}" dt="2025-08-23T05:06:59.942" v="3" actId="27636"/>
        <pc:sldMkLst>
          <pc:docMk/>
          <pc:sldMk cId="2782074409" sldId="318"/>
        </pc:sldMkLst>
        <pc:spChg chg="mod">
          <ac:chgData name="vanisha santhmayor" userId="6ac4dd35e4b97012" providerId="LiveId" clId="{8EFBE9A3-0E3A-4017-B044-4681D583E55E}" dt="2025-08-23T05:06:59.942" v="3" actId="27636"/>
          <ac:spMkLst>
            <pc:docMk/>
            <pc:sldMk cId="2782074409" sldId="318"/>
            <ac:spMk id="3" creationId="{00000000-0000-0000-0000-000000000000}"/>
          </ac:spMkLst>
        </pc:spChg>
      </pc:sldChg>
      <pc:sldChg chg="modSp mod">
        <pc:chgData name="vanisha santhmayor" userId="6ac4dd35e4b97012" providerId="LiveId" clId="{8EFBE9A3-0E3A-4017-B044-4681D583E55E}" dt="2025-08-23T05:07:34.184" v="4" actId="14100"/>
        <pc:sldMkLst>
          <pc:docMk/>
          <pc:sldMk cId="3877172846" sldId="319"/>
        </pc:sldMkLst>
        <pc:picChg chg="mod">
          <ac:chgData name="vanisha santhmayor" userId="6ac4dd35e4b97012" providerId="LiveId" clId="{8EFBE9A3-0E3A-4017-B044-4681D583E55E}" dt="2025-08-23T05:07:34.184" v="4" actId="14100"/>
          <ac:picMkLst>
            <pc:docMk/>
            <pc:sldMk cId="3877172846" sldId="319"/>
            <ac:picMk id="4" creationId="{00000000-0000-0000-0000-000000000000}"/>
          </ac:picMkLst>
        </pc:picChg>
      </pc:sldChg>
      <pc:sldChg chg="modSp mod">
        <pc:chgData name="vanisha santhmayor" userId="6ac4dd35e4b97012" providerId="LiveId" clId="{8EFBE9A3-0E3A-4017-B044-4681D583E55E}" dt="2025-08-23T05:14:32.690" v="31" actId="207"/>
        <pc:sldMkLst>
          <pc:docMk/>
          <pc:sldMk cId="1968004329" sldId="320"/>
        </pc:sldMkLst>
        <pc:spChg chg="mod">
          <ac:chgData name="vanisha santhmayor" userId="6ac4dd35e4b97012" providerId="LiveId" clId="{8EFBE9A3-0E3A-4017-B044-4681D583E55E}" dt="2025-08-23T05:14:32.690" v="31" actId="207"/>
          <ac:spMkLst>
            <pc:docMk/>
            <pc:sldMk cId="1968004329" sldId="320"/>
            <ac:spMk id="3" creationId="{00000000-0000-0000-0000-000000000000}"/>
          </ac:spMkLst>
        </pc:spChg>
      </pc:sldChg>
      <pc:sldChg chg="modSp mod">
        <pc:chgData name="vanisha santhmayor" userId="6ac4dd35e4b97012" providerId="LiveId" clId="{8EFBE9A3-0E3A-4017-B044-4681D583E55E}" dt="2025-08-28T03:35:06.182" v="51" actId="207"/>
        <pc:sldMkLst>
          <pc:docMk/>
          <pc:sldMk cId="1770205577" sldId="321"/>
        </pc:sldMkLst>
        <pc:spChg chg="mod">
          <ac:chgData name="vanisha santhmayor" userId="6ac4dd35e4b97012" providerId="LiveId" clId="{8EFBE9A3-0E3A-4017-B044-4681D583E55E}" dt="2025-08-28T03:35:06.182" v="51" actId="207"/>
          <ac:spMkLst>
            <pc:docMk/>
            <pc:sldMk cId="1770205577" sldId="321"/>
            <ac:spMk id="3" creationId="{00000000-0000-0000-0000-000000000000}"/>
          </ac:spMkLst>
        </pc:spChg>
        <pc:picChg chg="mod">
          <ac:chgData name="vanisha santhmayor" userId="6ac4dd35e4b97012" providerId="LiveId" clId="{8EFBE9A3-0E3A-4017-B044-4681D583E55E}" dt="2025-08-28T03:34:35.696" v="49" actId="14100"/>
          <ac:picMkLst>
            <pc:docMk/>
            <pc:sldMk cId="1770205577" sldId="321"/>
            <ac:picMk id="4" creationId="{1B3E526E-F1A3-BCFF-AF2C-96B10F56C66C}"/>
          </ac:picMkLst>
        </pc:picChg>
      </pc:sldChg>
      <pc:sldChg chg="del">
        <pc:chgData name="vanisha santhmayor" userId="6ac4dd35e4b97012" providerId="LiveId" clId="{8EFBE9A3-0E3A-4017-B044-4681D583E55E}" dt="2025-09-04T03:26:27.524" v="58" actId="47"/>
        <pc:sldMkLst>
          <pc:docMk/>
          <pc:sldMk cId="2674400466" sldId="324"/>
        </pc:sldMkLst>
      </pc:sldChg>
      <pc:sldChg chg="del">
        <pc:chgData name="vanisha santhmayor" userId="6ac4dd35e4b97012" providerId="LiveId" clId="{8EFBE9A3-0E3A-4017-B044-4681D583E55E}" dt="2025-08-28T06:11:02.230" v="57" actId="47"/>
        <pc:sldMkLst>
          <pc:docMk/>
          <pc:sldMk cId="4174682599" sldId="328"/>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48A87A34-81AB-432B-8DAE-1953F412C126}" type="datetimeFigureOut">
              <a:rPr lang="en-US" smtClean="0"/>
              <a:t>9/4/2025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4678611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8A87A34-81AB-432B-8DAE-1953F412C126}" type="datetimeFigureOut">
              <a:rPr lang="en-US" smtClean="0"/>
              <a:t>9/4/2025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5074971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9/4/2025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56360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48A87A34-81AB-432B-8DAE-1953F412C126}" type="datetimeFigureOut">
              <a:rPr lang="en-US" smtClean="0"/>
              <a:t>9/4/2025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9949608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48A87A34-81AB-432B-8DAE-1953F412C126}" type="datetimeFigureOut">
              <a:rPr lang="en-US" smtClean="0"/>
              <a:t>9/4/2025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6217073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48A87A34-81AB-432B-8DAE-1953F412C126}" type="datetimeFigureOut">
              <a:rPr lang="en-US" smtClean="0"/>
              <a:t>9/4/2025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5752764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9/4/2025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7249454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9/4/2025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0018589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9/4/2025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0689618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8A87A34-81AB-432B-8DAE-1953F412C126}" type="datetimeFigureOut">
              <a:rPr lang="en-US" smtClean="0"/>
              <a:t>9/4/2025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8336955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8A87A34-81AB-432B-8DAE-1953F412C126}" type="datetimeFigureOut">
              <a:rPr lang="en-US" smtClean="0"/>
              <a:t>9/4/2025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5320465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8A87A34-81AB-432B-8DAE-1953F412C126}" type="datetimeFigureOut">
              <a:rPr lang="en-US" smtClean="0"/>
              <a:pPr/>
              <a:t>9/4/2025</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011473256"/>
      </p:ext>
    </p:extLst>
  </p:cSld>
  <p:clrMap bg1="lt1" tx1="dk1" bg2="lt2" tx2="dk2" accent1="accent1" accent2="accent2" accent3="accent3" accent4="accent4" accent5="accent5" accent6="accent6" hlink="hlink" folHlink="folHlink"/>
  <p:sldLayoutIdLst>
    <p:sldLayoutId id="2147483741" r:id="rId1"/>
    <p:sldLayoutId id="2147483742" r:id="rId2"/>
    <p:sldLayoutId id="2147483743" r:id="rId3"/>
    <p:sldLayoutId id="2147483744" r:id="rId4"/>
    <p:sldLayoutId id="2147483745" r:id="rId5"/>
    <p:sldLayoutId id="2147483746" r:id="rId6"/>
    <p:sldLayoutId id="2147483747" r:id="rId7"/>
    <p:sldLayoutId id="2147483748" r:id="rId8"/>
    <p:sldLayoutId id="2147483749" r:id="rId9"/>
    <p:sldLayoutId id="2147483750" r:id="rId10"/>
    <p:sldLayoutId id="214748375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ea typeface="Cambria" panose="02040503050406030204" pitchFamily="18" charset="0"/>
              </a:rPr>
              <a:t>Module 2-Network Layer</a:t>
            </a:r>
            <a:endParaRPr lang="en-IN" dirty="0">
              <a:ea typeface="Cambria" panose="02040503050406030204" pitchFamily="18" charset="0"/>
            </a:endParaRPr>
          </a:p>
        </p:txBody>
      </p:sp>
    </p:spTree>
    <p:extLst>
      <p:ext uri="{BB962C8B-B14F-4D97-AF65-F5344CB8AC3E}">
        <p14:creationId xmlns:p14="http://schemas.microsoft.com/office/powerpoint/2010/main" val="26559418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p:txBody>
          <a:bodyPr/>
          <a:lstStyle/>
          <a:p>
            <a:r>
              <a:rPr lang="en-US" b="1" dirty="0"/>
              <a:t>Routing algorithms: </a:t>
            </a:r>
            <a:r>
              <a:rPr lang="en-US" dirty="0"/>
              <a:t>The Optimality Principle, Shortest Path Routing, Flooding, Distance Vector Routing, Link state Routing, Hierarchical Routing. </a:t>
            </a:r>
          </a:p>
          <a:p>
            <a:r>
              <a:rPr lang="en-IN" b="1" dirty="0"/>
              <a:t>Congestion Control Algorithms</a:t>
            </a:r>
            <a:r>
              <a:rPr lang="en-IN" dirty="0"/>
              <a:t>: General Principles of Congestion Control, Congestion Prevention Policies, Congestion Control in Virtual-Circuit Subnets, Congestion Control in Datagram Subnets, Load Shedding, Jitter Control. </a:t>
            </a:r>
          </a:p>
          <a:p>
            <a:r>
              <a:rPr lang="en-IN" b="1" dirty="0"/>
              <a:t>Chapter 5: 5.2, 5.3 </a:t>
            </a:r>
            <a:r>
              <a:rPr lang="en-IN" dirty="0"/>
              <a:t>	</a:t>
            </a:r>
          </a:p>
          <a:p>
            <a:endParaRPr lang="en-IN" dirty="0"/>
          </a:p>
        </p:txBody>
      </p:sp>
    </p:spTree>
    <p:extLst>
      <p:ext uri="{BB962C8B-B14F-4D97-AF65-F5344CB8AC3E}">
        <p14:creationId xmlns:p14="http://schemas.microsoft.com/office/powerpoint/2010/main" val="8114019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Routing Algorithms </a:t>
            </a:r>
            <a:endParaRPr lang="en-IN" dirty="0"/>
          </a:p>
        </p:txBody>
      </p:sp>
      <p:sp>
        <p:nvSpPr>
          <p:cNvPr id="3" name="Content Placeholder 2"/>
          <p:cNvSpPr>
            <a:spLocks noGrp="1"/>
          </p:cNvSpPr>
          <p:nvPr>
            <p:ph idx="1"/>
          </p:nvPr>
        </p:nvSpPr>
        <p:spPr/>
        <p:txBody>
          <a:bodyPr>
            <a:normAutofit fontScale="92500" lnSpcReduction="10000"/>
          </a:bodyPr>
          <a:lstStyle/>
          <a:p>
            <a:r>
              <a:rPr lang="en-US" dirty="0">
                <a:latin typeface="+mj-lt"/>
              </a:rPr>
              <a:t>The main function of NL (Network Layer) is </a:t>
            </a:r>
            <a:r>
              <a:rPr lang="en-US" u="sng" dirty="0">
                <a:latin typeface="+mj-lt"/>
              </a:rPr>
              <a:t>routing packets </a:t>
            </a:r>
            <a:r>
              <a:rPr lang="en-US" dirty="0">
                <a:latin typeface="+mj-lt"/>
              </a:rPr>
              <a:t>from the source machine to the </a:t>
            </a:r>
            <a:r>
              <a:rPr lang="en-IN" dirty="0">
                <a:latin typeface="+mj-lt"/>
              </a:rPr>
              <a:t>destination machine. </a:t>
            </a:r>
          </a:p>
          <a:p>
            <a:r>
              <a:rPr lang="en-US" dirty="0">
                <a:latin typeface="+mj-lt"/>
              </a:rPr>
              <a:t>There are two processes inside router: </a:t>
            </a:r>
          </a:p>
          <a:p>
            <a:r>
              <a:rPr lang="en-IN" dirty="0">
                <a:solidFill>
                  <a:srgbClr val="FF0000"/>
                </a:solidFill>
                <a:latin typeface="+mj-lt"/>
              </a:rPr>
              <a:t>a) </a:t>
            </a:r>
            <a:r>
              <a:rPr lang="en-US" dirty="0">
                <a:solidFill>
                  <a:srgbClr val="FF0000"/>
                </a:solidFill>
                <a:latin typeface="+mj-lt"/>
              </a:rPr>
              <a:t>One of them handles each packet as it arrives, </a:t>
            </a:r>
            <a:r>
              <a:rPr lang="en-US" u="sng" dirty="0">
                <a:solidFill>
                  <a:srgbClr val="FF0000"/>
                </a:solidFill>
                <a:latin typeface="+mj-lt"/>
              </a:rPr>
              <a:t>looking up the outgoing line </a:t>
            </a:r>
            <a:r>
              <a:rPr lang="en-US" dirty="0">
                <a:solidFill>
                  <a:srgbClr val="FF0000"/>
                </a:solidFill>
                <a:latin typeface="+mj-lt"/>
              </a:rPr>
              <a:t>to use for it in </a:t>
            </a:r>
            <a:r>
              <a:rPr lang="en-IN" dirty="0">
                <a:solidFill>
                  <a:srgbClr val="FF0000"/>
                </a:solidFill>
                <a:latin typeface="+mj-lt"/>
              </a:rPr>
              <a:t>the</a:t>
            </a:r>
            <a:r>
              <a:rPr lang="en-US" dirty="0">
                <a:solidFill>
                  <a:srgbClr val="FF0000"/>
                </a:solidFill>
                <a:latin typeface="+mj-lt"/>
              </a:rPr>
              <a:t> routing table. This process is </a:t>
            </a:r>
            <a:r>
              <a:rPr lang="en-IN" u="sng" dirty="0">
                <a:solidFill>
                  <a:srgbClr val="FF0000"/>
                </a:solidFill>
                <a:latin typeface="+mj-lt"/>
              </a:rPr>
              <a:t>forwarding. </a:t>
            </a:r>
          </a:p>
          <a:p>
            <a:r>
              <a:rPr lang="en-IN" dirty="0">
                <a:solidFill>
                  <a:srgbClr val="FF0000"/>
                </a:solidFill>
                <a:latin typeface="+mj-lt"/>
              </a:rPr>
              <a:t>b) The other process is </a:t>
            </a:r>
            <a:r>
              <a:rPr lang="en-US" dirty="0">
                <a:solidFill>
                  <a:srgbClr val="FF0000"/>
                </a:solidFill>
                <a:latin typeface="+mj-lt"/>
              </a:rPr>
              <a:t>responsible for </a:t>
            </a:r>
            <a:r>
              <a:rPr lang="en-US" u="sng" dirty="0">
                <a:solidFill>
                  <a:srgbClr val="FF0000"/>
                </a:solidFill>
                <a:latin typeface="+mj-lt"/>
              </a:rPr>
              <a:t>filling in and updating the routing tables</a:t>
            </a:r>
            <a:r>
              <a:rPr lang="en-US" dirty="0">
                <a:solidFill>
                  <a:srgbClr val="FF0000"/>
                </a:solidFill>
                <a:latin typeface="+mj-lt"/>
              </a:rPr>
              <a:t>. That is </a:t>
            </a:r>
            <a:r>
              <a:rPr lang="en-IN" dirty="0">
                <a:solidFill>
                  <a:srgbClr val="FF0000"/>
                </a:solidFill>
                <a:latin typeface="+mj-lt"/>
              </a:rPr>
              <a:t>where </a:t>
            </a:r>
            <a:r>
              <a:rPr lang="en-US" dirty="0">
                <a:solidFill>
                  <a:srgbClr val="FF0000"/>
                </a:solidFill>
                <a:latin typeface="+mj-lt"/>
              </a:rPr>
              <a:t>the routing algorithm comes into play. This process is </a:t>
            </a:r>
            <a:r>
              <a:rPr lang="en-IN" u="sng" dirty="0">
                <a:solidFill>
                  <a:srgbClr val="FF0000"/>
                </a:solidFill>
                <a:latin typeface="+mj-lt"/>
              </a:rPr>
              <a:t>routing. </a:t>
            </a:r>
          </a:p>
          <a:p>
            <a:r>
              <a:rPr lang="en-US" dirty="0">
                <a:latin typeface="+mj-lt"/>
                <a:ea typeface="Cambria" panose="02040503050406030204" pitchFamily="18" charset="0"/>
              </a:rPr>
              <a:t>It should process properties, like </a:t>
            </a:r>
            <a:r>
              <a:rPr lang="en-US" u="sng" dirty="0">
                <a:latin typeface="+mj-lt"/>
                <a:ea typeface="Cambria" panose="02040503050406030204" pitchFamily="18" charset="0"/>
              </a:rPr>
              <a:t>correctness, simplicity, robustness, stability, fairness, and optimality. </a:t>
            </a:r>
          </a:p>
          <a:p>
            <a:endParaRPr lang="en-IN" u="sng" dirty="0"/>
          </a:p>
        </p:txBody>
      </p:sp>
    </p:spTree>
    <p:extLst>
      <p:ext uri="{BB962C8B-B14F-4D97-AF65-F5344CB8AC3E}">
        <p14:creationId xmlns:p14="http://schemas.microsoft.com/office/powerpoint/2010/main" val="40927997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dirty="0"/>
              <a:t>Different Routing Algorithms </a:t>
            </a:r>
          </a:p>
          <a:p>
            <a:pPr lvl="1"/>
            <a:r>
              <a:rPr lang="en-IN" dirty="0">
                <a:solidFill>
                  <a:srgbClr val="FF0000"/>
                </a:solidFill>
              </a:rPr>
              <a:t>Optimality principle </a:t>
            </a:r>
          </a:p>
          <a:p>
            <a:pPr lvl="1"/>
            <a:r>
              <a:rPr lang="en-IN" dirty="0">
                <a:solidFill>
                  <a:srgbClr val="FF0000"/>
                </a:solidFill>
              </a:rPr>
              <a:t>Shortest path algorithm </a:t>
            </a:r>
          </a:p>
          <a:p>
            <a:pPr lvl="1"/>
            <a:r>
              <a:rPr lang="en-IN" dirty="0">
                <a:solidFill>
                  <a:srgbClr val="FF0000"/>
                </a:solidFill>
              </a:rPr>
              <a:t>Flooding </a:t>
            </a:r>
          </a:p>
          <a:p>
            <a:pPr lvl="1"/>
            <a:r>
              <a:rPr lang="en-IN" dirty="0">
                <a:solidFill>
                  <a:srgbClr val="FF0000"/>
                </a:solidFill>
              </a:rPr>
              <a:t>Distance vector routing </a:t>
            </a:r>
          </a:p>
          <a:p>
            <a:pPr lvl="1"/>
            <a:r>
              <a:rPr lang="en-IN" dirty="0">
                <a:solidFill>
                  <a:srgbClr val="FF0000"/>
                </a:solidFill>
              </a:rPr>
              <a:t>Link state routing </a:t>
            </a:r>
          </a:p>
          <a:p>
            <a:pPr lvl="1"/>
            <a:r>
              <a:rPr lang="en-IN" dirty="0">
                <a:solidFill>
                  <a:srgbClr val="FF0000"/>
                </a:solidFill>
              </a:rPr>
              <a:t>Hierarchical Routing </a:t>
            </a:r>
          </a:p>
        </p:txBody>
      </p:sp>
    </p:spTree>
    <p:extLst>
      <p:ext uri="{BB962C8B-B14F-4D97-AF65-F5344CB8AC3E}">
        <p14:creationId xmlns:p14="http://schemas.microsoft.com/office/powerpoint/2010/main" val="30044590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4138" y="973668"/>
            <a:ext cx="9472229" cy="706964"/>
          </a:xfrm>
        </p:spPr>
        <p:txBody>
          <a:bodyPr>
            <a:normAutofit/>
          </a:bodyPr>
          <a:lstStyle/>
          <a:p>
            <a:pPr lvl="1"/>
            <a:r>
              <a:rPr lang="en-IN" sz="3200" b="1" dirty="0">
                <a:latin typeface="+mj-lt"/>
              </a:rPr>
              <a:t>Optimality principle </a:t>
            </a:r>
          </a:p>
        </p:txBody>
      </p:sp>
      <p:sp>
        <p:nvSpPr>
          <p:cNvPr id="3" name="Content Placeholder 2"/>
          <p:cNvSpPr>
            <a:spLocks noGrp="1"/>
          </p:cNvSpPr>
          <p:nvPr>
            <p:ph idx="1"/>
          </p:nvPr>
        </p:nvSpPr>
        <p:spPr>
          <a:xfrm>
            <a:off x="444138" y="2325189"/>
            <a:ext cx="11456126" cy="4193177"/>
          </a:xfrm>
        </p:spPr>
        <p:txBody>
          <a:bodyPr>
            <a:normAutofit/>
          </a:bodyPr>
          <a:lstStyle/>
          <a:p>
            <a:r>
              <a:rPr lang="en-US" dirty="0">
                <a:latin typeface="+mj-lt"/>
              </a:rPr>
              <a:t>One can make a general statement about optimal routes without regard to network topology or traffic. This statement is known as the </a:t>
            </a:r>
            <a:r>
              <a:rPr lang="en-IN" dirty="0">
                <a:latin typeface="+mj-lt"/>
              </a:rPr>
              <a:t>optimality principle</a:t>
            </a:r>
          </a:p>
          <a:p>
            <a:r>
              <a:rPr lang="en-US" dirty="0">
                <a:solidFill>
                  <a:srgbClr val="FF0000"/>
                </a:solidFill>
                <a:latin typeface="+mj-lt"/>
                <a:ea typeface="Cambria" panose="02040503050406030204" pitchFamily="18" charset="0"/>
              </a:rPr>
              <a:t>Optimality principle: </a:t>
            </a:r>
            <a:r>
              <a:rPr lang="en-US" u="sng" dirty="0">
                <a:solidFill>
                  <a:srgbClr val="FF0000"/>
                </a:solidFill>
                <a:latin typeface="+mj-lt"/>
                <a:ea typeface="Cambria" panose="02040503050406030204" pitchFamily="18" charset="0"/>
              </a:rPr>
              <a:t>if router J is on optimal path from router I to router K, then optimal path from J to K also falls along same route</a:t>
            </a:r>
          </a:p>
        </p:txBody>
      </p:sp>
    </p:spTree>
    <p:extLst>
      <p:ext uri="{BB962C8B-B14F-4D97-AF65-F5344CB8AC3E}">
        <p14:creationId xmlns:p14="http://schemas.microsoft.com/office/powerpoint/2010/main" val="41564875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369018" y="2484972"/>
            <a:ext cx="9003513" cy="3670663"/>
          </a:xfrm>
          <a:prstGeom prst="rect">
            <a:avLst/>
          </a:prstGeom>
        </p:spPr>
      </p:pic>
      <p:sp>
        <p:nvSpPr>
          <p:cNvPr id="5" name="Content Placeholder 2"/>
          <p:cNvSpPr txBox="1">
            <a:spLocks/>
          </p:cNvSpPr>
          <p:nvPr/>
        </p:nvSpPr>
        <p:spPr>
          <a:xfrm>
            <a:off x="453887" y="768626"/>
            <a:ext cx="11353800" cy="18950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a:t>Set of optimal routes </a:t>
            </a:r>
            <a:r>
              <a:rPr lang="en-US" dirty="0"/>
              <a:t>from all sources to a given destination form a tree rooted at the destination. Such a tree is </a:t>
            </a:r>
            <a:r>
              <a:rPr lang="en-IN" dirty="0"/>
              <a:t>called a </a:t>
            </a:r>
            <a:r>
              <a:rPr lang="en-IN" b="1" dirty="0"/>
              <a:t>sink tree</a:t>
            </a:r>
            <a:endParaRPr lang="en-IN" dirty="0"/>
          </a:p>
          <a:p>
            <a:r>
              <a:rPr lang="en-IN" dirty="0"/>
              <a:t>The goal of </a:t>
            </a:r>
            <a:r>
              <a:rPr lang="en-US" dirty="0"/>
              <a:t>all routing algorithms is to discover and use the sink trees for all </a:t>
            </a:r>
            <a:r>
              <a:rPr lang="en-IN" dirty="0"/>
              <a:t>routers.</a:t>
            </a:r>
          </a:p>
        </p:txBody>
      </p:sp>
    </p:spTree>
    <p:extLst>
      <p:ext uri="{BB962C8B-B14F-4D97-AF65-F5344CB8AC3E}">
        <p14:creationId xmlns:p14="http://schemas.microsoft.com/office/powerpoint/2010/main" val="25315326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4138" y="311059"/>
            <a:ext cx="9315476" cy="706964"/>
          </a:xfrm>
        </p:spPr>
        <p:txBody>
          <a:bodyPr>
            <a:normAutofit/>
          </a:bodyPr>
          <a:lstStyle/>
          <a:p>
            <a:r>
              <a:rPr lang="en-IN" dirty="0">
                <a:ea typeface="Cambria" panose="02040503050406030204" pitchFamily="18" charset="0"/>
              </a:rPr>
              <a:t>Shortest Path Routing</a:t>
            </a:r>
            <a:r>
              <a:rPr lang="en-IN" b="1" dirty="0"/>
              <a:t>(</a:t>
            </a:r>
            <a:r>
              <a:rPr lang="en-IN" b="1" dirty="0" err="1"/>
              <a:t>Dijkstra’s</a:t>
            </a:r>
            <a:r>
              <a:rPr lang="en-IN" b="1" dirty="0"/>
              <a:t>) </a:t>
            </a:r>
            <a:endParaRPr lang="en-IN" dirty="0">
              <a:ea typeface="Cambria" panose="02040503050406030204" pitchFamily="18" charset="0"/>
            </a:endParaRPr>
          </a:p>
        </p:txBody>
      </p:sp>
      <p:sp>
        <p:nvSpPr>
          <p:cNvPr id="3" name="Content Placeholder 2"/>
          <p:cNvSpPr>
            <a:spLocks noGrp="1"/>
          </p:cNvSpPr>
          <p:nvPr>
            <p:ph idx="1"/>
          </p:nvPr>
        </p:nvSpPr>
        <p:spPr>
          <a:xfrm>
            <a:off x="444138" y="1577009"/>
            <a:ext cx="11456126" cy="4941358"/>
          </a:xfrm>
        </p:spPr>
        <p:txBody>
          <a:bodyPr>
            <a:normAutofit/>
          </a:bodyPr>
          <a:lstStyle/>
          <a:p>
            <a:r>
              <a:rPr lang="en-US" spc="75" dirty="0">
                <a:solidFill>
                  <a:schemeClr val="tx1"/>
                </a:solidFill>
                <a:latin typeface="+mj-lt"/>
                <a:ea typeface="Cambria" panose="02040503050406030204" pitchFamily="18" charset="0"/>
                <a:cs typeface="Microsoft Sans Serif"/>
              </a:rPr>
              <a:t>It</a:t>
            </a:r>
            <a:r>
              <a:rPr lang="en-US" spc="130" dirty="0">
                <a:solidFill>
                  <a:schemeClr val="tx1"/>
                </a:solidFill>
                <a:latin typeface="+mj-lt"/>
                <a:ea typeface="Cambria" panose="02040503050406030204" pitchFamily="18" charset="0"/>
                <a:cs typeface="Microsoft Sans Serif"/>
              </a:rPr>
              <a:t> </a:t>
            </a:r>
            <a:r>
              <a:rPr lang="en-US" spc="-90" dirty="0">
                <a:solidFill>
                  <a:schemeClr val="tx1"/>
                </a:solidFill>
                <a:latin typeface="+mj-lt"/>
                <a:ea typeface="Cambria" panose="02040503050406030204" pitchFamily="18" charset="0"/>
                <a:cs typeface="Microsoft Sans Serif"/>
              </a:rPr>
              <a:t>is</a:t>
            </a:r>
            <a:r>
              <a:rPr lang="en-US" spc="125" dirty="0">
                <a:solidFill>
                  <a:schemeClr val="tx1"/>
                </a:solidFill>
                <a:latin typeface="+mj-lt"/>
                <a:ea typeface="Cambria" panose="02040503050406030204" pitchFamily="18" charset="0"/>
                <a:cs typeface="Microsoft Sans Serif"/>
              </a:rPr>
              <a:t> </a:t>
            </a:r>
            <a:r>
              <a:rPr lang="en-US" spc="-50" dirty="0">
                <a:solidFill>
                  <a:schemeClr val="tx1"/>
                </a:solidFill>
                <a:latin typeface="+mj-lt"/>
                <a:ea typeface="Cambria" panose="02040503050406030204" pitchFamily="18" charset="0"/>
                <a:cs typeface="Microsoft Sans Serif"/>
              </a:rPr>
              <a:t>really</a:t>
            </a:r>
            <a:r>
              <a:rPr lang="en-US" spc="125" dirty="0">
                <a:solidFill>
                  <a:schemeClr val="tx1"/>
                </a:solidFill>
                <a:latin typeface="+mj-lt"/>
                <a:ea typeface="Cambria" panose="02040503050406030204" pitchFamily="18" charset="0"/>
                <a:cs typeface="Microsoft Sans Serif"/>
              </a:rPr>
              <a:t> </a:t>
            </a:r>
            <a:r>
              <a:rPr lang="en-US" spc="-35" dirty="0">
                <a:solidFill>
                  <a:schemeClr val="tx1"/>
                </a:solidFill>
                <a:latin typeface="+mj-lt"/>
                <a:ea typeface="Cambria" panose="02040503050406030204" pitchFamily="18" charset="0"/>
                <a:cs typeface="Microsoft Sans Serif"/>
              </a:rPr>
              <a:t>the</a:t>
            </a:r>
            <a:r>
              <a:rPr lang="en-US" spc="130" dirty="0">
                <a:solidFill>
                  <a:schemeClr val="tx1"/>
                </a:solidFill>
                <a:latin typeface="+mj-lt"/>
                <a:ea typeface="Cambria" panose="02040503050406030204" pitchFamily="18" charset="0"/>
                <a:cs typeface="Microsoft Sans Serif"/>
              </a:rPr>
              <a:t> </a:t>
            </a:r>
            <a:r>
              <a:rPr lang="en-US" u="sng" spc="-55" dirty="0">
                <a:solidFill>
                  <a:schemeClr val="tx1"/>
                </a:solidFill>
                <a:latin typeface="+mj-lt"/>
                <a:ea typeface="Cambria" panose="02040503050406030204" pitchFamily="18" charset="0"/>
                <a:cs typeface="Microsoft Sans Serif"/>
              </a:rPr>
              <a:t>least-cost</a:t>
            </a:r>
            <a:r>
              <a:rPr lang="en-US" u="sng" spc="110" dirty="0">
                <a:solidFill>
                  <a:schemeClr val="tx1"/>
                </a:solidFill>
                <a:latin typeface="+mj-lt"/>
                <a:ea typeface="Cambria" panose="02040503050406030204" pitchFamily="18" charset="0"/>
                <a:cs typeface="Microsoft Sans Serif"/>
              </a:rPr>
              <a:t> </a:t>
            </a:r>
            <a:r>
              <a:rPr lang="en-US" u="sng" spc="-25" dirty="0">
                <a:solidFill>
                  <a:schemeClr val="tx1"/>
                </a:solidFill>
                <a:latin typeface="+mj-lt"/>
                <a:ea typeface="Cambria" panose="02040503050406030204" pitchFamily="18" charset="0"/>
                <a:cs typeface="Microsoft Sans Serif"/>
              </a:rPr>
              <a:t>path</a:t>
            </a:r>
            <a:r>
              <a:rPr lang="en-US" u="sng" spc="125" dirty="0">
                <a:solidFill>
                  <a:schemeClr val="tx1"/>
                </a:solidFill>
                <a:latin typeface="+mj-lt"/>
                <a:ea typeface="Cambria" panose="02040503050406030204" pitchFamily="18" charset="0"/>
                <a:cs typeface="Microsoft Sans Serif"/>
              </a:rPr>
              <a:t> </a:t>
            </a:r>
            <a:r>
              <a:rPr lang="en-US" u="sng" spc="-15" dirty="0">
                <a:solidFill>
                  <a:schemeClr val="tx1"/>
                </a:solidFill>
                <a:latin typeface="+mj-lt"/>
                <a:ea typeface="Cambria" panose="02040503050406030204" pitchFamily="18" charset="0"/>
                <a:cs typeface="Microsoft Sans Serif"/>
              </a:rPr>
              <a:t>routing</a:t>
            </a:r>
            <a:r>
              <a:rPr lang="en-US" spc="-15" dirty="0">
                <a:solidFill>
                  <a:schemeClr val="tx1"/>
                </a:solidFill>
                <a:latin typeface="+mj-lt"/>
                <a:ea typeface="Cambria" panose="02040503050406030204" pitchFamily="18" charset="0"/>
                <a:cs typeface="Microsoft Sans Serif"/>
              </a:rPr>
              <a:t>,</a:t>
            </a:r>
            <a:r>
              <a:rPr lang="en-US" spc="130" dirty="0">
                <a:solidFill>
                  <a:schemeClr val="tx1"/>
                </a:solidFill>
                <a:latin typeface="+mj-lt"/>
                <a:ea typeface="Cambria" panose="02040503050406030204" pitchFamily="18" charset="0"/>
                <a:cs typeface="Microsoft Sans Serif"/>
              </a:rPr>
              <a:t> </a:t>
            </a:r>
            <a:r>
              <a:rPr lang="en-US" spc="-125" dirty="0">
                <a:solidFill>
                  <a:schemeClr val="tx1"/>
                </a:solidFill>
                <a:latin typeface="+mj-lt"/>
                <a:ea typeface="Cambria" panose="02040503050406030204" pitchFamily="18" charset="0"/>
                <a:cs typeface="Microsoft Sans Serif"/>
              </a:rPr>
              <a:t>based</a:t>
            </a:r>
            <a:r>
              <a:rPr lang="en-US" spc="114" dirty="0">
                <a:solidFill>
                  <a:schemeClr val="tx1"/>
                </a:solidFill>
                <a:latin typeface="+mj-lt"/>
                <a:ea typeface="Cambria" panose="02040503050406030204" pitchFamily="18" charset="0"/>
                <a:cs typeface="Microsoft Sans Serif"/>
              </a:rPr>
              <a:t> </a:t>
            </a:r>
            <a:r>
              <a:rPr lang="en-US" spc="-75" dirty="0">
                <a:solidFill>
                  <a:schemeClr val="tx1"/>
                </a:solidFill>
                <a:latin typeface="+mj-lt"/>
                <a:ea typeface="Cambria" panose="02040503050406030204" pitchFamily="18" charset="0"/>
                <a:cs typeface="Microsoft Sans Serif"/>
              </a:rPr>
              <a:t>on</a:t>
            </a:r>
            <a:r>
              <a:rPr lang="en-US" spc="120" dirty="0">
                <a:solidFill>
                  <a:schemeClr val="tx1"/>
                </a:solidFill>
                <a:latin typeface="+mj-lt"/>
                <a:ea typeface="Cambria" panose="02040503050406030204" pitchFamily="18" charset="0"/>
                <a:cs typeface="Microsoft Sans Serif"/>
              </a:rPr>
              <a:t> </a:t>
            </a:r>
            <a:r>
              <a:rPr lang="en-US" spc="-60" dirty="0">
                <a:solidFill>
                  <a:schemeClr val="tx1"/>
                </a:solidFill>
                <a:latin typeface="+mj-lt"/>
                <a:ea typeface="Cambria" panose="02040503050406030204" pitchFamily="18" charset="0"/>
                <a:cs typeface="Microsoft Sans Serif"/>
              </a:rPr>
              <a:t>dynamic</a:t>
            </a:r>
            <a:r>
              <a:rPr lang="en-US" spc="130" dirty="0">
                <a:solidFill>
                  <a:schemeClr val="tx1"/>
                </a:solidFill>
                <a:latin typeface="+mj-lt"/>
                <a:ea typeface="Cambria" panose="02040503050406030204" pitchFamily="18" charset="0"/>
                <a:cs typeface="Microsoft Sans Serif"/>
              </a:rPr>
              <a:t> </a:t>
            </a:r>
            <a:r>
              <a:rPr lang="en-US" spc="-55" dirty="0">
                <a:solidFill>
                  <a:schemeClr val="tx1"/>
                </a:solidFill>
                <a:latin typeface="+mj-lt"/>
                <a:ea typeface="Cambria" panose="02040503050406030204" pitchFamily="18" charset="0"/>
                <a:cs typeface="Microsoft Sans Serif"/>
              </a:rPr>
              <a:t>programming</a:t>
            </a:r>
            <a:r>
              <a:rPr lang="en-US" spc="130" dirty="0">
                <a:solidFill>
                  <a:schemeClr val="tx1"/>
                </a:solidFill>
                <a:latin typeface="+mj-lt"/>
                <a:ea typeface="Cambria" panose="02040503050406030204" pitchFamily="18" charset="0"/>
                <a:cs typeface="Microsoft Sans Serif"/>
              </a:rPr>
              <a:t> </a:t>
            </a:r>
            <a:r>
              <a:rPr lang="en-US" spc="-20" dirty="0">
                <a:solidFill>
                  <a:schemeClr val="tx1"/>
                </a:solidFill>
                <a:latin typeface="+mj-lt"/>
                <a:ea typeface="Cambria" panose="02040503050406030204" pitchFamily="18" charset="0"/>
                <a:cs typeface="Microsoft Sans Serif"/>
              </a:rPr>
              <a:t>for</a:t>
            </a:r>
            <a:r>
              <a:rPr lang="en-US" spc="114" dirty="0">
                <a:solidFill>
                  <a:schemeClr val="tx1"/>
                </a:solidFill>
                <a:latin typeface="+mj-lt"/>
                <a:ea typeface="Cambria" panose="02040503050406030204" pitchFamily="18" charset="0"/>
                <a:cs typeface="Microsoft Sans Serif"/>
              </a:rPr>
              <a:t> </a:t>
            </a:r>
            <a:r>
              <a:rPr lang="en-US" spc="-25" dirty="0">
                <a:solidFill>
                  <a:schemeClr val="tx1"/>
                </a:solidFill>
                <a:latin typeface="+mj-lt"/>
                <a:ea typeface="Cambria" panose="02040503050406030204" pitchFamily="18" charset="0"/>
                <a:cs typeface="Microsoft Sans Serif"/>
              </a:rPr>
              <a:t>optimisation</a:t>
            </a:r>
            <a:endParaRPr lang="en-US" dirty="0">
              <a:solidFill>
                <a:schemeClr val="tx1"/>
              </a:solidFill>
              <a:latin typeface="+mj-lt"/>
              <a:ea typeface="Cambria" panose="02040503050406030204" pitchFamily="18" charset="0"/>
              <a:cs typeface="Microsoft Sans Serif"/>
            </a:endParaRPr>
          </a:p>
          <a:p>
            <a:r>
              <a:rPr lang="en-US" dirty="0">
                <a:latin typeface="+mj-lt"/>
              </a:rPr>
              <a:t>The idea is to build a graph of the subnet, with each </a:t>
            </a:r>
            <a:r>
              <a:rPr lang="en-US" u="sng" dirty="0">
                <a:latin typeface="+mj-lt"/>
              </a:rPr>
              <a:t>node of the graph representing a router </a:t>
            </a:r>
            <a:r>
              <a:rPr lang="en-US" dirty="0">
                <a:latin typeface="+mj-lt"/>
              </a:rPr>
              <a:t>and each </a:t>
            </a:r>
            <a:r>
              <a:rPr lang="en-US" u="sng" dirty="0">
                <a:latin typeface="+mj-lt"/>
              </a:rPr>
              <a:t>arc of the graph representing a communication line </a:t>
            </a:r>
            <a:r>
              <a:rPr lang="en-US" dirty="0">
                <a:latin typeface="+mj-lt"/>
              </a:rPr>
              <a:t>or link. </a:t>
            </a:r>
          </a:p>
          <a:p>
            <a:r>
              <a:rPr lang="en-US" dirty="0">
                <a:latin typeface="+mj-lt"/>
              </a:rPr>
              <a:t>To choose a route between a given pair of routers, the algorithm just finds the shortest path between them on the graph </a:t>
            </a:r>
          </a:p>
        </p:txBody>
      </p:sp>
    </p:spTree>
    <p:extLst>
      <p:ext uri="{BB962C8B-B14F-4D97-AF65-F5344CB8AC3E}">
        <p14:creationId xmlns:p14="http://schemas.microsoft.com/office/powerpoint/2010/main" val="255785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lnSpcReduction="10000"/>
          </a:bodyPr>
          <a:lstStyle/>
          <a:p>
            <a:pPr marL="0" indent="0">
              <a:buNone/>
            </a:pPr>
            <a:r>
              <a:rPr lang="en-IN" dirty="0"/>
              <a:t>1. </a:t>
            </a:r>
            <a:r>
              <a:rPr lang="en-US" dirty="0"/>
              <a:t>Start with the local node (router) as the root of the tree. Assign a cost of </a:t>
            </a:r>
            <a:r>
              <a:rPr lang="en-US" dirty="0">
                <a:solidFill>
                  <a:srgbClr val="FF0000"/>
                </a:solidFill>
              </a:rPr>
              <a:t>0</a:t>
            </a:r>
            <a:r>
              <a:rPr lang="en-US" dirty="0"/>
              <a:t> to this node and make it the first permanent node. </a:t>
            </a:r>
          </a:p>
          <a:p>
            <a:pPr marL="0" indent="0">
              <a:buNone/>
            </a:pPr>
            <a:r>
              <a:rPr lang="en-IN" dirty="0"/>
              <a:t>2. </a:t>
            </a:r>
            <a:r>
              <a:rPr lang="en-US" dirty="0"/>
              <a:t>Examine each neighbor of the node that was the last permanent node. </a:t>
            </a:r>
          </a:p>
          <a:p>
            <a:pPr marL="0" indent="0">
              <a:buNone/>
            </a:pPr>
            <a:r>
              <a:rPr lang="en-IN" dirty="0"/>
              <a:t>3. </a:t>
            </a:r>
            <a:r>
              <a:rPr lang="en-US" dirty="0"/>
              <a:t>Assign a cumulative cost to each node and make it tentative </a:t>
            </a:r>
          </a:p>
          <a:p>
            <a:pPr marL="0" indent="0">
              <a:buNone/>
            </a:pPr>
            <a:r>
              <a:rPr lang="en-IN" dirty="0"/>
              <a:t>4. </a:t>
            </a:r>
            <a:r>
              <a:rPr lang="en-US" dirty="0"/>
              <a:t>Among the list of tentative nodes </a:t>
            </a:r>
          </a:p>
          <a:p>
            <a:pPr lvl="1"/>
            <a:r>
              <a:rPr lang="en-IN" dirty="0"/>
              <a:t>a. </a:t>
            </a:r>
            <a:r>
              <a:rPr lang="en-US" dirty="0"/>
              <a:t>Find the node with the smallest cost and make it Permanent </a:t>
            </a:r>
          </a:p>
          <a:p>
            <a:pPr lvl="1"/>
            <a:r>
              <a:rPr lang="en-IN" dirty="0"/>
              <a:t>b. </a:t>
            </a:r>
            <a:r>
              <a:rPr lang="en-US" dirty="0"/>
              <a:t>If a node can be reached from more than one route then select the route with the </a:t>
            </a:r>
            <a:r>
              <a:rPr lang="en-IN" dirty="0"/>
              <a:t>shortest cumulative cost. </a:t>
            </a:r>
          </a:p>
          <a:p>
            <a:pPr marL="0" indent="0">
              <a:buNone/>
            </a:pPr>
            <a:r>
              <a:rPr lang="en-IN" dirty="0"/>
              <a:t>5. </a:t>
            </a:r>
            <a:r>
              <a:rPr lang="en-US" dirty="0"/>
              <a:t>Repeat steps 2 to 4 until every node becomes permanent </a:t>
            </a:r>
            <a:endParaRPr lang="en-IN" dirty="0">
              <a:latin typeface="Cambria" panose="02040503050406030204" pitchFamily="18" charset="0"/>
              <a:ea typeface="Cambria" panose="02040503050406030204" pitchFamily="18" charset="0"/>
            </a:endParaRPr>
          </a:p>
          <a:p>
            <a:endParaRPr lang="en-IN" dirty="0"/>
          </a:p>
        </p:txBody>
      </p:sp>
    </p:spTree>
    <p:extLst>
      <p:ext uri="{BB962C8B-B14F-4D97-AF65-F5344CB8AC3E}">
        <p14:creationId xmlns:p14="http://schemas.microsoft.com/office/powerpoint/2010/main" val="30259691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pic>
        <p:nvPicPr>
          <p:cNvPr id="4" name="Content Placeholder 3"/>
          <p:cNvPicPr>
            <a:picLocks noGrp="1" noChangeAspect="1"/>
          </p:cNvPicPr>
          <p:nvPr>
            <p:ph idx="1"/>
          </p:nvPr>
        </p:nvPicPr>
        <p:blipFill>
          <a:blip r:embed="rId2"/>
          <a:stretch>
            <a:fillRect/>
          </a:stretch>
        </p:blipFill>
        <p:spPr>
          <a:xfrm>
            <a:off x="470263" y="159026"/>
            <a:ext cx="11247120" cy="6559826"/>
          </a:xfrm>
          <a:prstGeom prst="rect">
            <a:avLst/>
          </a:prstGeom>
        </p:spPr>
      </p:pic>
    </p:spTree>
    <p:extLst>
      <p:ext uri="{BB962C8B-B14F-4D97-AF65-F5344CB8AC3E}">
        <p14:creationId xmlns:p14="http://schemas.microsoft.com/office/powerpoint/2010/main" val="38958389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a:ea typeface="Cambria" panose="02040503050406030204" pitchFamily="18" charset="0"/>
              </a:rPr>
              <a:t>Dijkstra’s</a:t>
            </a:r>
            <a:r>
              <a:rPr lang="en-IN" dirty="0">
                <a:ea typeface="Cambria" panose="02040503050406030204" pitchFamily="18" charset="0"/>
              </a:rPr>
              <a:t> Routing algorithm</a:t>
            </a:r>
            <a:br>
              <a:rPr lang="en-IN" dirty="0">
                <a:ea typeface="Cambria" panose="02040503050406030204" pitchFamily="18" charset="0"/>
              </a:rPr>
            </a:br>
            <a:endParaRPr lang="en-IN" dirty="0">
              <a:ea typeface="Cambria" panose="02040503050406030204" pitchFamily="18" charset="0"/>
            </a:endParaRPr>
          </a:p>
        </p:txBody>
      </p:sp>
      <p:sp>
        <p:nvSpPr>
          <p:cNvPr id="3" name="Content Placeholder 2"/>
          <p:cNvSpPr>
            <a:spLocks noGrp="1"/>
          </p:cNvSpPr>
          <p:nvPr>
            <p:ph idx="1"/>
          </p:nvPr>
        </p:nvSpPr>
        <p:spPr>
          <a:xfrm>
            <a:off x="677334" y="1267097"/>
            <a:ext cx="8596668" cy="5264332"/>
          </a:xfrm>
        </p:spPr>
        <p:txBody>
          <a:bodyPr>
            <a:normAutofit fontScale="92500" lnSpcReduction="20000"/>
          </a:bodyPr>
          <a:lstStyle/>
          <a:p>
            <a:r>
              <a:rPr lang="en-IN" dirty="0">
                <a:latin typeface="+mj-lt"/>
                <a:ea typeface="Cambria" panose="02040503050406030204" pitchFamily="18" charset="0"/>
              </a:rPr>
              <a:t> Initialization</a:t>
            </a:r>
          </a:p>
          <a:p>
            <a:r>
              <a:rPr lang="en-IN" dirty="0">
                <a:latin typeface="+mj-lt"/>
                <a:ea typeface="Cambria" panose="02040503050406030204" pitchFamily="18" charset="0"/>
              </a:rPr>
              <a:t>N = {A}     // A is a root node.</a:t>
            </a:r>
          </a:p>
          <a:p>
            <a:r>
              <a:rPr lang="en-IN" dirty="0">
                <a:latin typeface="+mj-lt"/>
                <a:ea typeface="Cambria" panose="02040503050406030204" pitchFamily="18" charset="0"/>
              </a:rPr>
              <a:t>for all nodes v</a:t>
            </a:r>
          </a:p>
          <a:p>
            <a:r>
              <a:rPr lang="en-IN" dirty="0">
                <a:latin typeface="+mj-lt"/>
                <a:ea typeface="Cambria" panose="02040503050406030204" pitchFamily="18" charset="0"/>
              </a:rPr>
              <a:t>if v adjacent to A</a:t>
            </a:r>
          </a:p>
          <a:p>
            <a:r>
              <a:rPr lang="en-IN" dirty="0">
                <a:latin typeface="+mj-lt"/>
                <a:ea typeface="Cambria" panose="02040503050406030204" pitchFamily="18" charset="0"/>
              </a:rPr>
              <a:t>then D(v) = c(</a:t>
            </a:r>
            <a:r>
              <a:rPr lang="en-IN" dirty="0" err="1">
                <a:latin typeface="+mj-lt"/>
                <a:ea typeface="Cambria" panose="02040503050406030204" pitchFamily="18" charset="0"/>
              </a:rPr>
              <a:t>A,v</a:t>
            </a:r>
            <a:r>
              <a:rPr lang="en-IN" dirty="0">
                <a:latin typeface="+mj-lt"/>
                <a:ea typeface="Cambria" panose="02040503050406030204" pitchFamily="18" charset="0"/>
              </a:rPr>
              <a:t>)</a:t>
            </a:r>
          </a:p>
          <a:p>
            <a:r>
              <a:rPr lang="en-IN" dirty="0">
                <a:latin typeface="+mj-lt"/>
                <a:ea typeface="Cambria" panose="02040503050406030204" pitchFamily="18" charset="0"/>
              </a:rPr>
              <a:t>else D(v) = infinity</a:t>
            </a:r>
          </a:p>
          <a:p>
            <a:r>
              <a:rPr lang="en-IN" dirty="0">
                <a:latin typeface="+mj-lt"/>
                <a:ea typeface="Cambria" panose="02040503050406030204" pitchFamily="18" charset="0"/>
              </a:rPr>
              <a:t>loop</a:t>
            </a:r>
          </a:p>
          <a:p>
            <a:r>
              <a:rPr lang="en-IN" dirty="0">
                <a:latin typeface="+mj-lt"/>
                <a:ea typeface="Cambria" panose="02040503050406030204" pitchFamily="18" charset="0"/>
              </a:rPr>
              <a:t>find w not in N such that D(w) is a minimum.</a:t>
            </a:r>
          </a:p>
          <a:p>
            <a:r>
              <a:rPr lang="en-IN" dirty="0">
                <a:latin typeface="+mj-lt"/>
                <a:ea typeface="Cambria" panose="02040503050406030204" pitchFamily="18" charset="0"/>
              </a:rPr>
              <a:t>Add w to N</a:t>
            </a:r>
          </a:p>
          <a:p>
            <a:r>
              <a:rPr lang="en-IN" dirty="0">
                <a:latin typeface="+mj-lt"/>
                <a:ea typeface="Cambria" panose="02040503050406030204" pitchFamily="18" charset="0"/>
              </a:rPr>
              <a:t>Update D(v) for all v adjacent to w and not in N:</a:t>
            </a:r>
          </a:p>
          <a:p>
            <a:r>
              <a:rPr lang="en-IN" dirty="0">
                <a:latin typeface="+mj-lt"/>
                <a:ea typeface="Cambria" panose="02040503050406030204" pitchFamily="18" charset="0"/>
              </a:rPr>
              <a:t>D(v) = min(D(v) , D(w) + c(</a:t>
            </a:r>
            <a:r>
              <a:rPr lang="en-IN" dirty="0" err="1">
                <a:latin typeface="+mj-lt"/>
                <a:ea typeface="Cambria" panose="02040503050406030204" pitchFamily="18" charset="0"/>
              </a:rPr>
              <a:t>w,v</a:t>
            </a:r>
            <a:r>
              <a:rPr lang="en-IN" dirty="0">
                <a:latin typeface="+mj-lt"/>
                <a:ea typeface="Cambria" panose="02040503050406030204" pitchFamily="18" charset="0"/>
              </a:rPr>
              <a:t>))</a:t>
            </a:r>
          </a:p>
          <a:p>
            <a:r>
              <a:rPr lang="en-IN" dirty="0">
                <a:latin typeface="+mj-lt"/>
                <a:ea typeface="Cambria" panose="02040503050406030204" pitchFamily="18" charset="0"/>
              </a:rPr>
              <a:t>Until all nodes in N</a:t>
            </a:r>
          </a:p>
          <a:p>
            <a:endParaRPr lang="en-IN" dirty="0">
              <a:latin typeface="+mj-lt"/>
              <a:ea typeface="Cambria" panose="02040503050406030204" pitchFamily="18" charset="0"/>
            </a:endParaRPr>
          </a:p>
        </p:txBody>
      </p:sp>
    </p:spTree>
    <p:extLst>
      <p:ext uri="{BB962C8B-B14F-4D97-AF65-F5344CB8AC3E}">
        <p14:creationId xmlns:p14="http://schemas.microsoft.com/office/powerpoint/2010/main" val="15730638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167132" y="172278"/>
            <a:ext cx="9461111" cy="6308035"/>
          </a:xfrm>
          <a:prstGeom prst="rect">
            <a:avLst/>
          </a:prstGeom>
        </p:spPr>
      </p:pic>
    </p:spTree>
    <p:extLst>
      <p:ext uri="{BB962C8B-B14F-4D97-AF65-F5344CB8AC3E}">
        <p14:creationId xmlns:p14="http://schemas.microsoft.com/office/powerpoint/2010/main" val="21294024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4138" y="377321"/>
            <a:ext cx="9472229" cy="706964"/>
          </a:xfrm>
        </p:spPr>
        <p:txBody>
          <a:bodyPr/>
          <a:lstStyle/>
          <a:p>
            <a:r>
              <a:rPr lang="en-US" b="1" dirty="0">
                <a:latin typeface="+mn-lt"/>
                <a:ea typeface="Cambria" panose="02040503050406030204" pitchFamily="18" charset="0"/>
              </a:rPr>
              <a:t>Flooding</a:t>
            </a:r>
            <a:endParaRPr lang="en-IN" b="1" dirty="0">
              <a:latin typeface="+mn-lt"/>
              <a:ea typeface="Cambria" panose="02040503050406030204" pitchFamily="18" charset="0"/>
            </a:endParaRPr>
          </a:p>
        </p:txBody>
      </p:sp>
      <p:sp>
        <p:nvSpPr>
          <p:cNvPr id="3" name="Content Placeholder 2"/>
          <p:cNvSpPr>
            <a:spLocks noGrp="1"/>
          </p:cNvSpPr>
          <p:nvPr>
            <p:ph idx="1"/>
          </p:nvPr>
        </p:nvSpPr>
        <p:spPr>
          <a:xfrm>
            <a:off x="344557" y="1192696"/>
            <a:ext cx="11542643" cy="5340626"/>
          </a:xfrm>
        </p:spPr>
        <p:txBody>
          <a:bodyPr>
            <a:normAutofit fontScale="92500" lnSpcReduction="20000"/>
          </a:bodyPr>
          <a:lstStyle/>
          <a:p>
            <a:r>
              <a:rPr lang="en-IN" dirty="0"/>
              <a:t>Another </a:t>
            </a:r>
            <a:r>
              <a:rPr lang="en-US" dirty="0"/>
              <a:t>algorithm is flooding, in which every </a:t>
            </a:r>
            <a:r>
              <a:rPr lang="en-US" u="sng" dirty="0"/>
              <a:t>incoming packet is sent out on every outgoing </a:t>
            </a:r>
            <a:r>
              <a:rPr lang="en-US" dirty="0"/>
              <a:t>line except the one it </a:t>
            </a:r>
            <a:r>
              <a:rPr lang="en-IN" dirty="0"/>
              <a:t>arrived on. </a:t>
            </a:r>
          </a:p>
          <a:p>
            <a:r>
              <a:rPr lang="en-US" dirty="0"/>
              <a:t>Flooding obviously generates </a:t>
            </a:r>
            <a:r>
              <a:rPr lang="en-US" u="sng" dirty="0"/>
              <a:t>vast numbers of duplicate packets</a:t>
            </a:r>
            <a:r>
              <a:rPr lang="en-US" dirty="0"/>
              <a:t>, in fact, an infinite number unless some measures are taken to damp the </a:t>
            </a:r>
            <a:r>
              <a:rPr lang="en-US" dirty="0" err="1"/>
              <a:t>pr</a:t>
            </a:r>
            <a:r>
              <a:rPr lang="en-IN" dirty="0" err="1"/>
              <a:t>ocess</a:t>
            </a:r>
            <a:r>
              <a:rPr lang="en-IN" dirty="0"/>
              <a:t>. </a:t>
            </a:r>
          </a:p>
          <a:p>
            <a:r>
              <a:rPr lang="en-US" dirty="0"/>
              <a:t>One such measure is to have a </a:t>
            </a:r>
            <a:r>
              <a:rPr lang="en-IN" u="sng" dirty="0"/>
              <a:t>hop counter </a:t>
            </a:r>
            <a:r>
              <a:rPr lang="en-US" dirty="0"/>
              <a:t>contained in the header of each packet, which is </a:t>
            </a:r>
            <a:r>
              <a:rPr lang="en-US" u="sng" dirty="0"/>
              <a:t>decremented at each hop</a:t>
            </a:r>
            <a:r>
              <a:rPr lang="en-US" dirty="0"/>
              <a:t>, with the packet being </a:t>
            </a:r>
            <a:r>
              <a:rPr lang="en-US" u="sng" dirty="0"/>
              <a:t>discarded when the counter reaches </a:t>
            </a:r>
            <a:r>
              <a:rPr lang="en-IN" u="sng" dirty="0"/>
              <a:t>zero</a:t>
            </a:r>
            <a:r>
              <a:rPr lang="en-IN" dirty="0"/>
              <a:t>. </a:t>
            </a:r>
          </a:p>
          <a:p>
            <a:r>
              <a:rPr lang="en-US" dirty="0"/>
              <a:t>Ideally, the hop counter should be initialized to the length of the p</a:t>
            </a:r>
            <a:r>
              <a:rPr lang="en-IN" dirty="0" err="1"/>
              <a:t>ath</a:t>
            </a:r>
            <a:r>
              <a:rPr lang="en-IN" dirty="0"/>
              <a:t> from source to destination. </a:t>
            </a:r>
          </a:p>
          <a:p>
            <a:r>
              <a:rPr lang="en-US" dirty="0"/>
              <a:t>A variation of flooding that is slightly more practical is </a:t>
            </a:r>
            <a:r>
              <a:rPr lang="en-IN" b="1" u="sng" dirty="0"/>
              <a:t>selective</a:t>
            </a:r>
            <a:r>
              <a:rPr lang="en-IN" b="1" dirty="0"/>
              <a:t> </a:t>
            </a:r>
            <a:r>
              <a:rPr lang="en-IN" b="1" u="sng" dirty="0"/>
              <a:t>flooding</a:t>
            </a:r>
            <a:r>
              <a:rPr lang="en-IN" dirty="0"/>
              <a:t>, where </a:t>
            </a:r>
            <a:r>
              <a:rPr lang="en-US" dirty="0"/>
              <a:t>the routers do not send every incoming packet out on every line, only on those </a:t>
            </a:r>
            <a:r>
              <a:rPr lang="en-US" u="sng" dirty="0"/>
              <a:t>lines that </a:t>
            </a:r>
            <a:r>
              <a:rPr lang="en-IN" u="sng" dirty="0"/>
              <a:t>are going approximately in the right direction.</a:t>
            </a:r>
            <a:r>
              <a:rPr lang="en-IN" dirty="0"/>
              <a:t> </a:t>
            </a:r>
          </a:p>
          <a:p>
            <a:r>
              <a:rPr lang="en-US" spc="-110" dirty="0">
                <a:latin typeface="+mj-lt"/>
                <a:ea typeface="Cambria" panose="02040503050406030204" pitchFamily="18" charset="0"/>
                <a:cs typeface="Microsoft Sans Serif"/>
              </a:rPr>
              <a:t>Each</a:t>
            </a:r>
            <a:r>
              <a:rPr lang="en-US" spc="-105" dirty="0">
                <a:latin typeface="+mj-lt"/>
                <a:ea typeface="Cambria" panose="02040503050406030204" pitchFamily="18" charset="0"/>
                <a:cs typeface="Microsoft Sans Serif"/>
              </a:rPr>
              <a:t> </a:t>
            </a:r>
            <a:r>
              <a:rPr lang="en-US" spc="-25" dirty="0">
                <a:latin typeface="+mj-lt"/>
                <a:ea typeface="Cambria" panose="02040503050406030204" pitchFamily="18" charset="0"/>
                <a:cs typeface="Microsoft Sans Serif"/>
              </a:rPr>
              <a:t>router</a:t>
            </a:r>
            <a:r>
              <a:rPr lang="en-US" spc="-20" dirty="0">
                <a:latin typeface="+mj-lt"/>
                <a:ea typeface="Cambria" panose="02040503050406030204" pitchFamily="18" charset="0"/>
                <a:cs typeface="Microsoft Sans Serif"/>
              </a:rPr>
              <a:t> </a:t>
            </a:r>
            <a:r>
              <a:rPr lang="en-US" spc="-90" dirty="0">
                <a:latin typeface="+mj-lt"/>
                <a:ea typeface="Cambria" panose="02040503050406030204" pitchFamily="18" charset="0"/>
                <a:cs typeface="Microsoft Sans Serif"/>
              </a:rPr>
              <a:t>remembers</a:t>
            </a:r>
            <a:r>
              <a:rPr lang="en-US" spc="-85" dirty="0">
                <a:latin typeface="+mj-lt"/>
                <a:ea typeface="Cambria" panose="02040503050406030204" pitchFamily="18" charset="0"/>
                <a:cs typeface="Microsoft Sans Serif"/>
              </a:rPr>
              <a:t> </a:t>
            </a:r>
            <a:r>
              <a:rPr lang="en-US" spc="-35" dirty="0">
                <a:latin typeface="+mj-lt"/>
                <a:ea typeface="Cambria" panose="02040503050406030204" pitchFamily="18" charset="0"/>
                <a:cs typeface="Microsoft Sans Serif"/>
              </a:rPr>
              <a:t>the</a:t>
            </a:r>
            <a:r>
              <a:rPr lang="en-US" spc="-30" dirty="0">
                <a:latin typeface="+mj-lt"/>
                <a:ea typeface="Cambria" panose="02040503050406030204" pitchFamily="18" charset="0"/>
                <a:cs typeface="Microsoft Sans Serif"/>
              </a:rPr>
              <a:t> </a:t>
            </a:r>
            <a:r>
              <a:rPr lang="en-US" spc="-10" dirty="0">
                <a:latin typeface="+mj-lt"/>
                <a:ea typeface="Cambria" panose="02040503050406030204" pitchFamily="18" charset="0"/>
                <a:cs typeface="Microsoft Sans Serif"/>
              </a:rPr>
              <a:t>identity </a:t>
            </a:r>
            <a:r>
              <a:rPr lang="en-US" spc="-20" dirty="0">
                <a:latin typeface="+mj-lt"/>
                <a:ea typeface="Cambria" panose="02040503050406030204" pitchFamily="18" charset="0"/>
                <a:cs typeface="Microsoft Sans Serif"/>
              </a:rPr>
              <a:t>of </a:t>
            </a:r>
            <a:r>
              <a:rPr lang="en-US" spc="-75" dirty="0">
                <a:latin typeface="+mj-lt"/>
                <a:ea typeface="Cambria" panose="02040503050406030204" pitchFamily="18" charset="0"/>
                <a:cs typeface="Microsoft Sans Serif"/>
              </a:rPr>
              <a:t>those</a:t>
            </a:r>
            <a:r>
              <a:rPr lang="en-US" spc="300" dirty="0">
                <a:latin typeface="+mj-lt"/>
                <a:ea typeface="Cambria" panose="02040503050406030204" pitchFamily="18" charset="0"/>
                <a:cs typeface="Microsoft Sans Serif"/>
              </a:rPr>
              <a:t> </a:t>
            </a:r>
            <a:r>
              <a:rPr lang="en-US" spc="-80" dirty="0">
                <a:latin typeface="+mj-lt"/>
                <a:ea typeface="Cambria" panose="02040503050406030204" pitchFamily="18" charset="0"/>
                <a:cs typeface="Microsoft Sans Serif"/>
              </a:rPr>
              <a:t>packets</a:t>
            </a:r>
            <a:r>
              <a:rPr lang="en-US" spc="290" dirty="0">
                <a:latin typeface="+mj-lt"/>
                <a:ea typeface="Cambria" panose="02040503050406030204" pitchFamily="18" charset="0"/>
                <a:cs typeface="Microsoft Sans Serif"/>
              </a:rPr>
              <a:t> </a:t>
            </a:r>
            <a:r>
              <a:rPr lang="en-US" spc="80" dirty="0">
                <a:latin typeface="+mj-lt"/>
                <a:ea typeface="Cambria" panose="02040503050406030204" pitchFamily="18" charset="0"/>
                <a:cs typeface="Microsoft Sans Serif"/>
              </a:rPr>
              <a:t>it </a:t>
            </a:r>
            <a:r>
              <a:rPr lang="en-US" spc="-125" dirty="0">
                <a:latin typeface="+mj-lt"/>
                <a:ea typeface="Cambria" panose="02040503050406030204" pitchFamily="18" charset="0"/>
                <a:cs typeface="Microsoft Sans Serif"/>
              </a:rPr>
              <a:t>has</a:t>
            </a:r>
            <a:r>
              <a:rPr lang="en-US" spc="200" dirty="0">
                <a:latin typeface="+mj-lt"/>
                <a:ea typeface="Cambria" panose="02040503050406030204" pitchFamily="18" charset="0"/>
                <a:cs typeface="Microsoft Sans Serif"/>
              </a:rPr>
              <a:t> </a:t>
            </a:r>
            <a:r>
              <a:rPr lang="en-US" spc="-75" dirty="0">
                <a:latin typeface="+mj-lt"/>
                <a:ea typeface="Cambria" panose="02040503050406030204" pitchFamily="18" charset="0"/>
                <a:cs typeface="Microsoft Sans Serif"/>
              </a:rPr>
              <a:t>already</a:t>
            </a:r>
            <a:r>
              <a:rPr lang="en-US" spc="305" dirty="0">
                <a:latin typeface="+mj-lt"/>
                <a:ea typeface="Cambria" panose="02040503050406030204" pitchFamily="18" charset="0"/>
                <a:cs typeface="Microsoft Sans Serif"/>
              </a:rPr>
              <a:t> </a:t>
            </a:r>
            <a:r>
              <a:rPr lang="en-US" spc="-75" dirty="0">
                <a:latin typeface="+mj-lt"/>
                <a:ea typeface="Cambria" panose="02040503050406030204" pitchFamily="18" charset="0"/>
                <a:cs typeface="Microsoft Sans Serif"/>
              </a:rPr>
              <a:t>sent </a:t>
            </a:r>
            <a:r>
              <a:rPr lang="en-US" spc="-440" dirty="0">
                <a:latin typeface="+mj-lt"/>
                <a:ea typeface="Cambria" panose="02040503050406030204" pitchFamily="18" charset="0"/>
                <a:cs typeface="Microsoft Sans Serif"/>
              </a:rPr>
              <a:t> </a:t>
            </a:r>
            <a:r>
              <a:rPr lang="en-US" dirty="0">
                <a:latin typeface="+mj-lt"/>
                <a:ea typeface="Cambria" panose="02040503050406030204" pitchFamily="18" charset="0"/>
                <a:cs typeface="Microsoft Sans Serif"/>
              </a:rPr>
              <a:t>out.</a:t>
            </a:r>
            <a:r>
              <a:rPr lang="en-US" spc="300" dirty="0">
                <a:latin typeface="+mj-lt"/>
                <a:ea typeface="Cambria" panose="02040503050406030204" pitchFamily="18" charset="0"/>
                <a:cs typeface="Microsoft Sans Serif"/>
              </a:rPr>
              <a:t> </a:t>
            </a:r>
            <a:r>
              <a:rPr lang="en-US" u="sng" spc="-75" dirty="0">
                <a:latin typeface="+mj-lt"/>
                <a:ea typeface="Cambria" panose="02040503050406030204" pitchFamily="18" charset="0"/>
                <a:cs typeface="Microsoft Sans Serif"/>
              </a:rPr>
              <a:t>When</a:t>
            </a:r>
            <a:r>
              <a:rPr lang="en-US" u="sng" spc="130" dirty="0">
                <a:latin typeface="+mj-lt"/>
                <a:ea typeface="Cambria" panose="02040503050406030204" pitchFamily="18" charset="0"/>
                <a:cs typeface="Microsoft Sans Serif"/>
              </a:rPr>
              <a:t> </a:t>
            </a:r>
            <a:r>
              <a:rPr lang="en-US" u="sng" spc="-45" dirty="0">
                <a:latin typeface="+mj-lt"/>
                <a:ea typeface="Cambria" panose="02040503050406030204" pitchFamily="18" charset="0"/>
                <a:cs typeface="Microsoft Sans Serif"/>
              </a:rPr>
              <a:t>duplicate</a:t>
            </a:r>
            <a:r>
              <a:rPr lang="en-US" u="sng" spc="125" dirty="0">
                <a:latin typeface="+mj-lt"/>
                <a:ea typeface="Cambria" panose="02040503050406030204" pitchFamily="18" charset="0"/>
                <a:cs typeface="Microsoft Sans Serif"/>
              </a:rPr>
              <a:t> </a:t>
            </a:r>
            <a:r>
              <a:rPr lang="en-US" u="sng" spc="-100" dirty="0">
                <a:latin typeface="+mj-lt"/>
                <a:ea typeface="Cambria" panose="02040503050406030204" pitchFamily="18" charset="0"/>
                <a:cs typeface="Microsoft Sans Serif"/>
              </a:rPr>
              <a:t>copies</a:t>
            </a:r>
            <a:r>
              <a:rPr lang="en-US" u="sng" spc="114" dirty="0">
                <a:latin typeface="+mj-lt"/>
                <a:ea typeface="Cambria" panose="02040503050406030204" pitchFamily="18" charset="0"/>
                <a:cs typeface="Microsoft Sans Serif"/>
              </a:rPr>
              <a:t> </a:t>
            </a:r>
            <a:r>
              <a:rPr lang="en-US" u="sng" spc="-20" dirty="0">
                <a:latin typeface="+mj-lt"/>
                <a:ea typeface="Cambria" panose="02040503050406030204" pitchFamily="18" charset="0"/>
                <a:cs typeface="Microsoft Sans Serif"/>
              </a:rPr>
              <a:t>of</a:t>
            </a:r>
            <a:r>
              <a:rPr lang="en-US" u="sng" spc="110" dirty="0">
                <a:latin typeface="+mj-lt"/>
                <a:ea typeface="Cambria" panose="02040503050406030204" pitchFamily="18" charset="0"/>
                <a:cs typeface="Microsoft Sans Serif"/>
              </a:rPr>
              <a:t> </a:t>
            </a:r>
            <a:r>
              <a:rPr lang="en-US" u="sng" spc="-35" dirty="0">
                <a:latin typeface="+mj-lt"/>
                <a:ea typeface="Cambria" panose="02040503050406030204" pitchFamily="18" charset="0"/>
                <a:cs typeface="Microsoft Sans Serif"/>
              </a:rPr>
              <a:t>the</a:t>
            </a:r>
            <a:r>
              <a:rPr lang="en-US" u="sng" spc="125" dirty="0">
                <a:latin typeface="+mj-lt"/>
                <a:ea typeface="Cambria" panose="02040503050406030204" pitchFamily="18" charset="0"/>
                <a:cs typeface="Microsoft Sans Serif"/>
              </a:rPr>
              <a:t> </a:t>
            </a:r>
            <a:r>
              <a:rPr lang="en-US" u="sng" spc="-60" dirty="0">
                <a:latin typeface="+mj-lt"/>
                <a:ea typeface="Cambria" panose="02040503050406030204" pitchFamily="18" charset="0"/>
                <a:cs typeface="Microsoft Sans Serif"/>
              </a:rPr>
              <a:t>packet</a:t>
            </a:r>
            <a:r>
              <a:rPr lang="en-US" u="sng" spc="110" dirty="0">
                <a:latin typeface="+mj-lt"/>
                <a:ea typeface="Cambria" panose="02040503050406030204" pitchFamily="18" charset="0"/>
                <a:cs typeface="Microsoft Sans Serif"/>
              </a:rPr>
              <a:t> </a:t>
            </a:r>
            <a:r>
              <a:rPr lang="en-US" u="sng" spc="-80" dirty="0">
                <a:latin typeface="+mj-lt"/>
                <a:ea typeface="Cambria" panose="02040503050406030204" pitchFamily="18" charset="0"/>
                <a:cs typeface="Microsoft Sans Serif"/>
              </a:rPr>
              <a:t>arrives</a:t>
            </a:r>
            <a:r>
              <a:rPr lang="en-US" u="sng" spc="120" dirty="0">
                <a:latin typeface="+mj-lt"/>
                <a:ea typeface="Cambria" panose="02040503050406030204" pitchFamily="18" charset="0"/>
                <a:cs typeface="Microsoft Sans Serif"/>
              </a:rPr>
              <a:t> </a:t>
            </a:r>
            <a:r>
              <a:rPr lang="en-US" u="sng" spc="-55" dirty="0">
                <a:latin typeface="+mj-lt"/>
                <a:ea typeface="Cambria" panose="02040503050406030204" pitchFamily="18" charset="0"/>
                <a:cs typeface="Microsoft Sans Serif"/>
              </a:rPr>
              <a:t>back,</a:t>
            </a:r>
            <a:r>
              <a:rPr lang="en-US" u="sng" spc="130" dirty="0">
                <a:latin typeface="+mj-lt"/>
                <a:ea typeface="Cambria" panose="02040503050406030204" pitchFamily="18" charset="0"/>
                <a:cs typeface="Microsoft Sans Serif"/>
              </a:rPr>
              <a:t> </a:t>
            </a:r>
            <a:r>
              <a:rPr lang="en-US" u="sng" spc="-40" dirty="0">
                <a:latin typeface="+mj-lt"/>
                <a:ea typeface="Cambria" panose="02040503050406030204" pitchFamily="18" charset="0"/>
                <a:cs typeface="Microsoft Sans Serif"/>
              </a:rPr>
              <a:t>they</a:t>
            </a:r>
            <a:r>
              <a:rPr lang="en-US" u="sng" spc="120" dirty="0">
                <a:latin typeface="+mj-lt"/>
                <a:ea typeface="Cambria" panose="02040503050406030204" pitchFamily="18" charset="0"/>
                <a:cs typeface="Microsoft Sans Serif"/>
              </a:rPr>
              <a:t> </a:t>
            </a:r>
            <a:r>
              <a:rPr lang="en-US" u="sng" spc="-114" dirty="0">
                <a:latin typeface="+mj-lt"/>
                <a:ea typeface="Cambria" panose="02040503050406030204" pitchFamily="18" charset="0"/>
                <a:cs typeface="Microsoft Sans Serif"/>
              </a:rPr>
              <a:t>are</a:t>
            </a:r>
            <a:r>
              <a:rPr lang="en-US" u="sng" spc="114" dirty="0">
                <a:latin typeface="+mj-lt"/>
                <a:ea typeface="Cambria" panose="02040503050406030204" pitchFamily="18" charset="0"/>
                <a:cs typeface="Microsoft Sans Serif"/>
              </a:rPr>
              <a:t> </a:t>
            </a:r>
            <a:r>
              <a:rPr lang="en-US" u="sng" spc="-85" dirty="0">
                <a:latin typeface="+mj-lt"/>
                <a:ea typeface="Cambria" panose="02040503050406030204" pitchFamily="18" charset="0"/>
                <a:cs typeface="Microsoft Sans Serif"/>
              </a:rPr>
              <a:t>discarded</a:t>
            </a:r>
            <a:r>
              <a:rPr lang="en-US" u="sng" dirty="0">
                <a:latin typeface="+mj-lt"/>
                <a:ea typeface="Cambria" panose="02040503050406030204" pitchFamily="18" charset="0"/>
                <a:cs typeface="Microsoft Sans Serif"/>
              </a:rPr>
              <a:t>. </a:t>
            </a:r>
            <a:r>
              <a:rPr lang="en-US" spc="-25" dirty="0">
                <a:latin typeface="+mj-lt"/>
                <a:ea typeface="Cambria" panose="02040503050406030204" pitchFamily="18" charset="0"/>
                <a:cs typeface="Microsoft Sans Serif"/>
              </a:rPr>
              <a:t>This </a:t>
            </a:r>
            <a:r>
              <a:rPr lang="en-US" spc="-90" dirty="0">
                <a:latin typeface="+mj-lt"/>
                <a:ea typeface="Cambria" panose="02040503050406030204" pitchFamily="18" charset="0"/>
                <a:cs typeface="Microsoft Sans Serif"/>
              </a:rPr>
              <a:t>is</a:t>
            </a:r>
            <a:r>
              <a:rPr lang="en-US" spc="-85" dirty="0">
                <a:latin typeface="+mj-lt"/>
                <a:ea typeface="Cambria" panose="02040503050406030204" pitchFamily="18" charset="0"/>
                <a:cs typeface="Microsoft Sans Serif"/>
              </a:rPr>
              <a:t> </a:t>
            </a:r>
            <a:r>
              <a:rPr lang="en-US" spc="-95" dirty="0">
                <a:latin typeface="+mj-lt"/>
                <a:ea typeface="Cambria" panose="02040503050406030204" pitchFamily="18" charset="0"/>
                <a:cs typeface="Microsoft Sans Serif"/>
              </a:rPr>
              <a:t>achieved</a:t>
            </a:r>
            <a:r>
              <a:rPr lang="en-US" spc="-90" dirty="0">
                <a:latin typeface="+mj-lt"/>
                <a:ea typeface="Cambria" panose="02040503050406030204" pitchFamily="18" charset="0"/>
                <a:cs typeface="Microsoft Sans Serif"/>
              </a:rPr>
              <a:t> </a:t>
            </a:r>
            <a:r>
              <a:rPr lang="en-US" spc="-85" dirty="0">
                <a:latin typeface="+mj-lt"/>
                <a:ea typeface="Cambria" panose="02040503050406030204" pitchFamily="18" charset="0"/>
                <a:cs typeface="Microsoft Sans Serif"/>
              </a:rPr>
              <a:t>by</a:t>
            </a:r>
            <a:r>
              <a:rPr lang="en-US" spc="-80" dirty="0">
                <a:latin typeface="+mj-lt"/>
                <a:ea typeface="Cambria" panose="02040503050406030204" pitchFamily="18" charset="0"/>
                <a:cs typeface="Microsoft Sans Serif"/>
              </a:rPr>
              <a:t> </a:t>
            </a:r>
            <a:r>
              <a:rPr lang="en-US" spc="-100" dirty="0">
                <a:latin typeface="+mj-lt"/>
                <a:ea typeface="Cambria" panose="02040503050406030204" pitchFamily="18" charset="0"/>
                <a:cs typeface="Microsoft Sans Serif"/>
              </a:rPr>
              <a:t>source</a:t>
            </a:r>
            <a:r>
              <a:rPr lang="en-US" spc="-95" dirty="0">
                <a:latin typeface="+mj-lt"/>
                <a:ea typeface="Cambria" panose="02040503050406030204" pitchFamily="18" charset="0"/>
                <a:cs typeface="Microsoft Sans Serif"/>
              </a:rPr>
              <a:t> </a:t>
            </a:r>
            <a:r>
              <a:rPr lang="en-US" spc="-25" dirty="0">
                <a:latin typeface="+mj-lt"/>
                <a:ea typeface="Cambria" panose="02040503050406030204" pitchFamily="18" charset="0"/>
                <a:cs typeface="Microsoft Sans Serif"/>
              </a:rPr>
              <a:t>router </a:t>
            </a:r>
            <a:r>
              <a:rPr lang="en-US" spc="5" dirty="0">
                <a:latin typeface="+mj-lt"/>
                <a:ea typeface="Cambria" panose="02040503050406030204" pitchFamily="18" charset="0"/>
                <a:cs typeface="Microsoft Sans Serif"/>
              </a:rPr>
              <a:t>putting </a:t>
            </a:r>
            <a:r>
              <a:rPr lang="en-US" spc="-120" dirty="0">
                <a:latin typeface="+mj-lt"/>
                <a:ea typeface="Cambria" panose="02040503050406030204" pitchFamily="18" charset="0"/>
                <a:cs typeface="Microsoft Sans Serif"/>
              </a:rPr>
              <a:t>a</a:t>
            </a:r>
            <a:r>
              <a:rPr lang="en-US" spc="-114" dirty="0">
                <a:latin typeface="+mj-lt"/>
                <a:ea typeface="Cambria" panose="02040503050406030204" pitchFamily="18" charset="0"/>
                <a:cs typeface="Microsoft Sans Serif"/>
              </a:rPr>
              <a:t> </a:t>
            </a:r>
            <a:r>
              <a:rPr lang="en-US" u="sng" spc="-130" dirty="0">
                <a:latin typeface="+mj-lt"/>
                <a:ea typeface="Cambria" panose="02040503050406030204" pitchFamily="18" charset="0"/>
                <a:cs typeface="Microsoft Sans Serif"/>
              </a:rPr>
              <a:t>sequence</a:t>
            </a:r>
            <a:r>
              <a:rPr lang="en-US" u="sng" spc="190" dirty="0">
                <a:latin typeface="+mj-lt"/>
                <a:ea typeface="Cambria" panose="02040503050406030204" pitchFamily="18" charset="0"/>
                <a:cs typeface="Microsoft Sans Serif"/>
              </a:rPr>
              <a:t> </a:t>
            </a:r>
            <a:r>
              <a:rPr lang="en-US" u="sng" spc="-60" dirty="0">
                <a:latin typeface="+mj-lt"/>
                <a:ea typeface="Cambria" panose="02040503050406030204" pitchFamily="18" charset="0"/>
                <a:cs typeface="Microsoft Sans Serif"/>
              </a:rPr>
              <a:t>number </a:t>
            </a:r>
            <a:r>
              <a:rPr lang="en-US" spc="-25" dirty="0">
                <a:latin typeface="+mj-lt"/>
                <a:ea typeface="Cambria" panose="02040503050406030204" pitchFamily="18" charset="0"/>
                <a:cs typeface="Microsoft Sans Serif"/>
              </a:rPr>
              <a:t>in </a:t>
            </a:r>
            <a:r>
              <a:rPr lang="en-US" spc="-35" dirty="0">
                <a:latin typeface="+mj-lt"/>
                <a:ea typeface="Cambria" panose="02040503050406030204" pitchFamily="18" charset="0"/>
                <a:cs typeface="Microsoft Sans Serif"/>
              </a:rPr>
              <a:t>the </a:t>
            </a:r>
            <a:r>
              <a:rPr lang="en-US" spc="-50" dirty="0">
                <a:latin typeface="+mj-lt"/>
                <a:ea typeface="Cambria" panose="02040503050406030204" pitchFamily="18" charset="0"/>
                <a:cs typeface="Microsoft Sans Serif"/>
              </a:rPr>
              <a:t>packet.</a:t>
            </a:r>
            <a:endParaRPr lang="en-IN" dirty="0">
              <a:latin typeface="+mj-lt"/>
            </a:endParaRPr>
          </a:p>
          <a:p>
            <a:r>
              <a:rPr lang="en-US" dirty="0"/>
              <a:t>Flooding is not practical in most applications. </a:t>
            </a:r>
            <a:endParaRPr lang="en-IN" sz="28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8934512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Advantages</a:t>
            </a:r>
            <a:endParaRPr lang="en-IN" dirty="0"/>
          </a:p>
        </p:txBody>
      </p:sp>
      <p:sp>
        <p:nvSpPr>
          <p:cNvPr id="3" name="Content Placeholder 2"/>
          <p:cNvSpPr>
            <a:spLocks noGrp="1"/>
          </p:cNvSpPr>
          <p:nvPr>
            <p:ph idx="1"/>
          </p:nvPr>
        </p:nvSpPr>
        <p:spPr/>
        <p:txBody>
          <a:bodyPr>
            <a:normAutofit/>
          </a:bodyPr>
          <a:lstStyle/>
          <a:p>
            <a:pPr marL="0" indent="0">
              <a:buNone/>
            </a:pPr>
            <a:r>
              <a:rPr lang="en-US" dirty="0"/>
              <a:t>1) In </a:t>
            </a:r>
            <a:r>
              <a:rPr lang="en-US" u="sng" dirty="0"/>
              <a:t>military applications</a:t>
            </a:r>
            <a:r>
              <a:rPr lang="en-US" dirty="0"/>
              <a:t>, where large numbers of routers are blown, flooding is desirable.</a:t>
            </a:r>
          </a:p>
          <a:p>
            <a:pPr marL="0" indent="0">
              <a:buNone/>
            </a:pPr>
            <a:r>
              <a:rPr lang="en-US" dirty="0"/>
              <a:t>2) In Distributed database applications, it is some times necessary to update all the databases concurrently, in which flooding is useful.</a:t>
            </a:r>
          </a:p>
          <a:p>
            <a:pPr marL="0" indent="0">
              <a:buNone/>
            </a:pPr>
            <a:r>
              <a:rPr lang="en-US" dirty="0"/>
              <a:t>3) It is used as a </a:t>
            </a:r>
            <a:r>
              <a:rPr lang="en-US" u="sng" dirty="0"/>
              <a:t>metric </a:t>
            </a:r>
            <a:r>
              <a:rPr lang="en-US" dirty="0"/>
              <a:t>against which other routing algorithms are compared.</a:t>
            </a:r>
          </a:p>
          <a:p>
            <a:pPr marL="0" indent="0">
              <a:buNone/>
            </a:pPr>
            <a:r>
              <a:rPr lang="en-US" dirty="0"/>
              <a:t>4) </a:t>
            </a:r>
            <a:r>
              <a:rPr lang="en-US" u="sng" dirty="0"/>
              <a:t>Flooding chooses the shortest path</a:t>
            </a:r>
            <a:r>
              <a:rPr lang="en-US" dirty="0"/>
              <a:t>, because it chooses all possible path in parallel.</a:t>
            </a:r>
            <a:endParaRPr lang="en-IN" dirty="0"/>
          </a:p>
        </p:txBody>
      </p:sp>
    </p:spTree>
    <p:extLst>
      <p:ext uri="{BB962C8B-B14F-4D97-AF65-F5344CB8AC3E}">
        <p14:creationId xmlns:p14="http://schemas.microsoft.com/office/powerpoint/2010/main" val="18256668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5043" y="112793"/>
            <a:ext cx="10515600" cy="1325563"/>
          </a:xfrm>
        </p:spPr>
        <p:txBody>
          <a:bodyPr/>
          <a:lstStyle/>
          <a:p>
            <a:r>
              <a:rPr lang="en-IN" b="1" dirty="0">
                <a:ea typeface="Cambria" panose="02040503050406030204" pitchFamily="18" charset="0"/>
              </a:rPr>
              <a:t>Distance Vector Routing</a:t>
            </a:r>
            <a:endParaRPr lang="en-IN" dirty="0">
              <a:ea typeface="Cambria" panose="02040503050406030204" pitchFamily="18" charset="0"/>
            </a:endParaRPr>
          </a:p>
        </p:txBody>
      </p:sp>
      <p:sp>
        <p:nvSpPr>
          <p:cNvPr id="3" name="Content Placeholder 2"/>
          <p:cNvSpPr>
            <a:spLocks noGrp="1"/>
          </p:cNvSpPr>
          <p:nvPr>
            <p:ph idx="1"/>
          </p:nvPr>
        </p:nvSpPr>
        <p:spPr>
          <a:xfrm>
            <a:off x="670687" y="1277888"/>
            <a:ext cx="11282774" cy="5255433"/>
          </a:xfrm>
        </p:spPr>
        <p:txBody>
          <a:bodyPr>
            <a:noAutofit/>
          </a:bodyPr>
          <a:lstStyle/>
          <a:p>
            <a:r>
              <a:rPr lang="en-US" sz="2400" dirty="0">
                <a:latin typeface="+mj-lt"/>
                <a:ea typeface="Cambria" panose="02040503050406030204" pitchFamily="18" charset="0"/>
              </a:rPr>
              <a:t>A </a:t>
            </a:r>
            <a:r>
              <a:rPr lang="en-US" sz="2400" b="1" dirty="0">
                <a:latin typeface="+mj-lt"/>
                <a:ea typeface="Cambria" panose="02040503050406030204" pitchFamily="18" charset="0"/>
              </a:rPr>
              <a:t>distance vector routing </a:t>
            </a:r>
            <a:r>
              <a:rPr lang="en-US" sz="2400" dirty="0">
                <a:latin typeface="+mj-lt"/>
                <a:ea typeface="Cambria" panose="02040503050406030204" pitchFamily="18" charset="0"/>
              </a:rPr>
              <a:t>algorithm operates by having each </a:t>
            </a:r>
            <a:r>
              <a:rPr lang="en-US" sz="2400" u="sng" dirty="0">
                <a:latin typeface="+mj-lt"/>
                <a:ea typeface="Cambria" panose="02040503050406030204" pitchFamily="18" charset="0"/>
              </a:rPr>
              <a:t>router maintain a table </a:t>
            </a:r>
            <a:r>
              <a:rPr lang="en-US" sz="2400" dirty="0">
                <a:latin typeface="+mj-lt"/>
                <a:ea typeface="Cambria" panose="02040503050406030204" pitchFamily="18" charset="0"/>
              </a:rPr>
              <a:t>giving the best known </a:t>
            </a:r>
            <a:r>
              <a:rPr lang="en-US" sz="2400" u="sng" dirty="0">
                <a:latin typeface="+mj-lt"/>
                <a:ea typeface="Cambria" panose="02040503050406030204" pitchFamily="18" charset="0"/>
              </a:rPr>
              <a:t>distance to each destination and which link to use </a:t>
            </a:r>
            <a:r>
              <a:rPr lang="en-US" sz="2400" dirty="0">
                <a:latin typeface="+mj-lt"/>
                <a:ea typeface="Cambria" panose="02040503050406030204" pitchFamily="18" charset="0"/>
              </a:rPr>
              <a:t>to get there. </a:t>
            </a:r>
          </a:p>
          <a:p>
            <a:r>
              <a:rPr lang="en-US" sz="2400" dirty="0">
                <a:latin typeface="+mj-lt"/>
                <a:ea typeface="Cambria" panose="02040503050406030204" pitchFamily="18" charset="0"/>
              </a:rPr>
              <a:t>The distance vector routing algorithm is sometimes called by other names, most commonly the distributed </a:t>
            </a:r>
            <a:r>
              <a:rPr lang="en-US" sz="2400" b="1" u="sng" dirty="0">
                <a:latin typeface="+mj-lt"/>
                <a:ea typeface="Cambria" panose="02040503050406030204" pitchFamily="18" charset="0"/>
              </a:rPr>
              <a:t>Bellman-Ford </a:t>
            </a:r>
            <a:r>
              <a:rPr lang="en-US" sz="2400" dirty="0">
                <a:latin typeface="+mj-lt"/>
                <a:ea typeface="Cambria" panose="02040503050406030204" pitchFamily="18" charset="0"/>
              </a:rPr>
              <a:t>routing algorithm,</a:t>
            </a:r>
          </a:p>
          <a:p>
            <a:r>
              <a:rPr lang="en-US" sz="2400" dirty="0">
                <a:latin typeface="+mj-lt"/>
                <a:ea typeface="Cambria" panose="02040503050406030204" pitchFamily="18" charset="0"/>
              </a:rPr>
              <a:t>In distance vector routing, each router maintains a routing table indexed by, and containing </a:t>
            </a:r>
            <a:r>
              <a:rPr lang="en-US" sz="2400" u="sng" dirty="0">
                <a:latin typeface="+mj-lt"/>
                <a:ea typeface="Cambria" panose="02040503050406030204" pitchFamily="18" charset="0"/>
              </a:rPr>
              <a:t>one entry for each router </a:t>
            </a:r>
            <a:r>
              <a:rPr lang="en-US" sz="2400" dirty="0">
                <a:latin typeface="+mj-lt"/>
                <a:ea typeface="Cambria" panose="02040503050406030204" pitchFamily="18" charset="0"/>
              </a:rPr>
              <a:t>in the network. This entry has two parts: </a:t>
            </a:r>
            <a:r>
              <a:rPr lang="en-US" sz="2400" u="sng" dirty="0">
                <a:latin typeface="+mj-lt"/>
                <a:ea typeface="Cambria" panose="02040503050406030204" pitchFamily="18" charset="0"/>
              </a:rPr>
              <a:t>the preferred outgoing line </a:t>
            </a:r>
            <a:r>
              <a:rPr lang="en-US" sz="2400" dirty="0">
                <a:latin typeface="+mj-lt"/>
                <a:ea typeface="Cambria" panose="02040503050406030204" pitchFamily="18" charset="0"/>
              </a:rPr>
              <a:t>to use for that destination and </a:t>
            </a:r>
            <a:r>
              <a:rPr lang="en-US" sz="2400" u="sng" dirty="0">
                <a:latin typeface="+mj-lt"/>
                <a:ea typeface="Cambria" panose="02040503050406030204" pitchFamily="18" charset="0"/>
              </a:rPr>
              <a:t>an estimate of the distance </a:t>
            </a:r>
            <a:r>
              <a:rPr lang="en-IN" sz="2400" dirty="0">
                <a:latin typeface="+mj-lt"/>
                <a:ea typeface="Cambria" panose="02040503050406030204" pitchFamily="18" charset="0"/>
              </a:rPr>
              <a:t>to that destination.</a:t>
            </a:r>
          </a:p>
          <a:p>
            <a:r>
              <a:rPr lang="en-US" sz="2400" dirty="0">
                <a:latin typeface="+mj-lt"/>
              </a:rPr>
              <a:t>The router is assumed to know the distance to each of its neighbors. If the metric is hops, the distance is just one hop. If the metric is queue length, the router examines each queue. If the metric is delay the router can measure it directly with a special ECHO packets.</a:t>
            </a:r>
            <a:endParaRPr lang="en-IN" sz="2400" dirty="0">
              <a:latin typeface="+mj-lt"/>
              <a:ea typeface="Cambria" panose="02040503050406030204" pitchFamily="18" charset="0"/>
            </a:endParaRPr>
          </a:p>
        </p:txBody>
      </p:sp>
    </p:spTree>
    <p:extLst>
      <p:ext uri="{BB962C8B-B14F-4D97-AF65-F5344CB8AC3E}">
        <p14:creationId xmlns:p14="http://schemas.microsoft.com/office/powerpoint/2010/main" val="37230745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591" y="4572000"/>
            <a:ext cx="11817626" cy="2146853"/>
          </a:xfrm>
        </p:spPr>
        <p:txBody>
          <a:bodyPr>
            <a:noAutofit/>
          </a:bodyPr>
          <a:lstStyle/>
          <a:p>
            <a:br>
              <a:rPr lang="en-US" sz="1800" b="1" dirty="0"/>
            </a:br>
            <a:r>
              <a:rPr lang="en-US" sz="1800" dirty="0"/>
              <a:t>Fig.(a) shows the subnet and fig.(b) shows the vectors of J for its neighbors. </a:t>
            </a:r>
            <a:br>
              <a:rPr lang="en-US" sz="1800" dirty="0"/>
            </a:br>
            <a:r>
              <a:rPr lang="en-US" sz="1800" dirty="0"/>
              <a:t>Let JA delay is 8, JI delay is 10, JH is 12, JK is 6.</a:t>
            </a:r>
            <a:br>
              <a:rPr lang="en-US" sz="1800" dirty="0"/>
            </a:br>
            <a:r>
              <a:rPr lang="en-US" sz="1800" dirty="0"/>
              <a:t>The new route to G from J can be calculated as follows: J can get A in 8 m sec. A can get G in 18 m sec(from table). Hence J can get G in (8+18) 26 m sec.</a:t>
            </a:r>
            <a:br>
              <a:rPr lang="en-US" sz="1800" dirty="0"/>
            </a:br>
            <a:r>
              <a:rPr lang="en-US" sz="1800" dirty="0"/>
              <a:t>Similarly the delay to G via I,H and K is (31 +10) =41, (6+12)18, (31+6)37 m sec.</a:t>
            </a:r>
            <a:br>
              <a:rPr lang="en-US" sz="1800" dirty="0"/>
            </a:br>
            <a:r>
              <a:rPr lang="en-US" sz="1800" dirty="0"/>
              <a:t>The best of these values is 18, so it makes an entry in its routing table that the delay to G is 18 m sec and that route is via H.</a:t>
            </a:r>
            <a:endParaRPr lang="en-IN" sz="1800" dirty="0"/>
          </a:p>
        </p:txBody>
      </p:sp>
      <p:pic>
        <p:nvPicPr>
          <p:cNvPr id="4" name="Content Placeholder 3"/>
          <p:cNvPicPr>
            <a:picLocks noGrp="1" noChangeAspect="1"/>
          </p:cNvPicPr>
          <p:nvPr>
            <p:ph idx="1"/>
          </p:nvPr>
        </p:nvPicPr>
        <p:blipFill>
          <a:blip r:embed="rId2"/>
          <a:stretch>
            <a:fillRect/>
          </a:stretch>
        </p:blipFill>
        <p:spPr>
          <a:xfrm>
            <a:off x="377130" y="0"/>
            <a:ext cx="10900704" cy="4794363"/>
          </a:xfrm>
          <a:prstGeom prst="rect">
            <a:avLst/>
          </a:prstGeom>
        </p:spPr>
      </p:pic>
    </p:spTree>
    <p:extLst>
      <p:ext uri="{BB962C8B-B14F-4D97-AF65-F5344CB8AC3E}">
        <p14:creationId xmlns:p14="http://schemas.microsoft.com/office/powerpoint/2010/main" val="2519271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Count-to-Infinity problem</a:t>
            </a:r>
            <a:endParaRPr lang="en-IN" dirty="0"/>
          </a:p>
        </p:txBody>
      </p:sp>
      <p:sp>
        <p:nvSpPr>
          <p:cNvPr id="3" name="Content Placeholder 2"/>
          <p:cNvSpPr>
            <a:spLocks noGrp="1"/>
          </p:cNvSpPr>
          <p:nvPr>
            <p:ph idx="1"/>
          </p:nvPr>
        </p:nvSpPr>
        <p:spPr/>
        <p:txBody>
          <a:bodyPr>
            <a:normAutofit fontScale="92500" lnSpcReduction="20000"/>
          </a:bodyPr>
          <a:lstStyle/>
          <a:p>
            <a:r>
              <a:rPr lang="en-US" dirty="0"/>
              <a:t>The Count-to-Infinity problem is an issue in a network routing method called </a:t>
            </a:r>
            <a:r>
              <a:rPr lang="en-US" i="1" dirty="0"/>
              <a:t>distance vector routing</a:t>
            </a:r>
            <a:r>
              <a:rPr lang="en-US" dirty="0"/>
              <a:t>, where </a:t>
            </a:r>
            <a:r>
              <a:rPr lang="en-US" u="sng" dirty="0"/>
              <a:t>routers share information </a:t>
            </a:r>
            <a:r>
              <a:rPr lang="en-US" dirty="0"/>
              <a:t>with each other to find the best path to a destination. Here’s a simpler breakdown:</a:t>
            </a:r>
          </a:p>
          <a:p>
            <a:r>
              <a:rPr lang="en-US" b="1" dirty="0"/>
              <a:t>Good News Spreads Quickly:</a:t>
            </a:r>
            <a:r>
              <a:rPr lang="en-US" dirty="0"/>
              <a:t> When a </a:t>
            </a:r>
            <a:r>
              <a:rPr lang="en-US" u="sng" dirty="0"/>
              <a:t>new, shorter path to a destination is available, routers quickly update their routes</a:t>
            </a:r>
            <a:r>
              <a:rPr lang="en-US" dirty="0"/>
              <a:t>. For example, if one router learns there is now a faster way to reach a certain location, it immediately starts using that path. This information spreads fast.</a:t>
            </a:r>
          </a:p>
          <a:p>
            <a:r>
              <a:rPr lang="en-US" b="1" dirty="0"/>
              <a:t>Bad News Travels Slowly:</a:t>
            </a:r>
            <a:r>
              <a:rPr lang="en-US" dirty="0"/>
              <a:t> However, </a:t>
            </a:r>
            <a:r>
              <a:rPr lang="en-US" u="sng" dirty="0"/>
              <a:t>when a route goes down </a:t>
            </a:r>
            <a:r>
              <a:rPr lang="en-US" dirty="0"/>
              <a:t>(for example, if a router or connection fails), the "bad news" about this problem spreads very slowly. This can </a:t>
            </a:r>
            <a:r>
              <a:rPr lang="en-US" u="sng" dirty="0"/>
              <a:t>cause delays and confusion </a:t>
            </a:r>
            <a:r>
              <a:rPr lang="en-US" dirty="0"/>
              <a:t>in the network.</a:t>
            </a:r>
          </a:p>
          <a:p>
            <a:endParaRPr lang="en-IN" dirty="0"/>
          </a:p>
        </p:txBody>
      </p:sp>
    </p:spTree>
    <p:extLst>
      <p:ext uri="{BB962C8B-B14F-4D97-AF65-F5344CB8AC3E}">
        <p14:creationId xmlns:p14="http://schemas.microsoft.com/office/powerpoint/2010/main" val="4758647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2035" y="3637718"/>
            <a:ext cx="11728173" cy="3213654"/>
          </a:xfrm>
        </p:spPr>
        <p:txBody>
          <a:bodyPr>
            <a:normAutofit fontScale="77500" lnSpcReduction="20000"/>
          </a:bodyPr>
          <a:lstStyle/>
          <a:p>
            <a:r>
              <a:rPr lang="en-US" dirty="0"/>
              <a:t>Imagine a network of five routers in a line, named A, B, C, D, and E. The routers know the shortest way to reach each other. But suddenly, A goes down (stops working):</a:t>
            </a:r>
          </a:p>
          <a:p>
            <a:r>
              <a:rPr lang="en-US" b="1" dirty="0"/>
              <a:t>B notices that A is down,</a:t>
            </a:r>
            <a:r>
              <a:rPr lang="en-US" dirty="0"/>
              <a:t> but C still thinks it can reach A through B. So C tells B it has a path to A.</a:t>
            </a:r>
          </a:p>
          <a:p>
            <a:r>
              <a:rPr lang="en-US" b="1" dirty="0"/>
              <a:t>B doesn’t realize C’s path actually goes through itself,</a:t>
            </a:r>
            <a:r>
              <a:rPr lang="en-US" dirty="0"/>
              <a:t> so B believes it can still reach A through C, even though that’s incorrect.</a:t>
            </a:r>
          </a:p>
          <a:p>
            <a:r>
              <a:rPr lang="en-US" b="1" dirty="0"/>
              <a:t>Over time, each router keeps increasing the "distance" to A,</a:t>
            </a:r>
            <a:r>
              <a:rPr lang="en-US" dirty="0"/>
              <a:t> but they still believe A is reachable, which isn't true.</a:t>
            </a:r>
          </a:p>
          <a:p>
            <a:r>
              <a:rPr lang="en-US" dirty="0"/>
              <a:t>This process continues, with the routers counting up to a high number (counting to "infinity") before they finally realize A is unreachable. This happens because each router only knows what its neighbors tell it, without knowing if it’s part of a looped path.</a:t>
            </a:r>
          </a:p>
          <a:p>
            <a:endParaRPr lang="en-IN" dirty="0"/>
          </a:p>
        </p:txBody>
      </p:sp>
      <p:pic>
        <p:nvPicPr>
          <p:cNvPr id="4" name="Picture 3"/>
          <p:cNvPicPr>
            <a:picLocks noChangeAspect="1"/>
          </p:cNvPicPr>
          <p:nvPr/>
        </p:nvPicPr>
        <p:blipFill>
          <a:blip r:embed="rId2"/>
          <a:stretch>
            <a:fillRect/>
          </a:stretch>
        </p:blipFill>
        <p:spPr>
          <a:xfrm>
            <a:off x="1378226" y="96214"/>
            <a:ext cx="8892209" cy="3541503"/>
          </a:xfrm>
          <a:prstGeom prst="rect">
            <a:avLst/>
          </a:prstGeom>
        </p:spPr>
      </p:pic>
    </p:spTree>
    <p:extLst>
      <p:ext uri="{BB962C8B-B14F-4D97-AF65-F5344CB8AC3E}">
        <p14:creationId xmlns:p14="http://schemas.microsoft.com/office/powerpoint/2010/main" val="21709875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b="1" dirty="0"/>
              <a:t>Why It’s Hard to Fix?</a:t>
            </a:r>
          </a:p>
          <a:p>
            <a:r>
              <a:rPr lang="en-US" dirty="0"/>
              <a:t>Attempts to solve this problem, like </a:t>
            </a:r>
            <a:r>
              <a:rPr lang="en-US" i="1" dirty="0"/>
              <a:t>split horizon</a:t>
            </a:r>
            <a:r>
              <a:rPr lang="en-US" dirty="0"/>
              <a:t> and </a:t>
            </a:r>
            <a:r>
              <a:rPr lang="en-US" i="1" dirty="0"/>
              <a:t>poisoned reverse</a:t>
            </a:r>
            <a:r>
              <a:rPr lang="en-US" dirty="0"/>
              <a:t>, help reduce it by stopping routers from sharing paths back to where they came from. However, these methods aren’t perfect and don’t solve the problem completely in all cases.</a:t>
            </a:r>
          </a:p>
          <a:p>
            <a:r>
              <a:rPr lang="en-US" dirty="0"/>
              <a:t>In short, the Count-to-Infinity problem shows that when a route goes down, distance vector routing can be slow to recognize it, creating delays and possible routing loops.</a:t>
            </a:r>
          </a:p>
          <a:p>
            <a:endParaRPr lang="en-IN" dirty="0"/>
          </a:p>
        </p:txBody>
      </p:sp>
    </p:spTree>
    <p:extLst>
      <p:ext uri="{BB962C8B-B14F-4D97-AF65-F5344CB8AC3E}">
        <p14:creationId xmlns:p14="http://schemas.microsoft.com/office/powerpoint/2010/main" val="16622918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095" y="377589"/>
            <a:ext cx="8596668" cy="853440"/>
          </a:xfrm>
        </p:spPr>
        <p:txBody>
          <a:bodyPr/>
          <a:lstStyle/>
          <a:p>
            <a:r>
              <a:rPr lang="en-IN" b="1" dirty="0">
                <a:ea typeface="Cambria" panose="02040503050406030204" pitchFamily="18" charset="0"/>
              </a:rPr>
              <a:t>Link State Routing</a:t>
            </a:r>
            <a:endParaRPr lang="en-IN" dirty="0">
              <a:ea typeface="Cambria" panose="02040503050406030204" pitchFamily="18" charset="0"/>
            </a:endParaRPr>
          </a:p>
        </p:txBody>
      </p:sp>
      <p:sp>
        <p:nvSpPr>
          <p:cNvPr id="3" name="Content Placeholder 2"/>
          <p:cNvSpPr>
            <a:spLocks noGrp="1"/>
          </p:cNvSpPr>
          <p:nvPr>
            <p:ph idx="1"/>
          </p:nvPr>
        </p:nvSpPr>
        <p:spPr>
          <a:xfrm>
            <a:off x="444138" y="1371601"/>
            <a:ext cx="11456126" cy="5146766"/>
          </a:xfrm>
        </p:spPr>
        <p:txBody>
          <a:bodyPr>
            <a:normAutofit/>
          </a:bodyPr>
          <a:lstStyle/>
          <a:p>
            <a:r>
              <a:rPr lang="en-US" sz="2400" dirty="0">
                <a:latin typeface="+mj-lt"/>
                <a:ea typeface="Cambria" panose="02040503050406030204" pitchFamily="18" charset="0"/>
              </a:rPr>
              <a:t>The primary problem is that the algorithm often took </a:t>
            </a:r>
            <a:r>
              <a:rPr lang="en-US" sz="2400" u="sng" dirty="0">
                <a:latin typeface="+mj-lt"/>
                <a:ea typeface="Cambria" panose="02040503050406030204" pitchFamily="18" charset="0"/>
              </a:rPr>
              <a:t>too long time to converge after the network topology </a:t>
            </a:r>
            <a:r>
              <a:rPr lang="en-IN" sz="2400" u="sng" dirty="0">
                <a:latin typeface="+mj-lt"/>
                <a:ea typeface="Cambria" panose="02040503050406030204" pitchFamily="18" charset="0"/>
              </a:rPr>
              <a:t>changed.</a:t>
            </a:r>
            <a:endParaRPr lang="en-US" sz="3200" u="sng" dirty="0">
              <a:latin typeface="+mj-lt"/>
              <a:ea typeface="Cambria" panose="02040503050406030204" pitchFamily="18" charset="0"/>
            </a:endParaRPr>
          </a:p>
          <a:p>
            <a:r>
              <a:rPr lang="en-US" sz="2400" dirty="0">
                <a:latin typeface="+mj-lt"/>
                <a:ea typeface="Cambria" panose="02040503050406030204" pitchFamily="18" charset="0"/>
              </a:rPr>
              <a:t>The idea behind link state routing is:</a:t>
            </a:r>
          </a:p>
          <a:p>
            <a:r>
              <a:rPr lang="en-US" sz="2400" dirty="0">
                <a:latin typeface="+mj-lt"/>
                <a:ea typeface="Cambria" panose="02040503050406030204" pitchFamily="18" charset="0"/>
              </a:rPr>
              <a:t>1. </a:t>
            </a:r>
            <a:r>
              <a:rPr lang="en-US" sz="2400" u="sng" dirty="0">
                <a:latin typeface="+mj-lt"/>
                <a:ea typeface="Cambria" panose="02040503050406030204" pitchFamily="18" charset="0"/>
              </a:rPr>
              <a:t>Discover its neighbors </a:t>
            </a:r>
            <a:r>
              <a:rPr lang="en-US" sz="2400" dirty="0">
                <a:latin typeface="+mj-lt"/>
                <a:ea typeface="Cambria" panose="02040503050406030204" pitchFamily="18" charset="0"/>
              </a:rPr>
              <a:t>and learn their network addresses.</a:t>
            </a:r>
          </a:p>
          <a:p>
            <a:r>
              <a:rPr lang="en-US" sz="2400" dirty="0">
                <a:latin typeface="+mj-lt"/>
                <a:ea typeface="Cambria" panose="02040503050406030204" pitchFamily="18" charset="0"/>
              </a:rPr>
              <a:t>2. </a:t>
            </a:r>
            <a:r>
              <a:rPr lang="en-US" sz="2400" u="sng" dirty="0">
                <a:latin typeface="+mj-lt"/>
                <a:ea typeface="Cambria" panose="02040503050406030204" pitchFamily="18" charset="0"/>
              </a:rPr>
              <a:t>Set the distance or cost </a:t>
            </a:r>
            <a:r>
              <a:rPr lang="en-US" sz="2400" dirty="0">
                <a:latin typeface="+mj-lt"/>
                <a:ea typeface="Cambria" panose="02040503050406030204" pitchFamily="18" charset="0"/>
              </a:rPr>
              <a:t>metric to each of its neighbors.</a:t>
            </a:r>
          </a:p>
          <a:p>
            <a:r>
              <a:rPr lang="en-US" sz="2400" dirty="0">
                <a:latin typeface="+mj-lt"/>
                <a:ea typeface="Cambria" panose="02040503050406030204" pitchFamily="18" charset="0"/>
              </a:rPr>
              <a:t>3. </a:t>
            </a:r>
            <a:r>
              <a:rPr lang="en-US" sz="2400" u="sng" dirty="0">
                <a:latin typeface="+mj-lt"/>
                <a:ea typeface="Cambria" panose="02040503050406030204" pitchFamily="18" charset="0"/>
              </a:rPr>
              <a:t>Construct a packet </a:t>
            </a:r>
            <a:r>
              <a:rPr lang="en-US" sz="2400" dirty="0">
                <a:latin typeface="+mj-lt"/>
                <a:ea typeface="Cambria" panose="02040503050406030204" pitchFamily="18" charset="0"/>
              </a:rPr>
              <a:t>telling all it has just learned.</a:t>
            </a:r>
          </a:p>
          <a:p>
            <a:r>
              <a:rPr lang="en-US" sz="2400" dirty="0">
                <a:latin typeface="+mj-lt"/>
                <a:ea typeface="Cambria" panose="02040503050406030204" pitchFamily="18" charset="0"/>
              </a:rPr>
              <a:t>4. </a:t>
            </a:r>
            <a:r>
              <a:rPr lang="en-US" sz="2400" u="sng" dirty="0">
                <a:latin typeface="+mj-lt"/>
                <a:ea typeface="Cambria" panose="02040503050406030204" pitchFamily="18" charset="0"/>
              </a:rPr>
              <a:t>Send this packet to and receive packets </a:t>
            </a:r>
            <a:r>
              <a:rPr lang="en-US" sz="2400" dirty="0">
                <a:latin typeface="+mj-lt"/>
                <a:ea typeface="Cambria" panose="02040503050406030204" pitchFamily="18" charset="0"/>
              </a:rPr>
              <a:t>from all other routers.</a:t>
            </a:r>
          </a:p>
          <a:p>
            <a:r>
              <a:rPr lang="en-US" sz="2400" dirty="0">
                <a:latin typeface="+mj-lt"/>
                <a:ea typeface="Cambria" panose="02040503050406030204" pitchFamily="18" charset="0"/>
              </a:rPr>
              <a:t>5. </a:t>
            </a:r>
            <a:r>
              <a:rPr lang="en-US" sz="2400" u="sng" dirty="0">
                <a:latin typeface="+mj-lt"/>
                <a:ea typeface="Cambria" panose="02040503050406030204" pitchFamily="18" charset="0"/>
              </a:rPr>
              <a:t>Compute the shortest path </a:t>
            </a:r>
            <a:r>
              <a:rPr lang="en-US" sz="2400" dirty="0">
                <a:latin typeface="+mj-lt"/>
                <a:ea typeface="Cambria" panose="02040503050406030204" pitchFamily="18" charset="0"/>
              </a:rPr>
              <a:t>to every other router.</a:t>
            </a:r>
          </a:p>
          <a:p>
            <a:endParaRPr lang="en-IN" sz="2400" dirty="0">
              <a:latin typeface="+mj-lt"/>
              <a:ea typeface="Cambria" panose="02040503050406030204" pitchFamily="18" charset="0"/>
            </a:endParaRPr>
          </a:p>
          <a:p>
            <a:r>
              <a:rPr lang="en-IN" sz="2400" dirty="0">
                <a:latin typeface="+mj-lt"/>
                <a:ea typeface="Cambria" panose="02040503050406030204" pitchFamily="18" charset="0"/>
              </a:rPr>
              <a:t>Then </a:t>
            </a:r>
            <a:r>
              <a:rPr lang="en-IN" sz="2400" dirty="0" err="1">
                <a:latin typeface="+mj-lt"/>
                <a:ea typeface="Cambria" panose="02040503050406030204" pitchFamily="18" charset="0"/>
              </a:rPr>
              <a:t>Dijkstra’s</a:t>
            </a:r>
            <a:r>
              <a:rPr lang="en-IN" sz="2400" dirty="0">
                <a:latin typeface="+mj-lt"/>
                <a:ea typeface="Cambria" panose="02040503050406030204" pitchFamily="18" charset="0"/>
              </a:rPr>
              <a:t> algorithm </a:t>
            </a:r>
            <a:r>
              <a:rPr lang="en-US" sz="2400" dirty="0">
                <a:latin typeface="+mj-lt"/>
                <a:ea typeface="Cambria" panose="02040503050406030204" pitchFamily="18" charset="0"/>
              </a:rPr>
              <a:t>can be run at each router to find the shortest path to every other router.</a:t>
            </a:r>
            <a:endParaRPr lang="en-IN" sz="2400" dirty="0">
              <a:latin typeface="+mj-lt"/>
              <a:ea typeface="Cambria" panose="02040503050406030204" pitchFamily="18" charset="0"/>
            </a:endParaRPr>
          </a:p>
        </p:txBody>
      </p:sp>
    </p:spTree>
    <p:extLst>
      <p:ext uri="{BB962C8B-B14F-4D97-AF65-F5344CB8AC3E}">
        <p14:creationId xmlns:p14="http://schemas.microsoft.com/office/powerpoint/2010/main" val="10315491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683623"/>
          </a:xfrm>
        </p:spPr>
        <p:txBody>
          <a:bodyPr>
            <a:normAutofit fontScale="90000"/>
          </a:bodyPr>
          <a:lstStyle/>
          <a:p>
            <a:r>
              <a:rPr lang="en-IN" b="1" dirty="0">
                <a:ea typeface="Cambria" panose="02040503050406030204" pitchFamily="18" charset="0"/>
              </a:rPr>
              <a:t>Learning about the </a:t>
            </a:r>
            <a:r>
              <a:rPr lang="en-IN" b="1" dirty="0" err="1">
                <a:ea typeface="Cambria" panose="02040503050406030204" pitchFamily="18" charset="0"/>
              </a:rPr>
              <a:t>Neighbors</a:t>
            </a:r>
            <a:endParaRPr lang="en-IN" dirty="0">
              <a:ea typeface="Cambria" panose="02040503050406030204" pitchFamily="18" charset="0"/>
            </a:endParaRPr>
          </a:p>
        </p:txBody>
      </p:sp>
      <p:sp>
        <p:nvSpPr>
          <p:cNvPr id="3" name="Content Placeholder 2"/>
          <p:cNvSpPr>
            <a:spLocks noGrp="1"/>
          </p:cNvSpPr>
          <p:nvPr>
            <p:ph idx="1"/>
          </p:nvPr>
        </p:nvSpPr>
        <p:spPr>
          <a:xfrm>
            <a:off x="677334" y="1489167"/>
            <a:ext cx="10204026" cy="4552196"/>
          </a:xfrm>
        </p:spPr>
        <p:txBody>
          <a:bodyPr>
            <a:normAutofit/>
          </a:bodyPr>
          <a:lstStyle/>
          <a:p>
            <a:r>
              <a:rPr lang="en-US" sz="2400" dirty="0">
                <a:latin typeface="+mj-lt"/>
                <a:ea typeface="Cambria" panose="02040503050406030204" pitchFamily="18" charset="0"/>
              </a:rPr>
              <a:t>When a router is booted, its first task is to learn who its neighbors are. </a:t>
            </a:r>
          </a:p>
          <a:p>
            <a:r>
              <a:rPr lang="en-US" sz="2400" dirty="0">
                <a:latin typeface="+mj-lt"/>
                <a:ea typeface="Cambria" panose="02040503050406030204" pitchFamily="18" charset="0"/>
              </a:rPr>
              <a:t>It accomplishes this goal by </a:t>
            </a:r>
            <a:r>
              <a:rPr lang="en-US" sz="2400" u="sng" dirty="0">
                <a:latin typeface="+mj-lt"/>
                <a:ea typeface="Cambria" panose="02040503050406030204" pitchFamily="18" charset="0"/>
              </a:rPr>
              <a:t>sending a special HELLO packet </a:t>
            </a:r>
            <a:r>
              <a:rPr lang="en-US" sz="2400" dirty="0">
                <a:latin typeface="+mj-lt"/>
                <a:ea typeface="Cambria" panose="02040503050406030204" pitchFamily="18" charset="0"/>
              </a:rPr>
              <a:t>on each point-to-point line. The router on the other end is expected to send back a reply giving its name.</a:t>
            </a:r>
            <a:endParaRPr lang="en-IN" sz="2400" dirty="0">
              <a:latin typeface="+mj-lt"/>
              <a:ea typeface="Cambria" panose="02040503050406030204" pitchFamily="18" charset="0"/>
            </a:endParaRPr>
          </a:p>
        </p:txBody>
      </p:sp>
      <p:pic>
        <p:nvPicPr>
          <p:cNvPr id="4" name="Content Placeholder 3"/>
          <p:cNvPicPr>
            <a:picLocks noChangeAspect="1"/>
          </p:cNvPicPr>
          <p:nvPr/>
        </p:nvPicPr>
        <p:blipFill>
          <a:blip r:embed="rId2"/>
          <a:stretch>
            <a:fillRect/>
          </a:stretch>
        </p:blipFill>
        <p:spPr>
          <a:xfrm>
            <a:off x="3097979" y="3202363"/>
            <a:ext cx="7667897" cy="3034944"/>
          </a:xfrm>
          <a:prstGeom prst="rect">
            <a:avLst/>
          </a:prstGeom>
        </p:spPr>
      </p:pic>
    </p:spTree>
    <p:extLst>
      <p:ext uri="{BB962C8B-B14F-4D97-AF65-F5344CB8AC3E}">
        <p14:creationId xmlns:p14="http://schemas.microsoft.com/office/powerpoint/2010/main" val="286046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1296436" cy="1325563"/>
          </a:xfrm>
        </p:spPr>
        <p:txBody>
          <a:bodyPr/>
          <a:lstStyle/>
          <a:p>
            <a:r>
              <a:rPr lang="en-IN" b="1" dirty="0">
                <a:ea typeface="Cambria" panose="02040503050406030204" pitchFamily="18" charset="0"/>
              </a:rPr>
              <a:t>Setting Link Costs</a:t>
            </a:r>
            <a:endParaRPr lang="en-IN" dirty="0">
              <a:ea typeface="Cambria" panose="02040503050406030204" pitchFamily="18" charset="0"/>
            </a:endParaRPr>
          </a:p>
        </p:txBody>
      </p:sp>
      <p:sp>
        <p:nvSpPr>
          <p:cNvPr id="3" name="Content Placeholder 2"/>
          <p:cNvSpPr>
            <a:spLocks noGrp="1"/>
          </p:cNvSpPr>
          <p:nvPr>
            <p:ph idx="1"/>
          </p:nvPr>
        </p:nvSpPr>
        <p:spPr>
          <a:xfrm>
            <a:off x="677333" y="2160589"/>
            <a:ext cx="10554774" cy="3880773"/>
          </a:xfrm>
        </p:spPr>
        <p:txBody>
          <a:bodyPr>
            <a:normAutofit/>
          </a:bodyPr>
          <a:lstStyle/>
          <a:p>
            <a:r>
              <a:rPr lang="en-US" sz="2400" dirty="0">
                <a:latin typeface="+mj-lt"/>
                <a:ea typeface="Cambria" panose="02040503050406030204" pitchFamily="18" charset="0"/>
              </a:rPr>
              <a:t>The link state routing algorithm requires each </a:t>
            </a:r>
            <a:r>
              <a:rPr lang="en-US" sz="2400" u="sng" dirty="0">
                <a:latin typeface="+mj-lt"/>
                <a:ea typeface="Cambria" panose="02040503050406030204" pitchFamily="18" charset="0"/>
              </a:rPr>
              <a:t>link to have a distance or cost</a:t>
            </a:r>
            <a:r>
              <a:rPr lang="en-US" sz="2400" dirty="0">
                <a:latin typeface="+mj-lt"/>
                <a:ea typeface="Cambria" panose="02040503050406030204" pitchFamily="18" charset="0"/>
              </a:rPr>
              <a:t> metric for finding shortest paths. </a:t>
            </a:r>
          </a:p>
          <a:p>
            <a:r>
              <a:rPr lang="en-US" sz="2400" dirty="0">
                <a:latin typeface="+mj-lt"/>
                <a:ea typeface="Cambria" panose="02040503050406030204" pitchFamily="18" charset="0"/>
              </a:rPr>
              <a:t>The cost to reach neighbors can be set automatically, or </a:t>
            </a:r>
            <a:r>
              <a:rPr lang="en-US" sz="2400" u="sng" dirty="0">
                <a:latin typeface="+mj-lt"/>
                <a:ea typeface="Cambria" panose="02040503050406030204" pitchFamily="18" charset="0"/>
              </a:rPr>
              <a:t>configured by the network operator.</a:t>
            </a:r>
          </a:p>
          <a:p>
            <a:r>
              <a:rPr lang="en-US" sz="2400" dirty="0">
                <a:latin typeface="+mj-lt"/>
                <a:ea typeface="Cambria" panose="02040503050406030204" pitchFamily="18" charset="0"/>
              </a:rPr>
              <a:t> A common choice is to make the </a:t>
            </a:r>
            <a:r>
              <a:rPr lang="en-US" sz="2400" u="sng" dirty="0">
                <a:latin typeface="+mj-lt"/>
                <a:ea typeface="Cambria" panose="02040503050406030204" pitchFamily="18" charset="0"/>
              </a:rPr>
              <a:t>cost inversely proportional to the bandwidth</a:t>
            </a:r>
            <a:r>
              <a:rPr lang="en-US" sz="2400" dirty="0">
                <a:latin typeface="+mj-lt"/>
                <a:ea typeface="Cambria" panose="02040503050406030204" pitchFamily="18" charset="0"/>
              </a:rPr>
              <a:t> of the link.</a:t>
            </a:r>
          </a:p>
          <a:p>
            <a:r>
              <a:rPr lang="en-US" sz="2400" dirty="0">
                <a:latin typeface="+mj-lt"/>
                <a:ea typeface="Cambria" panose="02040503050406030204" pitchFamily="18" charset="0"/>
              </a:rPr>
              <a:t>If the network is geographically spread out, the </a:t>
            </a:r>
            <a:r>
              <a:rPr lang="en-US" sz="2400" u="sng" dirty="0">
                <a:latin typeface="+mj-lt"/>
                <a:ea typeface="Cambria" panose="02040503050406030204" pitchFamily="18" charset="0"/>
              </a:rPr>
              <a:t>delay of the links may be factored into the cost </a:t>
            </a:r>
            <a:r>
              <a:rPr lang="en-US" sz="2400" dirty="0">
                <a:latin typeface="+mj-lt"/>
                <a:ea typeface="Cambria" panose="02040503050406030204" pitchFamily="18" charset="0"/>
              </a:rPr>
              <a:t>so that paths over shorter links are better choices.</a:t>
            </a:r>
            <a:endParaRPr lang="en-IN" sz="3200" dirty="0">
              <a:latin typeface="+mj-lt"/>
              <a:ea typeface="Cambria" panose="02040503050406030204" pitchFamily="18" charset="0"/>
            </a:endParaRPr>
          </a:p>
        </p:txBody>
      </p:sp>
    </p:spTree>
    <p:extLst>
      <p:ext uri="{BB962C8B-B14F-4D97-AF65-F5344CB8AC3E}">
        <p14:creationId xmlns:p14="http://schemas.microsoft.com/office/powerpoint/2010/main" val="4466376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Building Link State Packets</a:t>
            </a:r>
            <a:endParaRPr lang="en-IN" dirty="0"/>
          </a:p>
        </p:txBody>
      </p:sp>
      <p:sp>
        <p:nvSpPr>
          <p:cNvPr id="3" name="Content Placeholder 2"/>
          <p:cNvSpPr>
            <a:spLocks noGrp="1"/>
          </p:cNvSpPr>
          <p:nvPr>
            <p:ph idx="1"/>
          </p:nvPr>
        </p:nvSpPr>
        <p:spPr>
          <a:xfrm>
            <a:off x="677333" y="1358537"/>
            <a:ext cx="10073397" cy="4682825"/>
          </a:xfrm>
        </p:spPr>
        <p:txBody>
          <a:bodyPr>
            <a:normAutofit/>
          </a:bodyPr>
          <a:lstStyle/>
          <a:p>
            <a:r>
              <a:rPr lang="en-US" sz="2400" dirty="0">
                <a:latin typeface="+mj-lt"/>
              </a:rPr>
              <a:t>Once the information needed for the exchange has been collected, the next step is for each router to </a:t>
            </a:r>
            <a:r>
              <a:rPr lang="en-US" sz="2400" u="sng" dirty="0">
                <a:latin typeface="+mj-lt"/>
              </a:rPr>
              <a:t>build a packet containing all the data. </a:t>
            </a:r>
          </a:p>
          <a:p>
            <a:r>
              <a:rPr lang="en-US" sz="2400" dirty="0">
                <a:latin typeface="+mj-lt"/>
              </a:rPr>
              <a:t>The packet starts with the </a:t>
            </a:r>
            <a:r>
              <a:rPr lang="en-US" sz="2400" u="sng" dirty="0">
                <a:latin typeface="+mj-lt"/>
              </a:rPr>
              <a:t>identity of the sender, followed by a sequence number and age and a list of neighbors</a:t>
            </a:r>
            <a:r>
              <a:rPr lang="en-US" sz="2400" dirty="0">
                <a:latin typeface="+mj-lt"/>
              </a:rPr>
              <a:t>. The cost to each neighbor is also given.</a:t>
            </a:r>
            <a:endParaRPr lang="en-IN" sz="2400" dirty="0">
              <a:latin typeface="+mj-lt"/>
            </a:endParaRPr>
          </a:p>
        </p:txBody>
      </p:sp>
      <p:pic>
        <p:nvPicPr>
          <p:cNvPr id="4" name="Picture 3"/>
          <p:cNvPicPr>
            <a:picLocks noChangeAspect="1"/>
          </p:cNvPicPr>
          <p:nvPr/>
        </p:nvPicPr>
        <p:blipFill>
          <a:blip r:embed="rId2"/>
          <a:stretch>
            <a:fillRect/>
          </a:stretch>
        </p:blipFill>
        <p:spPr>
          <a:xfrm>
            <a:off x="2801220" y="3755362"/>
            <a:ext cx="7649066" cy="3102638"/>
          </a:xfrm>
          <a:prstGeom prst="rect">
            <a:avLst/>
          </a:prstGeom>
        </p:spPr>
      </p:pic>
    </p:spTree>
    <p:extLst>
      <p:ext uri="{BB962C8B-B14F-4D97-AF65-F5344CB8AC3E}">
        <p14:creationId xmlns:p14="http://schemas.microsoft.com/office/powerpoint/2010/main" val="23370210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Distributing the Link State Packets</a:t>
            </a:r>
            <a:endParaRPr lang="en-IN" dirty="0"/>
          </a:p>
        </p:txBody>
      </p:sp>
      <p:sp>
        <p:nvSpPr>
          <p:cNvPr id="3" name="Content Placeholder 2"/>
          <p:cNvSpPr>
            <a:spLocks noGrp="1"/>
          </p:cNvSpPr>
          <p:nvPr>
            <p:ph idx="1"/>
          </p:nvPr>
        </p:nvSpPr>
        <p:spPr>
          <a:xfrm>
            <a:off x="677333" y="1528354"/>
            <a:ext cx="10021147" cy="5094515"/>
          </a:xfrm>
        </p:spPr>
        <p:txBody>
          <a:bodyPr>
            <a:normAutofit/>
          </a:bodyPr>
          <a:lstStyle/>
          <a:p>
            <a:r>
              <a:rPr lang="en-US" sz="2400" dirty="0"/>
              <a:t>The fundamental idea is to use flooding to </a:t>
            </a:r>
            <a:r>
              <a:rPr lang="en-US" sz="2400" u="sng" dirty="0"/>
              <a:t>distribute the link state packets to all routers.</a:t>
            </a:r>
            <a:r>
              <a:rPr lang="en-US" sz="2400" dirty="0"/>
              <a:t> </a:t>
            </a:r>
          </a:p>
          <a:p>
            <a:r>
              <a:rPr lang="en-US" sz="2400" dirty="0"/>
              <a:t>To keep the flood in check, each packet contains a sequence number that is </a:t>
            </a:r>
            <a:r>
              <a:rPr lang="en-US" sz="2400" u="sng" dirty="0"/>
              <a:t>incremented for each new packet sent.</a:t>
            </a:r>
          </a:p>
          <a:p>
            <a:r>
              <a:rPr lang="en-US" sz="2400" dirty="0"/>
              <a:t> Routers keep track of all the (source router, sequence) pairs they see. </a:t>
            </a:r>
          </a:p>
          <a:p>
            <a:r>
              <a:rPr lang="en-US" sz="2400" dirty="0"/>
              <a:t>When a new link state packet comes in, it is checked against the list of packets already seen. </a:t>
            </a:r>
          </a:p>
          <a:p>
            <a:pPr lvl="1"/>
            <a:r>
              <a:rPr lang="en-US" sz="2000" dirty="0"/>
              <a:t>If it is </a:t>
            </a:r>
            <a:r>
              <a:rPr lang="en-US" sz="2000" u="sng" dirty="0"/>
              <a:t>new, it is forwarded </a:t>
            </a:r>
            <a:r>
              <a:rPr lang="en-US" sz="2000" dirty="0"/>
              <a:t>on all lines except the one it arrived on.</a:t>
            </a:r>
          </a:p>
          <a:p>
            <a:pPr lvl="1"/>
            <a:r>
              <a:rPr lang="en-US" sz="2000" dirty="0"/>
              <a:t> If it is a </a:t>
            </a:r>
            <a:r>
              <a:rPr lang="en-US" sz="2000" u="sng" dirty="0"/>
              <a:t>duplicate, it is discarded</a:t>
            </a:r>
            <a:r>
              <a:rPr lang="en-US" sz="2000" dirty="0"/>
              <a:t>. </a:t>
            </a:r>
          </a:p>
          <a:p>
            <a:pPr lvl="1"/>
            <a:r>
              <a:rPr lang="en-US" sz="2000" dirty="0"/>
              <a:t>If a packet with a </a:t>
            </a:r>
            <a:r>
              <a:rPr lang="en-US" sz="2000" u="sng" dirty="0"/>
              <a:t>sequence number lower than the highest one </a:t>
            </a:r>
            <a:r>
              <a:rPr lang="en-US" sz="2000" dirty="0"/>
              <a:t>seen so far ever arrives, it is </a:t>
            </a:r>
            <a:r>
              <a:rPr lang="en-US" sz="2000" u="sng" dirty="0"/>
              <a:t>rejected as the router has more recent data.</a:t>
            </a:r>
            <a:endParaRPr lang="en-IN" sz="2000" u="sng" dirty="0"/>
          </a:p>
        </p:txBody>
      </p:sp>
    </p:spTree>
    <p:extLst>
      <p:ext uri="{BB962C8B-B14F-4D97-AF65-F5344CB8AC3E}">
        <p14:creationId xmlns:p14="http://schemas.microsoft.com/office/powerpoint/2010/main" val="32214089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a:xfrm>
            <a:off x="677333" y="2063931"/>
            <a:ext cx="10217089" cy="3977431"/>
          </a:xfrm>
        </p:spPr>
        <p:txBody>
          <a:bodyPr>
            <a:normAutofit/>
          </a:bodyPr>
          <a:lstStyle/>
          <a:p>
            <a:r>
              <a:rPr lang="en-US" sz="2400" u="sng" dirty="0">
                <a:latin typeface="+mj-lt"/>
              </a:rPr>
              <a:t>Include the age of each packet </a:t>
            </a:r>
            <a:r>
              <a:rPr lang="en-US" sz="2400" dirty="0">
                <a:latin typeface="+mj-lt"/>
              </a:rPr>
              <a:t>after the sequence number and </a:t>
            </a:r>
            <a:r>
              <a:rPr lang="en-US" sz="2400" u="sng" dirty="0">
                <a:latin typeface="+mj-lt"/>
              </a:rPr>
              <a:t>decrement it once per second. </a:t>
            </a:r>
          </a:p>
          <a:p>
            <a:r>
              <a:rPr lang="en-US" sz="2400" dirty="0">
                <a:latin typeface="+mj-lt"/>
              </a:rPr>
              <a:t>When the age hits zero, the information from that router is discarded. </a:t>
            </a:r>
          </a:p>
          <a:p>
            <a:r>
              <a:rPr lang="en-US" sz="2400" dirty="0">
                <a:latin typeface="+mj-lt"/>
              </a:rPr>
              <a:t>The </a:t>
            </a:r>
            <a:r>
              <a:rPr lang="en-US" sz="2400" i="1" dirty="0">
                <a:latin typeface="+mj-lt"/>
              </a:rPr>
              <a:t>Age </a:t>
            </a:r>
            <a:r>
              <a:rPr lang="en-US" sz="2400" dirty="0">
                <a:latin typeface="+mj-lt"/>
              </a:rPr>
              <a:t>field is also </a:t>
            </a:r>
            <a:r>
              <a:rPr lang="en-US" sz="2400" u="sng" dirty="0">
                <a:latin typeface="+mj-lt"/>
              </a:rPr>
              <a:t>decremented by each router during the initial flooding process, </a:t>
            </a:r>
            <a:r>
              <a:rPr lang="en-US" sz="2400" dirty="0">
                <a:latin typeface="+mj-lt"/>
              </a:rPr>
              <a:t>to make sure no packet can get lost and live for an indefinite period of time.</a:t>
            </a:r>
            <a:endParaRPr lang="en-IN" sz="3200" dirty="0">
              <a:latin typeface="+mj-lt"/>
            </a:endParaRPr>
          </a:p>
        </p:txBody>
      </p:sp>
    </p:spTree>
    <p:extLst>
      <p:ext uri="{BB962C8B-B14F-4D97-AF65-F5344CB8AC3E}">
        <p14:creationId xmlns:p14="http://schemas.microsoft.com/office/powerpoint/2010/main" val="32789762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Computing the New Routes</a:t>
            </a:r>
            <a:endParaRPr lang="en-IN" dirty="0"/>
          </a:p>
        </p:txBody>
      </p:sp>
      <p:sp>
        <p:nvSpPr>
          <p:cNvPr id="3" name="Content Placeholder 2"/>
          <p:cNvSpPr>
            <a:spLocks noGrp="1"/>
          </p:cNvSpPr>
          <p:nvPr>
            <p:ph idx="1"/>
          </p:nvPr>
        </p:nvSpPr>
        <p:spPr>
          <a:xfrm>
            <a:off x="677333" y="1930401"/>
            <a:ext cx="10034209" cy="4110962"/>
          </a:xfrm>
        </p:spPr>
        <p:txBody>
          <a:bodyPr>
            <a:normAutofit/>
          </a:bodyPr>
          <a:lstStyle/>
          <a:p>
            <a:r>
              <a:rPr lang="en-US" sz="2400" dirty="0">
                <a:latin typeface="+mj-lt"/>
              </a:rPr>
              <a:t>Once a router has accumulated a full set of link state packets, it can construct the entire network graph because every link is represented. </a:t>
            </a:r>
          </a:p>
          <a:p>
            <a:r>
              <a:rPr lang="en-US" sz="2400" dirty="0">
                <a:latin typeface="+mj-lt"/>
              </a:rPr>
              <a:t>Every link is, </a:t>
            </a:r>
            <a:r>
              <a:rPr lang="en-US" sz="2400" u="sng" dirty="0">
                <a:latin typeface="+mj-lt"/>
              </a:rPr>
              <a:t>represented twice, </a:t>
            </a:r>
            <a:r>
              <a:rPr lang="en-US" sz="2400" dirty="0">
                <a:latin typeface="+mj-lt"/>
              </a:rPr>
              <a:t>once for each direction. </a:t>
            </a:r>
          </a:p>
          <a:p>
            <a:r>
              <a:rPr lang="en-US" sz="2400" dirty="0" err="1">
                <a:latin typeface="+mj-lt"/>
              </a:rPr>
              <a:t>Dijkstra’s</a:t>
            </a:r>
            <a:r>
              <a:rPr lang="en-US" sz="2400" dirty="0">
                <a:latin typeface="+mj-lt"/>
              </a:rPr>
              <a:t> algorithm can be run locally to construct the shortest paths to </a:t>
            </a:r>
            <a:r>
              <a:rPr lang="en-IN" sz="2400" dirty="0">
                <a:latin typeface="+mj-lt"/>
              </a:rPr>
              <a:t>all possible destinations.</a:t>
            </a:r>
          </a:p>
          <a:p>
            <a:r>
              <a:rPr lang="en-US" sz="2400" b="1" dirty="0">
                <a:latin typeface="+mj-lt"/>
              </a:rPr>
              <a:t>OSPF </a:t>
            </a:r>
            <a:r>
              <a:rPr lang="en-US" sz="2400" dirty="0">
                <a:latin typeface="+mj-lt"/>
              </a:rPr>
              <a:t>(</a:t>
            </a:r>
            <a:r>
              <a:rPr lang="en-US" sz="2400" b="1" dirty="0">
                <a:latin typeface="+mj-lt"/>
              </a:rPr>
              <a:t>Open Shortest Path First</a:t>
            </a:r>
            <a:r>
              <a:rPr lang="en-US" sz="2400" dirty="0">
                <a:latin typeface="+mj-lt"/>
              </a:rPr>
              <a:t>) is the other main link state protocol.</a:t>
            </a:r>
            <a:endParaRPr lang="en-IN" sz="3200" dirty="0">
              <a:latin typeface="+mj-lt"/>
            </a:endParaRPr>
          </a:p>
        </p:txBody>
      </p:sp>
    </p:spTree>
    <p:extLst>
      <p:ext uri="{BB962C8B-B14F-4D97-AF65-F5344CB8AC3E}">
        <p14:creationId xmlns:p14="http://schemas.microsoft.com/office/powerpoint/2010/main" val="1937642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Hierarchical Routing </a:t>
            </a:r>
            <a:endParaRPr lang="en-IN" dirty="0"/>
          </a:p>
        </p:txBody>
      </p:sp>
      <p:sp>
        <p:nvSpPr>
          <p:cNvPr id="3" name="Content Placeholder 2"/>
          <p:cNvSpPr>
            <a:spLocks noGrp="1"/>
          </p:cNvSpPr>
          <p:nvPr>
            <p:ph idx="1"/>
          </p:nvPr>
        </p:nvSpPr>
        <p:spPr>
          <a:xfrm>
            <a:off x="838199" y="1825624"/>
            <a:ext cx="10974355" cy="4883085"/>
          </a:xfrm>
        </p:spPr>
        <p:txBody>
          <a:bodyPr>
            <a:normAutofit lnSpcReduction="10000"/>
          </a:bodyPr>
          <a:lstStyle/>
          <a:p>
            <a:r>
              <a:rPr lang="en-IN" dirty="0"/>
              <a:t>At a certain </a:t>
            </a:r>
            <a:r>
              <a:rPr lang="en-IN" dirty="0" err="1"/>
              <a:t>po</a:t>
            </a:r>
            <a:r>
              <a:rPr lang="en-US" dirty="0"/>
              <a:t>int, the network may grow to the point where it is </a:t>
            </a:r>
            <a:r>
              <a:rPr lang="en-US" u="sng" dirty="0"/>
              <a:t>no longer feasible for every  router to have an entry for every other router</a:t>
            </a:r>
            <a:r>
              <a:rPr lang="en-US" dirty="0"/>
              <a:t>, so the routing will have to be done hierarchically, as it is in the telephone network. </a:t>
            </a:r>
          </a:p>
          <a:p>
            <a:r>
              <a:rPr lang="en-US" dirty="0"/>
              <a:t>When hierarchical routing is used, the </a:t>
            </a:r>
            <a:r>
              <a:rPr lang="en-US" u="sng" dirty="0"/>
              <a:t>routers are divided into what we will </a:t>
            </a:r>
            <a:r>
              <a:rPr lang="en-IN" u="sng" dirty="0"/>
              <a:t>call regions</a:t>
            </a:r>
            <a:r>
              <a:rPr lang="en-IN" dirty="0"/>
              <a:t>. </a:t>
            </a:r>
          </a:p>
          <a:p>
            <a:r>
              <a:rPr lang="en-IN" dirty="0"/>
              <a:t>Each </a:t>
            </a:r>
            <a:r>
              <a:rPr lang="en-US" dirty="0"/>
              <a:t>router knows all the details about how to route packets to destinations within its own region but </a:t>
            </a:r>
            <a:r>
              <a:rPr lang="en-US" u="sng" dirty="0"/>
              <a:t>knows nothing about the internal structure of other regions</a:t>
            </a:r>
            <a:r>
              <a:rPr lang="en-US" dirty="0"/>
              <a:t>. </a:t>
            </a:r>
          </a:p>
          <a:p>
            <a:r>
              <a:rPr lang="en-US" dirty="0"/>
              <a:t>For huge networks, a two</a:t>
            </a:r>
            <a:r>
              <a:rPr lang="en-IN" dirty="0"/>
              <a:t> level hierarchy </a:t>
            </a:r>
            <a:r>
              <a:rPr lang="en-US" dirty="0"/>
              <a:t>may be insufficient; it may be necessary to group the </a:t>
            </a:r>
            <a:r>
              <a:rPr lang="en-US" u="sng" dirty="0">
                <a:solidFill>
                  <a:srgbClr val="FF0000"/>
                </a:solidFill>
              </a:rPr>
              <a:t>regions into clusters, the clusters into zones, the zones into groups</a:t>
            </a:r>
            <a:r>
              <a:rPr lang="en-US" dirty="0"/>
              <a:t>, and so on, </a:t>
            </a:r>
            <a:endParaRPr lang="en-IN" dirty="0"/>
          </a:p>
        </p:txBody>
      </p:sp>
    </p:spTree>
    <p:extLst>
      <p:ext uri="{BB962C8B-B14F-4D97-AF65-F5344CB8AC3E}">
        <p14:creationId xmlns:p14="http://schemas.microsoft.com/office/powerpoint/2010/main" val="27820744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2035" y="5705752"/>
            <a:ext cx="11728174" cy="1039606"/>
          </a:xfrm>
        </p:spPr>
        <p:txBody>
          <a:bodyPr>
            <a:normAutofit/>
          </a:bodyPr>
          <a:lstStyle/>
          <a:p>
            <a:r>
              <a:rPr lang="fr-FR" sz="1800" dirty="0"/>
              <a:t>Ex. </a:t>
            </a:r>
            <a:r>
              <a:rPr lang="fr-FR" sz="1800" dirty="0" err="1"/>
              <a:t>Consider</a:t>
            </a:r>
            <a:r>
              <a:rPr lang="fr-FR" sz="1800" dirty="0"/>
              <a:t> a 720 </a:t>
            </a:r>
            <a:r>
              <a:rPr lang="fr-FR" sz="1800" dirty="0" err="1"/>
              <a:t>routers</a:t>
            </a:r>
            <a:r>
              <a:rPr lang="fr-FR" sz="1800" dirty="0"/>
              <a:t> </a:t>
            </a:r>
            <a:r>
              <a:rPr lang="fr-FR" sz="1800" dirty="0" err="1"/>
              <a:t>subnet</a:t>
            </a:r>
            <a:r>
              <a:rPr lang="fr-FR" sz="1800" dirty="0"/>
              <a:t>.</a:t>
            </a:r>
            <a:br>
              <a:rPr lang="fr-FR" sz="1800" dirty="0"/>
            </a:br>
            <a:r>
              <a:rPr lang="en-US" sz="1800" dirty="0"/>
              <a:t>Without hierarchy each router required 720 entries. Total entries will be 720 x 720, with hierarchy, if the subnet is portioned into 24 regions and 30 routers/region, then each router needs 30+23 = 53 entries only.</a:t>
            </a:r>
            <a:endParaRPr lang="en-IN" sz="1800" dirty="0"/>
          </a:p>
        </p:txBody>
      </p:sp>
      <p:pic>
        <p:nvPicPr>
          <p:cNvPr id="4" name="Content Placeholder 3"/>
          <p:cNvPicPr>
            <a:picLocks noGrp="1" noChangeAspect="1"/>
          </p:cNvPicPr>
          <p:nvPr>
            <p:ph idx="1"/>
          </p:nvPr>
        </p:nvPicPr>
        <p:blipFill>
          <a:blip r:embed="rId2"/>
          <a:stretch>
            <a:fillRect/>
          </a:stretch>
        </p:blipFill>
        <p:spPr>
          <a:xfrm>
            <a:off x="212035" y="105183"/>
            <a:ext cx="11529391" cy="5689127"/>
          </a:xfrm>
          <a:prstGeom prst="rect">
            <a:avLst/>
          </a:prstGeom>
        </p:spPr>
      </p:pic>
    </p:spTree>
    <p:extLst>
      <p:ext uri="{BB962C8B-B14F-4D97-AF65-F5344CB8AC3E}">
        <p14:creationId xmlns:p14="http://schemas.microsoft.com/office/powerpoint/2010/main" val="38771728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11351"/>
            <a:ext cx="10515600" cy="1584927"/>
          </a:xfrm>
        </p:spPr>
        <p:txBody>
          <a:bodyPr>
            <a:normAutofit/>
          </a:bodyPr>
          <a:lstStyle/>
          <a:p>
            <a:r>
              <a:rPr lang="en-IN" sz="3600" b="1" dirty="0"/>
              <a:t>CONGESTION CONTROL ALGORITHMS-</a:t>
            </a:r>
            <a:r>
              <a:rPr lang="en-IN" b="1" dirty="0"/>
              <a:t>What is Congestion?</a:t>
            </a:r>
            <a:endParaRPr lang="en-IN" sz="3600" dirty="0"/>
          </a:p>
        </p:txBody>
      </p:sp>
      <p:sp>
        <p:nvSpPr>
          <p:cNvPr id="3" name="Content Placeholder 2"/>
          <p:cNvSpPr>
            <a:spLocks noGrp="1"/>
          </p:cNvSpPr>
          <p:nvPr>
            <p:ph idx="1"/>
          </p:nvPr>
        </p:nvSpPr>
        <p:spPr>
          <a:xfrm>
            <a:off x="291549" y="2398642"/>
            <a:ext cx="11476382" cy="3339549"/>
          </a:xfrm>
        </p:spPr>
        <p:txBody>
          <a:bodyPr>
            <a:noAutofit/>
          </a:bodyPr>
          <a:lstStyle/>
          <a:p>
            <a:r>
              <a:rPr lang="en-US" sz="2400" u="sng" dirty="0">
                <a:solidFill>
                  <a:srgbClr val="FF0000"/>
                </a:solidFill>
                <a:latin typeface="+mj-lt"/>
              </a:rPr>
              <a:t>Too many packets </a:t>
            </a:r>
            <a:r>
              <a:rPr lang="en-US" sz="2400" dirty="0">
                <a:latin typeface="+mj-lt"/>
              </a:rPr>
              <a:t>present in (a part of) the network </a:t>
            </a:r>
            <a:r>
              <a:rPr lang="en-US" sz="2400" u="sng" dirty="0">
                <a:solidFill>
                  <a:srgbClr val="FF0000"/>
                </a:solidFill>
                <a:latin typeface="+mj-lt"/>
              </a:rPr>
              <a:t>causes packet delay and loss</a:t>
            </a:r>
            <a:r>
              <a:rPr lang="en-US" sz="2400" dirty="0">
                <a:solidFill>
                  <a:srgbClr val="FF0000"/>
                </a:solidFill>
                <a:latin typeface="+mj-lt"/>
              </a:rPr>
              <a:t> </a:t>
            </a:r>
            <a:r>
              <a:rPr lang="en-US" sz="2400" dirty="0">
                <a:latin typeface="+mj-lt"/>
              </a:rPr>
              <a:t>that degrades performance. This situation is called </a:t>
            </a:r>
            <a:r>
              <a:rPr lang="en-US" sz="2400" b="1" dirty="0">
                <a:latin typeface="+mj-lt"/>
              </a:rPr>
              <a:t>congestion</a:t>
            </a:r>
            <a:r>
              <a:rPr lang="en-US" sz="2400" dirty="0">
                <a:latin typeface="+mj-lt"/>
              </a:rPr>
              <a:t>.</a:t>
            </a:r>
          </a:p>
          <a:p>
            <a:r>
              <a:rPr lang="en-US" sz="2400" dirty="0">
                <a:latin typeface="+mj-lt"/>
              </a:rPr>
              <a:t>The </a:t>
            </a:r>
            <a:r>
              <a:rPr lang="en-US" sz="2400" u="sng" dirty="0">
                <a:latin typeface="+mj-lt"/>
              </a:rPr>
              <a:t>network and transport layers </a:t>
            </a:r>
            <a:r>
              <a:rPr lang="en-US" sz="2400" dirty="0">
                <a:latin typeface="+mj-lt"/>
              </a:rPr>
              <a:t>share the responsibility for handling congestion. Since </a:t>
            </a:r>
            <a:r>
              <a:rPr lang="en-IN" sz="2400" dirty="0">
                <a:latin typeface="+mj-lt"/>
              </a:rPr>
              <a:t>congestion occurs wit</a:t>
            </a:r>
            <a:r>
              <a:rPr lang="en-US" sz="2400" dirty="0" err="1">
                <a:latin typeface="+mj-lt"/>
              </a:rPr>
              <a:t>hin</a:t>
            </a:r>
            <a:r>
              <a:rPr lang="en-US" sz="2400" dirty="0">
                <a:latin typeface="+mj-lt"/>
              </a:rPr>
              <a:t> the network, it is the network layer that directly experiences it and must ultimately determine what to do with the excess packets. </a:t>
            </a:r>
          </a:p>
          <a:p>
            <a:r>
              <a:rPr lang="en-US" sz="2400" dirty="0">
                <a:latin typeface="+mj-lt"/>
              </a:rPr>
              <a:t>However, the most effective way to control congestion is to reduce the load that the transport layer is placing on the </a:t>
            </a:r>
            <a:r>
              <a:rPr lang="en-IN" sz="2400" dirty="0">
                <a:latin typeface="+mj-lt"/>
              </a:rPr>
              <a:t>network. </a:t>
            </a:r>
          </a:p>
        </p:txBody>
      </p:sp>
    </p:spTree>
    <p:extLst>
      <p:ext uri="{BB962C8B-B14F-4D97-AF65-F5344CB8AC3E}">
        <p14:creationId xmlns:p14="http://schemas.microsoft.com/office/powerpoint/2010/main" val="13349661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752042" y="147815"/>
            <a:ext cx="7603992" cy="4498018"/>
          </a:xfrm>
          <a:prstGeom prst="rect">
            <a:avLst/>
          </a:prstGeom>
        </p:spPr>
      </p:pic>
      <p:sp>
        <p:nvSpPr>
          <p:cNvPr id="5" name="Content Placeholder 2"/>
          <p:cNvSpPr txBox="1">
            <a:spLocks/>
          </p:cNvSpPr>
          <p:nvPr/>
        </p:nvSpPr>
        <p:spPr>
          <a:xfrm>
            <a:off x="185532" y="4863143"/>
            <a:ext cx="11476382" cy="190831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When the </a:t>
            </a:r>
            <a:r>
              <a:rPr lang="en-US" sz="2000" u="sng" dirty="0"/>
              <a:t>number of packets hosts send into the network </a:t>
            </a:r>
            <a:r>
              <a:rPr lang="en-US" sz="2000" dirty="0"/>
              <a:t>is well within its carrying capacity, the </a:t>
            </a:r>
            <a:r>
              <a:rPr lang="en-US" sz="2000" u="sng" dirty="0"/>
              <a:t>number delivered is proportional to the number sent</a:t>
            </a:r>
            <a:r>
              <a:rPr lang="en-US" sz="2000" dirty="0"/>
              <a:t>. </a:t>
            </a:r>
          </a:p>
          <a:p>
            <a:r>
              <a:rPr lang="en-US" sz="2000" dirty="0"/>
              <a:t>If twice as many are sent, twice as many are delivered. However, as the offered load approaches the carrying capacity, bursts of traffic occasionally fill up the buffers inside routers and some packets are lost. These lost </a:t>
            </a:r>
            <a:r>
              <a:rPr lang="en-US" sz="2000" u="sng" dirty="0"/>
              <a:t>packets consume some of the capacity</a:t>
            </a:r>
            <a:r>
              <a:rPr lang="en-US" sz="2000" dirty="0"/>
              <a:t>, so the number of delivered packets falls below the ideal curve. The network is now congested.</a:t>
            </a:r>
            <a:endParaRPr lang="en-IN" sz="2000" dirty="0">
              <a:latin typeface="+mj-lt"/>
            </a:endParaRPr>
          </a:p>
        </p:txBody>
      </p:sp>
    </p:spTree>
    <p:extLst>
      <p:ext uri="{BB962C8B-B14F-4D97-AF65-F5344CB8AC3E}">
        <p14:creationId xmlns:p14="http://schemas.microsoft.com/office/powerpoint/2010/main" val="22351581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365125"/>
            <a:ext cx="10797210" cy="1325563"/>
          </a:xfrm>
        </p:spPr>
        <p:txBody>
          <a:bodyPr/>
          <a:lstStyle/>
          <a:p>
            <a:r>
              <a:rPr lang="en-US" b="1" dirty="0"/>
              <a:t>What factors will lead to congestion?</a:t>
            </a:r>
            <a:endParaRPr lang="en-IN" dirty="0"/>
          </a:p>
        </p:txBody>
      </p:sp>
      <p:sp>
        <p:nvSpPr>
          <p:cNvPr id="3" name="Content Placeholder 2"/>
          <p:cNvSpPr>
            <a:spLocks noGrp="1"/>
          </p:cNvSpPr>
          <p:nvPr>
            <p:ph idx="1"/>
          </p:nvPr>
        </p:nvSpPr>
        <p:spPr/>
        <p:txBody>
          <a:bodyPr>
            <a:normAutofit lnSpcReduction="10000"/>
          </a:bodyPr>
          <a:lstStyle/>
          <a:p>
            <a:pPr marL="0" indent="0">
              <a:buNone/>
            </a:pPr>
            <a:r>
              <a:rPr lang="en-US" dirty="0"/>
              <a:t>1. Three or </a:t>
            </a:r>
            <a:r>
              <a:rPr lang="en-US" dirty="0">
                <a:solidFill>
                  <a:schemeClr val="bg2"/>
                </a:solidFill>
              </a:rPr>
              <a:t>four input lines and only one output line</a:t>
            </a:r>
            <a:r>
              <a:rPr lang="en-US" dirty="0"/>
              <a:t>, queue will build up.</a:t>
            </a:r>
          </a:p>
          <a:p>
            <a:pPr lvl="1"/>
            <a:r>
              <a:rPr lang="en-US" dirty="0"/>
              <a:t>If there is </a:t>
            </a:r>
            <a:r>
              <a:rPr lang="en-US" u="sng" dirty="0"/>
              <a:t>insufficient memory </a:t>
            </a:r>
            <a:r>
              <a:rPr lang="en-US" dirty="0"/>
              <a:t>to hold all of them, packets will lost.</a:t>
            </a:r>
          </a:p>
          <a:p>
            <a:pPr lvl="1"/>
            <a:r>
              <a:rPr lang="en-US" u="sng" dirty="0"/>
              <a:t>Adding infinite memory congestion gets worse</a:t>
            </a:r>
            <a:r>
              <a:rPr lang="en-US" dirty="0"/>
              <a:t>, because by the time packets get into the front of the queue, the time out and duplicates have been sent.</a:t>
            </a:r>
          </a:p>
          <a:p>
            <a:pPr marL="0" indent="0">
              <a:buNone/>
            </a:pPr>
            <a:r>
              <a:rPr lang="en-IN" dirty="0"/>
              <a:t>2. </a:t>
            </a:r>
            <a:r>
              <a:rPr lang="en-IN" dirty="0">
                <a:solidFill>
                  <a:schemeClr val="bg2"/>
                </a:solidFill>
              </a:rPr>
              <a:t>Slow processors </a:t>
            </a:r>
            <a:r>
              <a:rPr lang="en-IN" dirty="0"/>
              <a:t>(routers) can cause congestion.</a:t>
            </a:r>
          </a:p>
          <a:p>
            <a:pPr lvl="1"/>
            <a:r>
              <a:rPr lang="en-US" dirty="0"/>
              <a:t>A </a:t>
            </a:r>
            <a:r>
              <a:rPr lang="en-US" u="sng" dirty="0"/>
              <a:t>slow processor perform tasks very slow</a:t>
            </a:r>
            <a:r>
              <a:rPr lang="en-US" dirty="0"/>
              <a:t>, queues will build up.</a:t>
            </a:r>
          </a:p>
          <a:p>
            <a:pPr marL="0" indent="0">
              <a:buNone/>
            </a:pPr>
            <a:r>
              <a:rPr lang="en-US" dirty="0"/>
              <a:t>3. </a:t>
            </a:r>
            <a:r>
              <a:rPr lang="en-US" dirty="0">
                <a:solidFill>
                  <a:schemeClr val="bg2"/>
                </a:solidFill>
              </a:rPr>
              <a:t>Low band-width lines </a:t>
            </a:r>
            <a:r>
              <a:rPr lang="en-US" dirty="0"/>
              <a:t>also cause congestion</a:t>
            </a:r>
          </a:p>
          <a:p>
            <a:pPr lvl="1"/>
            <a:r>
              <a:rPr lang="en-US" u="sng" dirty="0"/>
              <a:t>Upgrading lines but not changing the processor </a:t>
            </a:r>
            <a:r>
              <a:rPr lang="en-US" dirty="0"/>
              <a:t>and vice-versa shifts the bottleneck.</a:t>
            </a:r>
            <a:endParaRPr lang="en-IN" dirty="0"/>
          </a:p>
        </p:txBody>
      </p:sp>
    </p:spTree>
    <p:extLst>
      <p:ext uri="{BB962C8B-B14F-4D97-AF65-F5344CB8AC3E}">
        <p14:creationId xmlns:p14="http://schemas.microsoft.com/office/powerpoint/2010/main" val="19680043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838200" y="1825625"/>
            <a:ext cx="10515600" cy="4641436"/>
          </a:xfrm>
        </p:spPr>
        <p:txBody>
          <a:bodyPr>
            <a:normAutofit/>
          </a:bodyPr>
          <a:lstStyle/>
          <a:p>
            <a:pPr marL="0" indent="0">
              <a:buNone/>
            </a:pPr>
            <a:r>
              <a:rPr lang="en-US" dirty="0">
                <a:solidFill>
                  <a:srgbClr val="FF0000"/>
                </a:solidFill>
                <a:latin typeface="+mj-lt"/>
              </a:rPr>
              <a:t>In flow control</a:t>
            </a:r>
            <a:r>
              <a:rPr lang="en-US" dirty="0">
                <a:solidFill>
                  <a:srgbClr val="273239"/>
                </a:solidFill>
                <a:latin typeface="+mj-lt"/>
              </a:rPr>
              <a:t>, </a:t>
            </a:r>
            <a:r>
              <a:rPr lang="en-US" u="sng" dirty="0">
                <a:latin typeface="+mj-lt"/>
              </a:rPr>
              <a:t>rate of traffic received from a sender </a:t>
            </a:r>
            <a:r>
              <a:rPr lang="en-US" dirty="0">
                <a:latin typeface="+mj-lt"/>
              </a:rPr>
              <a:t>can be </a:t>
            </a:r>
            <a:r>
              <a:rPr lang="en-US" u="sng" dirty="0">
                <a:latin typeface="+mj-lt"/>
              </a:rPr>
              <a:t>controlled </a:t>
            </a:r>
            <a:r>
              <a:rPr lang="en-US" dirty="0">
                <a:latin typeface="+mj-lt"/>
              </a:rPr>
              <a:t>by a receiver. </a:t>
            </a:r>
          </a:p>
          <a:p>
            <a:pPr fontAlgn="base">
              <a:buFont typeface="Arial" panose="020B0604020202020204" pitchFamily="34" charset="0"/>
              <a:buChar char="•"/>
            </a:pPr>
            <a:r>
              <a:rPr lang="en-US" b="1" dirty="0">
                <a:latin typeface="+mj-lt"/>
              </a:rPr>
              <a:t>Prevents buffer overflow</a:t>
            </a:r>
            <a:r>
              <a:rPr lang="en-US" dirty="0">
                <a:latin typeface="+mj-lt"/>
              </a:rPr>
              <a:t>: by </a:t>
            </a:r>
            <a:r>
              <a:rPr lang="en-US" u="sng" dirty="0">
                <a:latin typeface="+mj-lt"/>
              </a:rPr>
              <a:t>regulating the rate at which data is sent from the sender to the receiver.</a:t>
            </a:r>
          </a:p>
          <a:p>
            <a:pPr fontAlgn="base">
              <a:buFont typeface="Arial" panose="020B0604020202020204" pitchFamily="34" charset="0"/>
              <a:buChar char="•"/>
            </a:pPr>
            <a:r>
              <a:rPr lang="en-US" b="1" dirty="0">
                <a:latin typeface="+mj-lt"/>
              </a:rPr>
              <a:t>Helps in handling different data rates</a:t>
            </a:r>
            <a:r>
              <a:rPr lang="en-US" dirty="0">
                <a:latin typeface="+mj-lt"/>
              </a:rPr>
              <a:t>: by regulating the </a:t>
            </a:r>
            <a:r>
              <a:rPr lang="en-US" u="sng" dirty="0">
                <a:latin typeface="+mj-lt"/>
              </a:rPr>
              <a:t>flow of data to match the capacity of the receiving device.</a:t>
            </a:r>
          </a:p>
          <a:p>
            <a:pPr fontAlgn="base">
              <a:buFont typeface="Arial" panose="020B0604020202020204" pitchFamily="34" charset="0"/>
              <a:buChar char="•"/>
            </a:pPr>
            <a:r>
              <a:rPr lang="en-US" b="1" dirty="0">
                <a:latin typeface="+mj-lt"/>
              </a:rPr>
              <a:t>Efficient use of network resources</a:t>
            </a:r>
            <a:r>
              <a:rPr lang="en-US" dirty="0">
                <a:latin typeface="+mj-lt"/>
              </a:rPr>
              <a:t>: by </a:t>
            </a:r>
            <a:r>
              <a:rPr lang="en-US" u="sng" dirty="0">
                <a:latin typeface="+mj-lt"/>
              </a:rPr>
              <a:t>avoiding packet loss and reducing the need for retransmissions.</a:t>
            </a:r>
          </a:p>
          <a:p>
            <a:endParaRPr lang="en-IN" dirty="0">
              <a:latin typeface="+mj-lt"/>
            </a:endParaRPr>
          </a:p>
        </p:txBody>
      </p:sp>
    </p:spTree>
    <p:extLst>
      <p:ext uri="{BB962C8B-B14F-4D97-AF65-F5344CB8AC3E}">
        <p14:creationId xmlns:p14="http://schemas.microsoft.com/office/powerpoint/2010/main" val="20586013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4" name="Content Placeholder 2">
            <a:extLst>
              <a:ext uri="{FF2B5EF4-FFF2-40B4-BE49-F238E27FC236}">
                <a16:creationId xmlns:a16="http://schemas.microsoft.com/office/drawing/2014/main" id="{F4D550E4-8F6C-DDDE-CED6-142F4A0C7515}"/>
              </a:ext>
            </a:extLst>
          </p:cNvPr>
          <p:cNvSpPr>
            <a:spLocks noGrp="1"/>
          </p:cNvSpPr>
          <p:nvPr>
            <p:ph idx="1"/>
          </p:nvPr>
        </p:nvSpPr>
        <p:spPr/>
        <p:txBody>
          <a:bodyPr>
            <a:normAutofit/>
          </a:bodyPr>
          <a:lstStyle/>
          <a:p>
            <a:pPr marL="0" indent="0">
              <a:buNone/>
            </a:pPr>
            <a:r>
              <a:rPr lang="en-US" b="0" i="0" dirty="0">
                <a:effectLst/>
                <a:latin typeface="+mj-lt"/>
              </a:rPr>
              <a:t>On the other hand, In </a:t>
            </a:r>
            <a:r>
              <a:rPr lang="en-US" b="0" i="0" dirty="0">
                <a:solidFill>
                  <a:srgbClr val="FF0000"/>
                </a:solidFill>
                <a:effectLst/>
                <a:latin typeface="+mj-lt"/>
              </a:rPr>
              <a:t>congestion control</a:t>
            </a:r>
            <a:r>
              <a:rPr lang="en-US" b="0" i="0" dirty="0">
                <a:solidFill>
                  <a:srgbClr val="273239"/>
                </a:solidFill>
                <a:effectLst/>
                <a:latin typeface="+mj-lt"/>
              </a:rPr>
              <a:t>, </a:t>
            </a:r>
            <a:r>
              <a:rPr lang="en-US" b="0" i="0" u="sng" dirty="0">
                <a:effectLst/>
                <a:latin typeface="+mj-lt"/>
              </a:rPr>
              <a:t>rate of traffic from sender to the network </a:t>
            </a:r>
            <a:r>
              <a:rPr lang="en-US" b="0" i="0" dirty="0">
                <a:effectLst/>
                <a:latin typeface="+mj-lt"/>
              </a:rPr>
              <a:t>is controlled. </a:t>
            </a:r>
            <a:endParaRPr lang="en-IN" dirty="0">
              <a:latin typeface="+mj-lt"/>
            </a:endParaRPr>
          </a:p>
          <a:p>
            <a:pPr algn="l" fontAlgn="base">
              <a:buFont typeface="Arial" panose="020B0604020202020204" pitchFamily="34" charset="0"/>
              <a:buChar char="•"/>
            </a:pPr>
            <a:r>
              <a:rPr lang="en-US" b="1" i="0" dirty="0">
                <a:effectLst/>
                <a:latin typeface="+mj-lt"/>
              </a:rPr>
              <a:t>Prevents network congestion</a:t>
            </a:r>
            <a:r>
              <a:rPr lang="en-US" b="0" i="0" dirty="0">
                <a:effectLst/>
                <a:latin typeface="+mj-lt"/>
              </a:rPr>
              <a:t>: by regulating the </a:t>
            </a:r>
            <a:r>
              <a:rPr lang="en-US" b="0" i="0" u="sng" dirty="0">
                <a:effectLst/>
                <a:latin typeface="+mj-lt"/>
              </a:rPr>
              <a:t>rate at which data is sent from the sender to the receiver.</a:t>
            </a:r>
          </a:p>
          <a:p>
            <a:pPr algn="l" fontAlgn="base">
              <a:buFont typeface="Arial" panose="020B0604020202020204" pitchFamily="34" charset="0"/>
              <a:buChar char="•"/>
            </a:pPr>
            <a:r>
              <a:rPr lang="en-US" b="1" i="0" dirty="0">
                <a:effectLst/>
                <a:latin typeface="+mj-lt"/>
              </a:rPr>
              <a:t>Efficient use of network resources</a:t>
            </a:r>
            <a:r>
              <a:rPr lang="en-US" b="0" i="0" dirty="0">
                <a:effectLst/>
                <a:latin typeface="+mj-lt"/>
              </a:rPr>
              <a:t>: by reducing the </a:t>
            </a:r>
            <a:r>
              <a:rPr lang="en-US" b="0" i="0" u="sng" dirty="0">
                <a:effectLst/>
                <a:latin typeface="+mj-lt"/>
              </a:rPr>
              <a:t>number of lost packets and retransmissions.</a:t>
            </a:r>
          </a:p>
          <a:p>
            <a:pPr algn="l" fontAlgn="base">
              <a:buFont typeface="Arial" panose="020B0604020202020204" pitchFamily="34" charset="0"/>
              <a:buChar char="•"/>
            </a:pPr>
            <a:r>
              <a:rPr lang="en-US" b="1" i="0" dirty="0">
                <a:effectLst/>
                <a:latin typeface="+mj-lt"/>
              </a:rPr>
              <a:t>Fair allocation of network resources</a:t>
            </a:r>
            <a:r>
              <a:rPr lang="en-US" b="0" i="0" dirty="0">
                <a:effectLst/>
                <a:latin typeface="+mj-lt"/>
              </a:rPr>
              <a:t>: by </a:t>
            </a:r>
            <a:r>
              <a:rPr lang="en-US" b="0" i="0" u="sng" dirty="0">
                <a:effectLst/>
                <a:latin typeface="+mj-lt"/>
              </a:rPr>
              <a:t>regulating the rate of data flow for all sources.</a:t>
            </a:r>
          </a:p>
          <a:p>
            <a:pPr marL="0" indent="0">
              <a:buNone/>
            </a:pPr>
            <a:endParaRPr lang="en-IN" dirty="0">
              <a:latin typeface="+mj-lt"/>
            </a:endParaRPr>
          </a:p>
        </p:txBody>
      </p:sp>
    </p:spTree>
    <p:extLst>
      <p:ext uri="{BB962C8B-B14F-4D97-AF65-F5344CB8AC3E}">
        <p14:creationId xmlns:p14="http://schemas.microsoft.com/office/powerpoint/2010/main" val="1368654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ea typeface="Cambria" panose="02040503050406030204" pitchFamily="18" charset="0"/>
              </a:rPr>
              <a:t>General principle of congestion control</a:t>
            </a:r>
          </a:p>
        </p:txBody>
      </p:sp>
      <p:sp>
        <p:nvSpPr>
          <p:cNvPr id="3" name="Content Placeholder 2"/>
          <p:cNvSpPr>
            <a:spLocks noGrp="1"/>
          </p:cNvSpPr>
          <p:nvPr>
            <p:ph idx="1"/>
          </p:nvPr>
        </p:nvSpPr>
        <p:spPr/>
        <p:txBody>
          <a:bodyPr/>
          <a:lstStyle/>
          <a:p>
            <a:r>
              <a:rPr lang="en-IN" b="1" dirty="0">
                <a:latin typeface="+mj-lt"/>
                <a:ea typeface="Cambria" panose="02040503050406030204" pitchFamily="18" charset="0"/>
              </a:rPr>
              <a:t>Open loop </a:t>
            </a:r>
            <a:r>
              <a:rPr lang="en-US" b="1" i="0" dirty="0">
                <a:effectLst/>
                <a:latin typeface="+mj-lt"/>
                <a:ea typeface="Cambria" panose="02040503050406030204" pitchFamily="18" charset="0"/>
              </a:rPr>
              <a:t>Congestion Control</a:t>
            </a:r>
          </a:p>
          <a:p>
            <a:r>
              <a:rPr lang="en-US" b="0" i="0" dirty="0">
                <a:effectLst/>
                <a:latin typeface="+mj-lt"/>
                <a:ea typeface="Cambria" panose="02040503050406030204" pitchFamily="18" charset="0"/>
              </a:rPr>
              <a:t>Open loop congestion control policies are applied to </a:t>
            </a:r>
            <a:r>
              <a:rPr lang="en-US" b="0" i="0" u="sng" dirty="0">
                <a:effectLst/>
                <a:latin typeface="+mj-lt"/>
                <a:ea typeface="Cambria" panose="02040503050406030204" pitchFamily="18" charset="0"/>
              </a:rPr>
              <a:t>prevent congestion before it happens. </a:t>
            </a:r>
            <a:r>
              <a:rPr lang="en-US" b="0" i="0" dirty="0">
                <a:effectLst/>
                <a:latin typeface="+mj-lt"/>
                <a:ea typeface="Cambria" panose="02040503050406030204" pitchFamily="18" charset="0"/>
              </a:rPr>
              <a:t>The congestion control is handled either by the source or the destination.</a:t>
            </a:r>
          </a:p>
          <a:p>
            <a:pPr marL="0" indent="0">
              <a:buNone/>
            </a:pPr>
            <a:endParaRPr lang="en-US" dirty="0">
              <a:latin typeface="+mj-lt"/>
              <a:ea typeface="Cambria" panose="02040503050406030204" pitchFamily="18" charset="0"/>
            </a:endParaRPr>
          </a:p>
          <a:p>
            <a:pPr fontAlgn="base"/>
            <a:r>
              <a:rPr lang="en-US" b="1" i="0" dirty="0">
                <a:effectLst/>
                <a:latin typeface="+mj-lt"/>
                <a:ea typeface="Cambria" panose="02040503050406030204" pitchFamily="18" charset="0"/>
              </a:rPr>
              <a:t>Closed Loop Congestion Control</a:t>
            </a:r>
          </a:p>
          <a:p>
            <a:pPr fontAlgn="base"/>
            <a:r>
              <a:rPr lang="en-US" b="0" i="0" dirty="0">
                <a:effectLst/>
                <a:latin typeface="+mj-lt"/>
                <a:ea typeface="Cambria" panose="02040503050406030204" pitchFamily="18" charset="0"/>
              </a:rPr>
              <a:t>Closed loop congestion control techniques are used to</a:t>
            </a:r>
            <a:r>
              <a:rPr lang="en-US" b="0" i="0" u="sng" dirty="0">
                <a:effectLst/>
                <a:latin typeface="+mj-lt"/>
                <a:ea typeface="Cambria" panose="02040503050406030204" pitchFamily="18" charset="0"/>
              </a:rPr>
              <a:t> treat or alleviate congestion after it happens. </a:t>
            </a:r>
          </a:p>
          <a:p>
            <a:endParaRPr lang="en-IN" dirty="0">
              <a:latin typeface="+mj-lt"/>
            </a:endParaRPr>
          </a:p>
        </p:txBody>
      </p:sp>
    </p:spTree>
    <p:extLst>
      <p:ext uri="{BB962C8B-B14F-4D97-AF65-F5344CB8AC3E}">
        <p14:creationId xmlns:p14="http://schemas.microsoft.com/office/powerpoint/2010/main" val="428577318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a:t>Congestion Prevention Policies</a:t>
            </a:r>
            <a:br>
              <a:rPr lang="en-US" sz="3200" b="1" dirty="0">
                <a:solidFill>
                  <a:srgbClr val="273239"/>
                </a:solidFill>
                <a:ea typeface="Cambria" panose="02040503050406030204" pitchFamily="18" charset="0"/>
              </a:rPr>
            </a:br>
            <a:r>
              <a:rPr lang="en-US" sz="3600" b="1" dirty="0"/>
              <a:t>open loop congestion control</a:t>
            </a:r>
            <a:endParaRPr lang="en-IN" sz="3200" b="1" dirty="0">
              <a:ea typeface="Cambria" panose="02040503050406030204" pitchFamily="18" charset="0"/>
            </a:endParaRPr>
          </a:p>
        </p:txBody>
      </p:sp>
      <p:sp>
        <p:nvSpPr>
          <p:cNvPr id="3" name="Content Placeholder 2"/>
          <p:cNvSpPr>
            <a:spLocks noGrp="1"/>
          </p:cNvSpPr>
          <p:nvPr>
            <p:ph idx="1"/>
          </p:nvPr>
        </p:nvSpPr>
        <p:spPr/>
        <p:txBody>
          <a:bodyPr/>
          <a:lstStyle/>
          <a:p>
            <a:pPr marL="514350" indent="-514350">
              <a:buFont typeface="+mj-lt"/>
              <a:buAutoNum type="arabicPeriod"/>
            </a:pPr>
            <a:r>
              <a:rPr lang="en-US" b="1" i="0" dirty="0">
                <a:effectLst/>
                <a:latin typeface="+mj-lt"/>
                <a:ea typeface="Cambria" panose="02040503050406030204" pitchFamily="18" charset="0"/>
              </a:rPr>
              <a:t>Retransmission Policy :</a:t>
            </a:r>
            <a:r>
              <a:rPr lang="en-US" b="0" i="0" dirty="0">
                <a:effectLst/>
                <a:latin typeface="+mj-lt"/>
                <a:ea typeface="Cambria" panose="02040503050406030204" pitchFamily="18" charset="0"/>
              </a:rPr>
              <a:t> </a:t>
            </a:r>
            <a:endParaRPr lang="en-US" dirty="0">
              <a:latin typeface="+mj-lt"/>
              <a:ea typeface="Cambria" panose="02040503050406030204" pitchFamily="18" charset="0"/>
            </a:endParaRPr>
          </a:p>
          <a:p>
            <a:r>
              <a:rPr lang="en-US" b="0" i="0" dirty="0">
                <a:effectLst/>
                <a:latin typeface="+mj-lt"/>
                <a:ea typeface="Cambria" panose="02040503050406030204" pitchFamily="18" charset="0"/>
              </a:rPr>
              <a:t>It is the policy in which </a:t>
            </a:r>
            <a:r>
              <a:rPr lang="en-US" b="0" i="0" u="sng" dirty="0">
                <a:effectLst/>
                <a:latin typeface="+mj-lt"/>
                <a:ea typeface="Cambria" panose="02040503050406030204" pitchFamily="18" charset="0"/>
              </a:rPr>
              <a:t>retransmission of the packets are taken care of. </a:t>
            </a:r>
            <a:endParaRPr lang="en-US" u="sng" dirty="0">
              <a:latin typeface="+mj-lt"/>
              <a:ea typeface="Cambria" panose="02040503050406030204" pitchFamily="18" charset="0"/>
            </a:endParaRPr>
          </a:p>
          <a:p>
            <a:r>
              <a:rPr lang="en-US" b="0" i="0" dirty="0">
                <a:effectLst/>
                <a:latin typeface="+mj-lt"/>
                <a:ea typeface="Cambria" panose="02040503050406030204" pitchFamily="18" charset="0"/>
              </a:rPr>
              <a:t>If the sender feels that a sent packet is lost or corrupted, the packet needs to be retransmitted. This transmission may increase the congestion in the network. </a:t>
            </a:r>
          </a:p>
          <a:p>
            <a:r>
              <a:rPr lang="en-US" u="sng" dirty="0">
                <a:solidFill>
                  <a:schemeClr val="bg2"/>
                </a:solidFill>
                <a:latin typeface="+mj-lt"/>
                <a:ea typeface="Cambria" panose="02040503050406030204" pitchFamily="18" charset="0"/>
              </a:rPr>
              <a:t>R</a:t>
            </a:r>
            <a:r>
              <a:rPr lang="en-US" b="0" i="0" u="sng" dirty="0">
                <a:solidFill>
                  <a:schemeClr val="bg2"/>
                </a:solidFill>
                <a:effectLst/>
                <a:latin typeface="+mj-lt"/>
                <a:ea typeface="Cambria" panose="02040503050406030204" pitchFamily="18" charset="0"/>
              </a:rPr>
              <a:t>etransmission timers </a:t>
            </a:r>
            <a:r>
              <a:rPr lang="en-US" b="0" i="0" u="sng" dirty="0">
                <a:effectLst/>
                <a:latin typeface="+mj-lt"/>
                <a:ea typeface="Cambria" panose="02040503050406030204" pitchFamily="18" charset="0"/>
              </a:rPr>
              <a:t>must be designed to prevent congestion and also able to optimize efficiency. </a:t>
            </a:r>
            <a:endParaRPr lang="en-IN" u="sng" dirty="0">
              <a:latin typeface="+mj-lt"/>
              <a:ea typeface="Cambria" panose="02040503050406030204" pitchFamily="18" charset="0"/>
            </a:endParaRPr>
          </a:p>
          <a:p>
            <a:endParaRPr lang="en-IN" dirty="0">
              <a:latin typeface="+mj-lt"/>
              <a:ea typeface="Cambria" panose="02040503050406030204" pitchFamily="18" charset="0"/>
            </a:endParaRPr>
          </a:p>
        </p:txBody>
      </p:sp>
    </p:spTree>
    <p:extLst>
      <p:ext uri="{BB962C8B-B14F-4D97-AF65-F5344CB8AC3E}">
        <p14:creationId xmlns:p14="http://schemas.microsoft.com/office/powerpoint/2010/main" val="91450497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58281"/>
          </a:xfrm>
        </p:spPr>
        <p:txBody>
          <a:bodyPr/>
          <a:lstStyle/>
          <a:p>
            <a:endParaRPr lang="en-IN" dirty="0"/>
          </a:p>
        </p:txBody>
      </p:sp>
      <p:sp>
        <p:nvSpPr>
          <p:cNvPr id="3" name="Content Placeholder 2"/>
          <p:cNvSpPr>
            <a:spLocks noGrp="1"/>
          </p:cNvSpPr>
          <p:nvPr>
            <p:ph idx="1"/>
          </p:nvPr>
        </p:nvSpPr>
        <p:spPr>
          <a:xfrm>
            <a:off x="291548" y="1541417"/>
            <a:ext cx="11062252" cy="4963886"/>
          </a:xfrm>
        </p:spPr>
        <p:txBody>
          <a:bodyPr>
            <a:normAutofit fontScale="92500" lnSpcReduction="10000"/>
          </a:bodyPr>
          <a:lstStyle/>
          <a:p>
            <a:pPr marL="0" indent="0">
              <a:buNone/>
            </a:pPr>
            <a:r>
              <a:rPr lang="en-US" b="1" i="0" dirty="0">
                <a:effectLst/>
                <a:latin typeface="+mj-lt"/>
                <a:ea typeface="Cambria" panose="02040503050406030204" pitchFamily="18" charset="0"/>
              </a:rPr>
              <a:t>2. Window Policy :</a:t>
            </a:r>
            <a:r>
              <a:rPr lang="en-US" b="0" i="0" dirty="0">
                <a:effectLst/>
                <a:latin typeface="+mj-lt"/>
                <a:ea typeface="Cambria" panose="02040503050406030204" pitchFamily="18" charset="0"/>
              </a:rPr>
              <a:t> </a:t>
            </a:r>
            <a:endParaRPr lang="en-US" dirty="0">
              <a:latin typeface="+mj-lt"/>
              <a:ea typeface="Cambria" panose="02040503050406030204" pitchFamily="18" charset="0"/>
            </a:endParaRPr>
          </a:p>
          <a:p>
            <a:r>
              <a:rPr lang="en-US" b="0" i="0" dirty="0">
                <a:effectLst/>
                <a:latin typeface="+mj-lt"/>
                <a:ea typeface="Cambria" panose="02040503050406030204" pitchFamily="18" charset="0"/>
              </a:rPr>
              <a:t>The type of window at the sender’s side may also affect the congestion.</a:t>
            </a:r>
          </a:p>
          <a:p>
            <a:r>
              <a:rPr lang="en-US" b="0" i="0" dirty="0">
                <a:effectLst/>
                <a:latin typeface="+mj-lt"/>
                <a:ea typeface="Cambria" panose="02040503050406030204" pitchFamily="18" charset="0"/>
              </a:rPr>
              <a:t>Several packets in the </a:t>
            </a:r>
            <a:r>
              <a:rPr lang="en-US" b="0" i="0" u="sng" dirty="0">
                <a:effectLst/>
                <a:latin typeface="+mj-lt"/>
                <a:ea typeface="Cambria" panose="02040503050406030204" pitchFamily="18" charset="0"/>
              </a:rPr>
              <a:t>Go-back-N window </a:t>
            </a:r>
            <a:r>
              <a:rPr lang="en-US" b="0" i="0" dirty="0">
                <a:effectLst/>
                <a:latin typeface="+mj-lt"/>
                <a:ea typeface="Cambria" panose="02040503050406030204" pitchFamily="18" charset="0"/>
              </a:rPr>
              <a:t>are re-sent, although some packets may be received successfully at the receiver side. This duplication may increase the congestion in the network and make it worse. </a:t>
            </a:r>
          </a:p>
          <a:p>
            <a:r>
              <a:rPr lang="en-US" b="0" i="0" dirty="0">
                <a:effectLst/>
                <a:latin typeface="+mj-lt"/>
                <a:ea typeface="Cambria" panose="02040503050406030204" pitchFamily="18" charset="0"/>
              </a:rPr>
              <a:t>Therefore, </a:t>
            </a:r>
            <a:r>
              <a:rPr lang="en-US" b="0" i="0" u="sng" dirty="0">
                <a:solidFill>
                  <a:srgbClr val="FF0000"/>
                </a:solidFill>
                <a:effectLst/>
                <a:latin typeface="+mj-lt"/>
                <a:ea typeface="Cambria" panose="02040503050406030204" pitchFamily="18" charset="0"/>
              </a:rPr>
              <a:t>Selective repeat window </a:t>
            </a:r>
            <a:r>
              <a:rPr lang="en-US" b="0" i="0" u="sng" dirty="0">
                <a:effectLst/>
                <a:latin typeface="+mj-lt"/>
                <a:ea typeface="Cambria" panose="02040503050406030204" pitchFamily="18" charset="0"/>
              </a:rPr>
              <a:t>should be adopted as it sends the specific packet that may have been lost</a:t>
            </a:r>
          </a:p>
          <a:p>
            <a:pPr marL="0" indent="0">
              <a:buNone/>
            </a:pPr>
            <a:endParaRPr lang="en-US" b="1" i="0" dirty="0">
              <a:effectLst/>
              <a:latin typeface="+mj-lt"/>
              <a:ea typeface="Cambria" panose="02040503050406030204" pitchFamily="18" charset="0"/>
            </a:endParaRPr>
          </a:p>
          <a:p>
            <a:pPr marL="0" indent="0">
              <a:buNone/>
            </a:pPr>
            <a:r>
              <a:rPr lang="en-US" b="1" i="0" dirty="0">
                <a:effectLst/>
                <a:latin typeface="+mj-lt"/>
                <a:ea typeface="Cambria" panose="02040503050406030204" pitchFamily="18" charset="0"/>
              </a:rPr>
              <a:t>3.Discarding Policy :</a:t>
            </a:r>
            <a:r>
              <a:rPr lang="en-US" b="0" i="0" dirty="0">
                <a:effectLst/>
                <a:latin typeface="+mj-lt"/>
                <a:ea typeface="Cambria" panose="02040503050406030204" pitchFamily="18" charset="0"/>
              </a:rPr>
              <a:t> </a:t>
            </a:r>
            <a:br>
              <a:rPr lang="en-US" dirty="0">
                <a:latin typeface="+mj-lt"/>
                <a:ea typeface="Cambria" panose="02040503050406030204" pitchFamily="18" charset="0"/>
              </a:rPr>
            </a:br>
            <a:r>
              <a:rPr lang="en-US" b="0" i="0" dirty="0">
                <a:effectLst/>
                <a:latin typeface="+mj-lt"/>
                <a:ea typeface="Cambria" panose="02040503050406030204" pitchFamily="18" charset="0"/>
              </a:rPr>
              <a:t>A good discarding policy adopted by the routers is that the routers may prevent congestion and at the same time </a:t>
            </a:r>
            <a:r>
              <a:rPr lang="en-US" b="0" i="0" u="sng" dirty="0">
                <a:solidFill>
                  <a:srgbClr val="FF0000"/>
                </a:solidFill>
                <a:effectLst/>
                <a:latin typeface="+mj-lt"/>
                <a:ea typeface="Cambria" panose="02040503050406030204" pitchFamily="18" charset="0"/>
              </a:rPr>
              <a:t>partially discard the corrupted or less sensitive packages </a:t>
            </a:r>
            <a:r>
              <a:rPr lang="en-US" b="0" i="0" u="sng" dirty="0">
                <a:effectLst/>
                <a:latin typeface="+mj-lt"/>
                <a:ea typeface="Cambria" panose="02040503050406030204" pitchFamily="18" charset="0"/>
              </a:rPr>
              <a:t>and also be able to maintain the quality of a message. </a:t>
            </a:r>
            <a:endParaRPr lang="en-IN" u="sng" dirty="0">
              <a:latin typeface="+mj-lt"/>
              <a:ea typeface="Cambria" panose="02040503050406030204" pitchFamily="18" charset="0"/>
            </a:endParaRPr>
          </a:p>
          <a:p>
            <a:pPr marL="0" indent="0">
              <a:buNone/>
            </a:pPr>
            <a:endParaRPr lang="en-IN" dirty="0">
              <a:latin typeface="+mj-lt"/>
              <a:ea typeface="Cambria" panose="02040503050406030204" pitchFamily="18" charset="0"/>
            </a:endParaRPr>
          </a:p>
          <a:p>
            <a:endParaRPr lang="en-IN" dirty="0">
              <a:latin typeface="+mj-lt"/>
              <a:ea typeface="Cambria" panose="02040503050406030204" pitchFamily="18" charset="0"/>
            </a:endParaRPr>
          </a:p>
        </p:txBody>
      </p:sp>
    </p:spTree>
    <p:extLst>
      <p:ext uri="{BB962C8B-B14F-4D97-AF65-F5344CB8AC3E}">
        <p14:creationId xmlns:p14="http://schemas.microsoft.com/office/powerpoint/2010/main" val="37420863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34805"/>
          </a:xfrm>
        </p:spPr>
        <p:txBody>
          <a:bodyPr/>
          <a:lstStyle/>
          <a:p>
            <a:endParaRPr lang="en-IN" dirty="0"/>
          </a:p>
        </p:txBody>
      </p:sp>
      <p:sp>
        <p:nvSpPr>
          <p:cNvPr id="3" name="Content Placeholder 2"/>
          <p:cNvSpPr>
            <a:spLocks noGrp="1"/>
          </p:cNvSpPr>
          <p:nvPr>
            <p:ph idx="1"/>
          </p:nvPr>
        </p:nvSpPr>
        <p:spPr>
          <a:xfrm>
            <a:off x="838200" y="1484243"/>
            <a:ext cx="10515600" cy="4692720"/>
          </a:xfrm>
        </p:spPr>
        <p:txBody>
          <a:bodyPr>
            <a:normAutofit fontScale="92500" lnSpcReduction="20000"/>
          </a:bodyPr>
          <a:lstStyle/>
          <a:p>
            <a:pPr marL="0" indent="0">
              <a:buNone/>
            </a:pPr>
            <a:r>
              <a:rPr lang="en-IN" b="1" i="0" dirty="0">
                <a:effectLst/>
                <a:latin typeface="+mj-lt"/>
                <a:ea typeface="Cambria" panose="02040503050406030204" pitchFamily="18" charset="0"/>
              </a:rPr>
              <a:t>4. Acknowledgment Policy :</a:t>
            </a:r>
            <a:r>
              <a:rPr lang="en-IN" b="0" i="0" dirty="0">
                <a:effectLst/>
                <a:latin typeface="+mj-lt"/>
                <a:ea typeface="Cambria" panose="02040503050406030204" pitchFamily="18" charset="0"/>
              </a:rPr>
              <a:t> </a:t>
            </a:r>
            <a:endParaRPr lang="en-IN" dirty="0">
              <a:latin typeface="+mj-lt"/>
              <a:ea typeface="Cambria" panose="02040503050406030204" pitchFamily="18" charset="0"/>
            </a:endParaRPr>
          </a:p>
          <a:p>
            <a:r>
              <a:rPr lang="en-US" b="0" i="0" dirty="0">
                <a:effectLst/>
                <a:latin typeface="+mj-lt"/>
                <a:ea typeface="Cambria" panose="02040503050406030204" pitchFamily="18" charset="0"/>
              </a:rPr>
              <a:t>The receiver should </a:t>
            </a:r>
            <a:r>
              <a:rPr lang="en-US" b="0" i="0" u="sng" dirty="0">
                <a:solidFill>
                  <a:srgbClr val="FF0000"/>
                </a:solidFill>
                <a:effectLst/>
                <a:latin typeface="+mj-lt"/>
                <a:ea typeface="Cambria" panose="02040503050406030204" pitchFamily="18" charset="0"/>
              </a:rPr>
              <a:t>send acknowledgement for N packets </a:t>
            </a:r>
            <a:r>
              <a:rPr lang="en-US" b="0" i="0" dirty="0">
                <a:effectLst/>
                <a:latin typeface="+mj-lt"/>
                <a:ea typeface="Cambria" panose="02040503050406030204" pitchFamily="18" charset="0"/>
              </a:rPr>
              <a:t>rather than sending acknowledgement for a single packet. </a:t>
            </a:r>
          </a:p>
          <a:p>
            <a:r>
              <a:rPr lang="en-US" b="0" i="0" u="sng" dirty="0">
                <a:effectLst/>
                <a:latin typeface="+mj-lt"/>
                <a:ea typeface="Cambria" panose="02040503050406030204" pitchFamily="18" charset="0"/>
              </a:rPr>
              <a:t>The receiver should send an acknowledgment only if it has to </a:t>
            </a:r>
            <a:r>
              <a:rPr lang="en-US" b="0" i="0" u="sng" dirty="0">
                <a:solidFill>
                  <a:srgbClr val="FF0000"/>
                </a:solidFill>
                <a:effectLst/>
                <a:latin typeface="+mj-lt"/>
                <a:ea typeface="Cambria" panose="02040503050406030204" pitchFamily="18" charset="0"/>
              </a:rPr>
              <a:t>send a packet or a timer expires. </a:t>
            </a:r>
            <a:endParaRPr lang="en-IN" u="sng" dirty="0">
              <a:solidFill>
                <a:srgbClr val="FF0000"/>
              </a:solidFill>
              <a:latin typeface="+mj-lt"/>
              <a:ea typeface="Cambria" panose="02040503050406030204" pitchFamily="18" charset="0"/>
            </a:endParaRPr>
          </a:p>
          <a:p>
            <a:pPr marL="0" indent="0">
              <a:buNone/>
            </a:pPr>
            <a:endParaRPr lang="en-US" b="1" i="0" dirty="0">
              <a:solidFill>
                <a:srgbClr val="273239"/>
              </a:solidFill>
              <a:effectLst/>
              <a:latin typeface="+mj-lt"/>
              <a:ea typeface="Cambria" panose="02040503050406030204" pitchFamily="18" charset="0"/>
            </a:endParaRPr>
          </a:p>
          <a:p>
            <a:pPr marL="0" indent="0">
              <a:buNone/>
            </a:pPr>
            <a:r>
              <a:rPr lang="en-US" b="1" i="0" dirty="0">
                <a:effectLst/>
                <a:latin typeface="+mj-lt"/>
                <a:ea typeface="Cambria" panose="02040503050406030204" pitchFamily="18" charset="0"/>
              </a:rPr>
              <a:t>5. Admission Policy :</a:t>
            </a:r>
            <a:r>
              <a:rPr lang="en-US" b="0" i="0" dirty="0">
                <a:effectLst/>
                <a:latin typeface="+mj-lt"/>
                <a:ea typeface="Cambria" panose="02040503050406030204" pitchFamily="18" charset="0"/>
              </a:rPr>
              <a:t> </a:t>
            </a:r>
            <a:br>
              <a:rPr lang="en-US" b="0" i="0" dirty="0">
                <a:effectLst/>
                <a:latin typeface="+mj-lt"/>
                <a:ea typeface="Cambria" panose="02040503050406030204" pitchFamily="18" charset="0"/>
              </a:rPr>
            </a:br>
            <a:endParaRPr lang="en-US" b="0" i="0" dirty="0">
              <a:effectLst/>
              <a:latin typeface="+mj-lt"/>
              <a:ea typeface="Cambria" panose="02040503050406030204" pitchFamily="18" charset="0"/>
            </a:endParaRPr>
          </a:p>
          <a:p>
            <a:r>
              <a:rPr lang="en-US" b="0" i="0" u="sng" dirty="0">
                <a:effectLst/>
                <a:latin typeface="+mj-lt"/>
                <a:ea typeface="Cambria" panose="02040503050406030204" pitchFamily="18" charset="0"/>
              </a:rPr>
              <a:t>Switches should first check the resource requirement </a:t>
            </a:r>
            <a:r>
              <a:rPr lang="en-US" b="0" i="0" dirty="0">
                <a:effectLst/>
                <a:latin typeface="+mj-lt"/>
                <a:ea typeface="Cambria" panose="02040503050406030204" pitchFamily="18" charset="0"/>
              </a:rPr>
              <a:t>of a network flow before transmitting it further. </a:t>
            </a:r>
          </a:p>
          <a:p>
            <a:r>
              <a:rPr lang="en-US" b="0" i="0" dirty="0">
                <a:effectLst/>
                <a:latin typeface="+mj-lt"/>
                <a:ea typeface="Cambria" panose="02040503050406030204" pitchFamily="18" charset="0"/>
              </a:rPr>
              <a:t>If there is a chance of a congestion or there is a congestion in the network, </a:t>
            </a:r>
            <a:r>
              <a:rPr lang="en-US" b="0" i="0" u="sng" dirty="0">
                <a:solidFill>
                  <a:srgbClr val="FF0000"/>
                </a:solidFill>
                <a:effectLst/>
                <a:latin typeface="+mj-lt"/>
                <a:ea typeface="Cambria" panose="02040503050406030204" pitchFamily="18" charset="0"/>
              </a:rPr>
              <a:t>router should deny establishing a virtual network connection </a:t>
            </a:r>
            <a:r>
              <a:rPr lang="en-US" b="0" i="0" u="sng" dirty="0">
                <a:effectLst/>
                <a:latin typeface="+mj-lt"/>
                <a:ea typeface="Cambria" panose="02040503050406030204" pitchFamily="18" charset="0"/>
              </a:rPr>
              <a:t>to prevent further congestion.</a:t>
            </a:r>
          </a:p>
          <a:p>
            <a:endParaRPr lang="en-IN" dirty="0">
              <a:latin typeface="+mj-lt"/>
              <a:ea typeface="Cambria" panose="02040503050406030204" pitchFamily="18" charset="0"/>
            </a:endParaRPr>
          </a:p>
        </p:txBody>
      </p:sp>
    </p:spTree>
    <p:extLst>
      <p:ext uri="{BB962C8B-B14F-4D97-AF65-F5344CB8AC3E}">
        <p14:creationId xmlns:p14="http://schemas.microsoft.com/office/powerpoint/2010/main" val="76680184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IN" sz="3600" b="1" dirty="0"/>
              <a:t>Congestion Prevention Policies</a:t>
            </a:r>
            <a:br>
              <a:rPr lang="en-US" sz="3600" b="1" dirty="0">
                <a:ea typeface="Cambria" panose="02040503050406030204" pitchFamily="18" charset="0"/>
              </a:rPr>
            </a:br>
            <a:r>
              <a:rPr lang="en-US" sz="3600" b="1" dirty="0">
                <a:ea typeface="Cambria" panose="02040503050406030204" pitchFamily="18" charset="0"/>
              </a:rPr>
              <a:t>Closed loop congestion control</a:t>
            </a:r>
            <a:endParaRPr lang="en-IN" sz="3600" dirty="0"/>
          </a:p>
        </p:txBody>
      </p:sp>
      <p:sp>
        <p:nvSpPr>
          <p:cNvPr id="3" name="Content Placeholder 2"/>
          <p:cNvSpPr>
            <a:spLocks noGrp="1"/>
          </p:cNvSpPr>
          <p:nvPr>
            <p:ph idx="1"/>
          </p:nvPr>
        </p:nvSpPr>
        <p:spPr>
          <a:xfrm>
            <a:off x="838200" y="1825625"/>
            <a:ext cx="10683240" cy="2984914"/>
          </a:xfrm>
        </p:spPr>
        <p:txBody>
          <a:bodyPr>
            <a:normAutofit lnSpcReduction="10000"/>
          </a:bodyPr>
          <a:lstStyle/>
          <a:p>
            <a:pPr marL="514350" indent="-514350">
              <a:buFont typeface="+mj-lt"/>
              <a:buAutoNum type="arabicPeriod"/>
            </a:pPr>
            <a:r>
              <a:rPr lang="en-US" b="1" i="0" dirty="0">
                <a:effectLst/>
                <a:latin typeface="+mj-lt"/>
                <a:ea typeface="Cambria" panose="02040503050406030204" pitchFamily="18" charset="0"/>
              </a:rPr>
              <a:t>Backpressure :</a:t>
            </a:r>
            <a:r>
              <a:rPr lang="en-US" b="0" i="0" dirty="0">
                <a:effectLst/>
                <a:latin typeface="+mj-lt"/>
                <a:ea typeface="Cambria" panose="02040503050406030204" pitchFamily="18" charset="0"/>
              </a:rPr>
              <a:t> </a:t>
            </a:r>
          </a:p>
          <a:p>
            <a:r>
              <a:rPr lang="en-US" b="0" i="0" dirty="0">
                <a:effectLst/>
                <a:latin typeface="+mj-lt"/>
                <a:ea typeface="Cambria" panose="02040503050406030204" pitchFamily="18" charset="0"/>
              </a:rPr>
              <a:t>Backpressure is a technique in which a </a:t>
            </a:r>
            <a:r>
              <a:rPr lang="en-US" b="0" i="0" u="sng" dirty="0">
                <a:solidFill>
                  <a:srgbClr val="FF0000"/>
                </a:solidFill>
                <a:effectLst/>
                <a:latin typeface="+mj-lt"/>
                <a:ea typeface="Cambria" panose="02040503050406030204" pitchFamily="18" charset="0"/>
              </a:rPr>
              <a:t>congested node stops receiving packets from upstream node.</a:t>
            </a:r>
            <a:r>
              <a:rPr lang="en-US" b="0" i="0" dirty="0">
                <a:solidFill>
                  <a:srgbClr val="FF0000"/>
                </a:solidFill>
                <a:effectLst/>
                <a:latin typeface="+mj-lt"/>
                <a:ea typeface="Cambria" panose="02040503050406030204" pitchFamily="18" charset="0"/>
              </a:rPr>
              <a:t> </a:t>
            </a:r>
          </a:p>
          <a:p>
            <a:r>
              <a:rPr lang="en-US" b="0" i="0" dirty="0">
                <a:effectLst/>
                <a:latin typeface="+mj-lt"/>
                <a:ea typeface="Cambria" panose="02040503050406030204" pitchFamily="18" charset="0"/>
              </a:rPr>
              <a:t>This may cause the upstream node or </a:t>
            </a:r>
            <a:r>
              <a:rPr lang="en-US" b="0" i="0" u="sng" dirty="0">
                <a:effectLst/>
                <a:latin typeface="+mj-lt"/>
                <a:ea typeface="Cambria" panose="02040503050406030204" pitchFamily="18" charset="0"/>
              </a:rPr>
              <a:t>nodes to become congested and reject receiving data</a:t>
            </a:r>
            <a:r>
              <a:rPr lang="en-US" b="0" i="0" dirty="0">
                <a:effectLst/>
                <a:latin typeface="+mj-lt"/>
                <a:ea typeface="Cambria" panose="02040503050406030204" pitchFamily="18" charset="0"/>
              </a:rPr>
              <a:t> from above nodes. </a:t>
            </a:r>
          </a:p>
          <a:p>
            <a:r>
              <a:rPr lang="en-US" b="0" i="0" u="sng" dirty="0">
                <a:effectLst/>
                <a:latin typeface="+mj-lt"/>
                <a:ea typeface="Cambria" panose="02040503050406030204" pitchFamily="18" charset="0"/>
              </a:rPr>
              <a:t>Backpressure is a node-to-node congestion control technique that propagate in the opposite direction of data flow.</a:t>
            </a:r>
          </a:p>
          <a:p>
            <a:endParaRPr lang="en-IN" dirty="0">
              <a:latin typeface="+mj-lt"/>
              <a:ea typeface="Cambria" panose="02040503050406030204" pitchFamily="18" charset="0"/>
            </a:endParaRPr>
          </a:p>
        </p:txBody>
      </p:sp>
      <p:pic>
        <p:nvPicPr>
          <p:cNvPr id="4" name="Picture 2" descr="Lightbox">
            <a:extLst>
              <a:ext uri="{FF2B5EF4-FFF2-40B4-BE49-F238E27FC236}">
                <a16:creationId xmlns:a16="http://schemas.microsoft.com/office/drawing/2014/main" id="{1BD7C8D6-4B50-B81B-A783-A71D9B3ED7B0}"/>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838200" y="4711959"/>
            <a:ext cx="10515600" cy="19594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250798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90330" y="715807"/>
            <a:ext cx="11030351" cy="5734594"/>
          </a:xfrm>
        </p:spPr>
        <p:txBody>
          <a:bodyPr>
            <a:normAutofit/>
          </a:bodyPr>
          <a:lstStyle/>
          <a:p>
            <a:pPr marL="0" indent="0">
              <a:buNone/>
            </a:pPr>
            <a:r>
              <a:rPr lang="en-US" b="1" dirty="0">
                <a:latin typeface="+mj-lt"/>
                <a:ea typeface="Cambria" panose="02040503050406030204" pitchFamily="18" charset="0"/>
              </a:rPr>
              <a:t>2. Implicit Signaling :</a:t>
            </a:r>
            <a:r>
              <a:rPr lang="en-US" dirty="0">
                <a:latin typeface="+mj-lt"/>
                <a:ea typeface="Cambria" panose="02040503050406030204" pitchFamily="18" charset="0"/>
              </a:rPr>
              <a:t> </a:t>
            </a:r>
            <a:br>
              <a:rPr lang="en-US" dirty="0">
                <a:latin typeface="+mj-lt"/>
                <a:ea typeface="Cambria" panose="02040503050406030204" pitchFamily="18" charset="0"/>
              </a:rPr>
            </a:br>
            <a:r>
              <a:rPr lang="en-US" dirty="0">
                <a:latin typeface="+mj-lt"/>
                <a:ea typeface="Cambria" panose="02040503050406030204" pitchFamily="18" charset="0"/>
              </a:rPr>
              <a:t>In implicit signaling, there is </a:t>
            </a:r>
            <a:r>
              <a:rPr lang="en-US" u="sng" dirty="0">
                <a:solidFill>
                  <a:srgbClr val="FF0000"/>
                </a:solidFill>
                <a:latin typeface="+mj-lt"/>
                <a:ea typeface="Cambria" panose="02040503050406030204" pitchFamily="18" charset="0"/>
              </a:rPr>
              <a:t>no communication between the congested nodes and the source</a:t>
            </a:r>
            <a:r>
              <a:rPr lang="en-US" dirty="0">
                <a:solidFill>
                  <a:srgbClr val="FF0000"/>
                </a:solidFill>
                <a:latin typeface="+mj-lt"/>
                <a:ea typeface="Cambria" panose="02040503050406030204" pitchFamily="18" charset="0"/>
              </a:rPr>
              <a:t>. </a:t>
            </a:r>
            <a:r>
              <a:rPr lang="en-US" dirty="0">
                <a:latin typeface="+mj-lt"/>
                <a:ea typeface="Cambria" panose="02040503050406030204" pitchFamily="18" charset="0"/>
              </a:rPr>
              <a:t>The source guesses that there is congestion in a network. </a:t>
            </a:r>
          </a:p>
          <a:p>
            <a:pPr lvl="1"/>
            <a:r>
              <a:rPr lang="en-US" dirty="0">
                <a:latin typeface="+mj-lt"/>
                <a:ea typeface="Cambria" panose="02040503050406030204" pitchFamily="18" charset="0"/>
              </a:rPr>
              <a:t>Ex: when sender sends several packets and there is no acknowledgment for a while, one assumption is that there is a congestion</a:t>
            </a:r>
          </a:p>
          <a:p>
            <a:pPr marL="0" indent="0">
              <a:buNone/>
            </a:pPr>
            <a:r>
              <a:rPr lang="en-US" b="1" dirty="0">
                <a:latin typeface="+mj-lt"/>
                <a:ea typeface="Cambria" panose="02040503050406030204" pitchFamily="18" charset="0"/>
              </a:rPr>
              <a:t>3. Explicit Signaling :</a:t>
            </a:r>
            <a:r>
              <a:rPr lang="en-US" dirty="0">
                <a:latin typeface="+mj-lt"/>
                <a:ea typeface="Cambria" panose="02040503050406030204" pitchFamily="18" charset="0"/>
              </a:rPr>
              <a:t> </a:t>
            </a:r>
            <a:br>
              <a:rPr lang="en-US" dirty="0">
                <a:latin typeface="+mj-lt"/>
                <a:ea typeface="Cambria" panose="02040503050406030204" pitchFamily="18" charset="0"/>
              </a:rPr>
            </a:br>
            <a:r>
              <a:rPr lang="en-US" dirty="0">
                <a:latin typeface="+mj-lt"/>
                <a:ea typeface="Cambria" panose="02040503050406030204" pitchFamily="18" charset="0"/>
              </a:rPr>
              <a:t>In explicit signaling, if a node experiences congestion it can explicitly </a:t>
            </a:r>
            <a:r>
              <a:rPr lang="en-US" u="sng" dirty="0">
                <a:solidFill>
                  <a:srgbClr val="FF0000"/>
                </a:solidFill>
                <a:latin typeface="+mj-lt"/>
                <a:ea typeface="Cambria" panose="02040503050406030204" pitchFamily="18" charset="0"/>
              </a:rPr>
              <a:t>sends a packet to the source or destination </a:t>
            </a:r>
            <a:r>
              <a:rPr lang="en-US" dirty="0">
                <a:latin typeface="+mj-lt"/>
                <a:ea typeface="Cambria" panose="02040503050406030204" pitchFamily="18" charset="0"/>
              </a:rPr>
              <a:t>to inform about congestion. </a:t>
            </a:r>
          </a:p>
          <a:p>
            <a:pPr lvl="1"/>
            <a:r>
              <a:rPr lang="en-US" b="1" dirty="0">
                <a:latin typeface="+mj-lt"/>
                <a:ea typeface="Cambria" panose="02040503050406030204" pitchFamily="18" charset="0"/>
              </a:rPr>
              <a:t>Forward Signaling :</a:t>
            </a:r>
            <a:r>
              <a:rPr lang="en-US" dirty="0">
                <a:latin typeface="+mj-lt"/>
                <a:ea typeface="Cambria" panose="02040503050406030204" pitchFamily="18" charset="0"/>
              </a:rPr>
              <a:t>a signal is </a:t>
            </a:r>
            <a:r>
              <a:rPr lang="en-US" u="sng" dirty="0">
                <a:solidFill>
                  <a:srgbClr val="FF0000"/>
                </a:solidFill>
                <a:latin typeface="+mj-lt"/>
                <a:ea typeface="Cambria" panose="02040503050406030204" pitchFamily="18" charset="0"/>
              </a:rPr>
              <a:t>sent in the direction of the congestion</a:t>
            </a:r>
            <a:r>
              <a:rPr lang="en-US" dirty="0">
                <a:latin typeface="+mj-lt"/>
                <a:ea typeface="Cambria" panose="02040503050406030204" pitchFamily="18" charset="0"/>
              </a:rPr>
              <a:t>. The destination is warned about congestion. The receiver in this case adopt policies to prevent further congestion.</a:t>
            </a:r>
          </a:p>
          <a:p>
            <a:pPr lvl="1" fontAlgn="base"/>
            <a:r>
              <a:rPr lang="en-US" b="1" dirty="0">
                <a:latin typeface="+mj-lt"/>
                <a:ea typeface="Cambria" panose="02040503050406030204" pitchFamily="18" charset="0"/>
              </a:rPr>
              <a:t>Backward Signaling :</a:t>
            </a:r>
            <a:r>
              <a:rPr lang="en-US" dirty="0">
                <a:latin typeface="+mj-lt"/>
                <a:ea typeface="Cambria" panose="02040503050406030204" pitchFamily="18" charset="0"/>
              </a:rPr>
              <a:t> a signal is sent in the </a:t>
            </a:r>
            <a:r>
              <a:rPr lang="en-US" u="sng" dirty="0">
                <a:solidFill>
                  <a:srgbClr val="FF0000"/>
                </a:solidFill>
                <a:latin typeface="+mj-lt"/>
                <a:ea typeface="Cambria" panose="02040503050406030204" pitchFamily="18" charset="0"/>
              </a:rPr>
              <a:t>opposite direction of the congestion</a:t>
            </a:r>
            <a:r>
              <a:rPr lang="en-US" dirty="0">
                <a:solidFill>
                  <a:srgbClr val="FF0000"/>
                </a:solidFill>
                <a:latin typeface="+mj-lt"/>
                <a:ea typeface="Cambria" panose="02040503050406030204" pitchFamily="18" charset="0"/>
              </a:rPr>
              <a:t>. </a:t>
            </a:r>
            <a:r>
              <a:rPr lang="en-US" dirty="0">
                <a:latin typeface="+mj-lt"/>
                <a:ea typeface="Cambria" panose="02040503050406030204" pitchFamily="18" charset="0"/>
              </a:rPr>
              <a:t>The source is warned about congestion and it needs to slow down.</a:t>
            </a:r>
          </a:p>
          <a:p>
            <a:pPr marL="0" indent="0">
              <a:buNone/>
            </a:pPr>
            <a:endParaRPr lang="en-IN" dirty="0">
              <a:latin typeface="+mj-lt"/>
              <a:ea typeface="Cambria" panose="02040503050406030204" pitchFamily="18" charset="0"/>
            </a:endParaRPr>
          </a:p>
        </p:txBody>
      </p:sp>
    </p:spTree>
    <p:extLst>
      <p:ext uri="{BB962C8B-B14F-4D97-AF65-F5344CB8AC3E}">
        <p14:creationId xmlns:p14="http://schemas.microsoft.com/office/powerpoint/2010/main" val="227919016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4000" dirty="0"/>
              <a:t>Congestion control in virtual circuit subnet</a:t>
            </a:r>
          </a:p>
        </p:txBody>
      </p:sp>
      <p:sp>
        <p:nvSpPr>
          <p:cNvPr id="3" name="Content Placeholder 2"/>
          <p:cNvSpPr>
            <a:spLocks noGrp="1"/>
          </p:cNvSpPr>
          <p:nvPr>
            <p:ph idx="1"/>
          </p:nvPr>
        </p:nvSpPr>
        <p:spPr>
          <a:xfrm>
            <a:off x="838200" y="1502093"/>
            <a:ext cx="10515600" cy="2855186"/>
          </a:xfrm>
        </p:spPr>
        <p:txBody>
          <a:bodyPr>
            <a:normAutofit fontScale="92500"/>
          </a:bodyPr>
          <a:lstStyle/>
          <a:p>
            <a:pPr marL="0" indent="0">
              <a:buNone/>
            </a:pPr>
            <a:r>
              <a:rPr lang="en-IN" b="1" dirty="0">
                <a:latin typeface="+mj-lt"/>
                <a:ea typeface="Cambria" panose="02040503050406030204" pitchFamily="18" charset="0"/>
              </a:rPr>
              <a:t>Admission control:</a:t>
            </a:r>
          </a:p>
          <a:p>
            <a:pPr>
              <a:buFont typeface="Wingdings" panose="05000000000000000000" pitchFamily="2" charset="2"/>
              <a:buChar char="§"/>
            </a:pPr>
            <a:r>
              <a:rPr lang="en-IN" dirty="0">
                <a:latin typeface="+mj-lt"/>
                <a:ea typeface="Cambria" panose="02040503050406030204" pitchFamily="18" charset="0"/>
              </a:rPr>
              <a:t>This technique is used to </a:t>
            </a:r>
            <a:r>
              <a:rPr lang="en-IN" u="sng" dirty="0">
                <a:solidFill>
                  <a:srgbClr val="FF0000"/>
                </a:solidFill>
                <a:latin typeface="+mj-lt"/>
                <a:ea typeface="Cambria" panose="02040503050406030204" pitchFamily="18" charset="0"/>
              </a:rPr>
              <a:t>track the congestion control after it occurred.</a:t>
            </a:r>
          </a:p>
          <a:p>
            <a:pPr>
              <a:buFont typeface="Wingdings" panose="05000000000000000000" pitchFamily="2" charset="2"/>
              <a:buChar char="§"/>
            </a:pPr>
            <a:r>
              <a:rPr lang="en-IN" dirty="0">
                <a:latin typeface="+mj-lt"/>
                <a:ea typeface="Cambria" panose="02040503050406030204" pitchFamily="18" charset="0"/>
              </a:rPr>
              <a:t>Once the congestion occurs in network do not set up any more virtual connection until the congestion is removed.</a:t>
            </a:r>
          </a:p>
          <a:p>
            <a:pPr marL="0" indent="0">
              <a:buNone/>
            </a:pPr>
            <a:r>
              <a:rPr lang="en-IN" b="1" dirty="0">
                <a:latin typeface="+mj-lt"/>
                <a:ea typeface="Cambria" panose="02040503050406030204" pitchFamily="18" charset="0"/>
              </a:rPr>
              <a:t>Alternate approach:</a:t>
            </a:r>
          </a:p>
          <a:p>
            <a:pPr marL="0" indent="0">
              <a:buNone/>
            </a:pPr>
            <a:r>
              <a:rPr lang="en-IN" dirty="0">
                <a:latin typeface="+mj-lt"/>
                <a:ea typeface="Cambria" panose="02040503050406030204" pitchFamily="18" charset="0"/>
              </a:rPr>
              <a:t>You can add a new connection to the node other than congestion node</a:t>
            </a:r>
            <a:r>
              <a:rPr lang="en-IN" b="1" dirty="0">
                <a:latin typeface="+mj-lt"/>
                <a:ea typeface="Cambria" panose="02040503050406030204" pitchFamily="18" charset="0"/>
              </a:rPr>
              <a:t>.</a:t>
            </a:r>
          </a:p>
        </p:txBody>
      </p:sp>
      <p:pic>
        <p:nvPicPr>
          <p:cNvPr id="5" name="Picture 2">
            <a:extLst>
              <a:ext uri="{FF2B5EF4-FFF2-40B4-BE49-F238E27FC236}">
                <a16:creationId xmlns:a16="http://schemas.microsoft.com/office/drawing/2014/main" id="{A59620E0-F078-BBCE-3499-C02B2888A33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3489"/>
          <a:stretch/>
        </p:blipFill>
        <p:spPr bwMode="auto">
          <a:xfrm>
            <a:off x="4867154" y="4338637"/>
            <a:ext cx="5801784" cy="23420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1634233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5208"/>
            <a:ext cx="10515600" cy="1325563"/>
          </a:xfrm>
        </p:spPr>
        <p:txBody>
          <a:bodyPr>
            <a:normAutofit/>
          </a:bodyPr>
          <a:lstStyle/>
          <a:p>
            <a:r>
              <a:rPr lang="en-IN" sz="3600" b="1" dirty="0"/>
              <a:t>Congestion Control in Datagram Subnets</a:t>
            </a:r>
            <a:endParaRPr lang="en-IN" sz="3600" dirty="0"/>
          </a:p>
        </p:txBody>
      </p:sp>
      <p:sp>
        <p:nvSpPr>
          <p:cNvPr id="3" name="Content Placeholder 2"/>
          <p:cNvSpPr>
            <a:spLocks noGrp="1"/>
          </p:cNvSpPr>
          <p:nvPr>
            <p:ph idx="1"/>
          </p:nvPr>
        </p:nvSpPr>
        <p:spPr>
          <a:xfrm>
            <a:off x="838200" y="1480771"/>
            <a:ext cx="10515600" cy="4601977"/>
          </a:xfrm>
        </p:spPr>
        <p:txBody>
          <a:bodyPr>
            <a:normAutofit/>
          </a:bodyPr>
          <a:lstStyle/>
          <a:p>
            <a:pPr marL="0" indent="0">
              <a:buNone/>
            </a:pPr>
            <a:r>
              <a:rPr lang="en-IN" b="1" dirty="0">
                <a:latin typeface="+mj-lt"/>
                <a:ea typeface="Cambria" panose="02040503050406030204" pitchFamily="18" charset="0"/>
              </a:rPr>
              <a:t>1.Warning bit</a:t>
            </a:r>
          </a:p>
          <a:p>
            <a:r>
              <a:rPr lang="en-US" dirty="0"/>
              <a:t>A </a:t>
            </a:r>
            <a:r>
              <a:rPr lang="en-US" u="sng" dirty="0">
                <a:solidFill>
                  <a:srgbClr val="FF0000"/>
                </a:solidFill>
              </a:rPr>
              <a:t>special bit in the packet header is set </a:t>
            </a:r>
            <a:r>
              <a:rPr lang="en-US" dirty="0"/>
              <a:t>by the router to warn the source when congestion </a:t>
            </a:r>
            <a:r>
              <a:rPr lang="en-IN" dirty="0"/>
              <a:t>is detected. </a:t>
            </a:r>
          </a:p>
          <a:p>
            <a:r>
              <a:rPr lang="en-US" dirty="0"/>
              <a:t>The bit is copied and </a:t>
            </a:r>
            <a:r>
              <a:rPr lang="en-IN" u="sng" dirty="0">
                <a:solidFill>
                  <a:srgbClr val="FF0000"/>
                </a:solidFill>
              </a:rPr>
              <a:t>piggy-</a:t>
            </a:r>
            <a:r>
              <a:rPr lang="en-US" u="sng" dirty="0">
                <a:solidFill>
                  <a:srgbClr val="FF0000"/>
                </a:solidFill>
              </a:rPr>
              <a:t>backed on the ACK</a:t>
            </a:r>
            <a:r>
              <a:rPr lang="en-US" u="sng" dirty="0"/>
              <a:t> </a:t>
            </a:r>
            <a:r>
              <a:rPr lang="en-US" dirty="0"/>
              <a:t>and sent to the sender. </a:t>
            </a:r>
          </a:p>
          <a:p>
            <a:r>
              <a:rPr lang="en-US" dirty="0"/>
              <a:t>The </a:t>
            </a:r>
            <a:r>
              <a:rPr lang="en-US" u="sng" dirty="0"/>
              <a:t>sender monitors the number of ACK </a:t>
            </a:r>
            <a:r>
              <a:rPr lang="en-US" dirty="0"/>
              <a:t>packets it receives with the warning bit set and </a:t>
            </a:r>
            <a:r>
              <a:rPr lang="en-US" u="sng" dirty="0"/>
              <a:t>adjusts its transmission rate </a:t>
            </a:r>
            <a:r>
              <a:rPr lang="en-US" dirty="0"/>
              <a:t>accordingly. </a:t>
            </a:r>
            <a:endParaRPr lang="en-IN" dirty="0">
              <a:latin typeface="+mj-lt"/>
              <a:ea typeface="Cambria" panose="02040503050406030204" pitchFamily="18" charset="0"/>
            </a:endParaRPr>
          </a:p>
          <a:p>
            <a:endParaRPr lang="en-IN" dirty="0">
              <a:latin typeface="+mj-lt"/>
            </a:endParaRPr>
          </a:p>
        </p:txBody>
      </p:sp>
    </p:spTree>
    <p:extLst>
      <p:ext uri="{BB962C8B-B14F-4D97-AF65-F5344CB8AC3E}">
        <p14:creationId xmlns:p14="http://schemas.microsoft.com/office/powerpoint/2010/main" val="69147433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11695" y="841627"/>
            <a:ext cx="10515600" cy="3740288"/>
          </a:xfrm>
        </p:spPr>
        <p:txBody>
          <a:bodyPr>
            <a:normAutofit fontScale="92500" lnSpcReduction="10000"/>
          </a:bodyPr>
          <a:lstStyle/>
          <a:p>
            <a:r>
              <a:rPr lang="en-IN" dirty="0"/>
              <a:t> </a:t>
            </a:r>
            <a:r>
              <a:rPr lang="en-IN" b="1" dirty="0">
                <a:ea typeface="Cambria" panose="02040503050406030204" pitchFamily="18" charset="0"/>
              </a:rPr>
              <a:t>2.Choke packet</a:t>
            </a:r>
          </a:p>
          <a:p>
            <a:r>
              <a:rPr lang="en-US" dirty="0">
                <a:ea typeface="Cambria" panose="02040503050406030204" pitchFamily="18" charset="0"/>
              </a:rPr>
              <a:t>A </a:t>
            </a:r>
            <a:r>
              <a:rPr lang="en-US" u="sng" dirty="0">
                <a:solidFill>
                  <a:schemeClr val="bg2"/>
                </a:solidFill>
                <a:ea typeface="Cambria" panose="02040503050406030204" pitchFamily="18" charset="0"/>
              </a:rPr>
              <a:t>choke packet is a packet sent by a node to the source</a:t>
            </a:r>
            <a:r>
              <a:rPr lang="en-US" dirty="0">
                <a:ea typeface="Cambria" panose="02040503050406030204" pitchFamily="18" charset="0"/>
              </a:rPr>
              <a:t> to inform about congestion.</a:t>
            </a:r>
          </a:p>
          <a:p>
            <a:r>
              <a:rPr lang="en-US" dirty="0"/>
              <a:t>A more direct way of telling the </a:t>
            </a:r>
            <a:r>
              <a:rPr lang="en-US" u="sng" dirty="0"/>
              <a:t>source to slow down</a:t>
            </a:r>
            <a:r>
              <a:rPr lang="en-US" dirty="0"/>
              <a:t>. </a:t>
            </a:r>
          </a:p>
          <a:p>
            <a:r>
              <a:rPr lang="en-IN" dirty="0"/>
              <a:t>A choke p</a:t>
            </a:r>
            <a:r>
              <a:rPr lang="en-US" dirty="0"/>
              <a:t>acket is a control packet generated at a </a:t>
            </a:r>
            <a:r>
              <a:rPr lang="en-US" u="sng" dirty="0"/>
              <a:t>congested node and transmitted to </a:t>
            </a:r>
            <a:r>
              <a:rPr lang="en-IN" u="sng" dirty="0"/>
              <a:t>restrict traffic flow</a:t>
            </a:r>
            <a:r>
              <a:rPr lang="en-IN" dirty="0"/>
              <a:t>. </a:t>
            </a:r>
          </a:p>
          <a:p>
            <a:r>
              <a:rPr lang="en-US" u="sng" dirty="0"/>
              <a:t>The source</a:t>
            </a:r>
            <a:r>
              <a:rPr lang="en-US" dirty="0"/>
              <a:t>, on receiving the choke packet must </a:t>
            </a:r>
            <a:r>
              <a:rPr lang="en-US" u="sng" dirty="0"/>
              <a:t>reduce its transmission rate </a:t>
            </a:r>
            <a:r>
              <a:rPr lang="en-US" dirty="0"/>
              <a:t>by a certain </a:t>
            </a:r>
            <a:r>
              <a:rPr lang="en-IN" dirty="0"/>
              <a:t>percentage. </a:t>
            </a:r>
          </a:p>
          <a:p>
            <a:r>
              <a:rPr lang="en-US" dirty="0"/>
              <a:t>An example of a choke packet is the </a:t>
            </a:r>
            <a:r>
              <a:rPr lang="en-US" u="sng" dirty="0"/>
              <a:t>ICMP Source Quench Pa</a:t>
            </a:r>
            <a:r>
              <a:rPr lang="en-IN" u="sng" dirty="0" err="1"/>
              <a:t>cket</a:t>
            </a:r>
            <a:r>
              <a:rPr lang="en-IN" dirty="0"/>
              <a:t>. </a:t>
            </a:r>
          </a:p>
        </p:txBody>
      </p:sp>
      <p:pic>
        <p:nvPicPr>
          <p:cNvPr id="4" name="Picture 2">
            <a:extLst>
              <a:ext uri="{FF2B5EF4-FFF2-40B4-BE49-F238E27FC236}">
                <a16:creationId xmlns:a16="http://schemas.microsoft.com/office/drawing/2014/main" id="{1B3E526E-F1A3-BCFF-AF2C-96B10F56C6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2534" y="4543827"/>
            <a:ext cx="7771553" cy="21368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020557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b="1" u="sng" dirty="0"/>
              <a:t>Hop-by-Hop Choke Packets </a:t>
            </a:r>
          </a:p>
          <a:p>
            <a:r>
              <a:rPr lang="en-US" dirty="0"/>
              <a:t>Over </a:t>
            </a:r>
            <a:r>
              <a:rPr lang="en-US" u="sng" dirty="0"/>
              <a:t>long distances or at high speeds </a:t>
            </a:r>
            <a:r>
              <a:rPr lang="en-US" dirty="0"/>
              <a:t>choke packets are not very effective. </a:t>
            </a:r>
          </a:p>
          <a:p>
            <a:r>
              <a:rPr lang="en-US" dirty="0"/>
              <a:t>A more efficient method is to send to choke packets </a:t>
            </a:r>
            <a:r>
              <a:rPr lang="en-US" u="sng" dirty="0"/>
              <a:t>hop</a:t>
            </a:r>
            <a:r>
              <a:rPr lang="en-IN" u="sng" dirty="0"/>
              <a:t>-by-hop</a:t>
            </a:r>
            <a:r>
              <a:rPr lang="en-IN" dirty="0"/>
              <a:t>. </a:t>
            </a:r>
          </a:p>
          <a:p>
            <a:r>
              <a:rPr lang="en-US" dirty="0"/>
              <a:t>This requires each hop to </a:t>
            </a:r>
            <a:r>
              <a:rPr lang="en-US" u="sng" dirty="0"/>
              <a:t>reduce its transmission </a:t>
            </a:r>
            <a:r>
              <a:rPr lang="en-US" dirty="0"/>
              <a:t>even before the choke packet </a:t>
            </a:r>
            <a:r>
              <a:rPr lang="en-US" dirty="0" err="1"/>
              <a:t>arriv</a:t>
            </a:r>
            <a:r>
              <a:rPr lang="en-IN" dirty="0"/>
              <a:t>e at the source </a:t>
            </a:r>
          </a:p>
          <a:p>
            <a:endParaRPr lang="en-IN" dirty="0"/>
          </a:p>
        </p:txBody>
      </p:sp>
    </p:spTree>
    <p:extLst>
      <p:ext uri="{BB962C8B-B14F-4D97-AF65-F5344CB8AC3E}">
        <p14:creationId xmlns:p14="http://schemas.microsoft.com/office/powerpoint/2010/main" val="64050613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86527" y="121227"/>
            <a:ext cx="4921604" cy="523220"/>
          </a:xfrm>
          <a:prstGeom prst="rect">
            <a:avLst/>
          </a:prstGeom>
        </p:spPr>
        <p:txBody>
          <a:bodyPr wrap="none">
            <a:spAutoFit/>
          </a:bodyPr>
          <a:lstStyle/>
          <a:p>
            <a:r>
              <a:rPr lang="en-IN" sz="2800" b="1" dirty="0">
                <a:latin typeface="Cambria" panose="02040503050406030204" pitchFamily="18" charset="0"/>
                <a:ea typeface="Cambria" panose="02040503050406030204" pitchFamily="18" charset="0"/>
              </a:rPr>
              <a:t>3.Hop-by-Hop Choke Packets</a:t>
            </a:r>
            <a:endParaRPr lang="en-IN" sz="2800" dirty="0">
              <a:latin typeface="Cambria" panose="02040503050406030204" pitchFamily="18" charset="0"/>
              <a:ea typeface="Cambria" panose="02040503050406030204" pitchFamily="18" charset="0"/>
            </a:endParaRPr>
          </a:p>
        </p:txBody>
      </p:sp>
      <p:pic>
        <p:nvPicPr>
          <p:cNvPr id="3" name="Content Placeholder 2"/>
          <p:cNvPicPr>
            <a:picLocks noGrp="1" noChangeAspect="1"/>
          </p:cNvPicPr>
          <p:nvPr>
            <p:ph idx="1"/>
          </p:nvPr>
        </p:nvPicPr>
        <p:blipFill>
          <a:blip r:embed="rId2"/>
          <a:stretch>
            <a:fillRect/>
          </a:stretch>
        </p:blipFill>
        <p:spPr>
          <a:xfrm>
            <a:off x="5208131" y="121228"/>
            <a:ext cx="6835823" cy="6736772"/>
          </a:xfrm>
          <a:prstGeom prst="rect">
            <a:avLst/>
          </a:prstGeom>
        </p:spPr>
      </p:pic>
    </p:spTree>
    <p:extLst>
      <p:ext uri="{BB962C8B-B14F-4D97-AF65-F5344CB8AC3E}">
        <p14:creationId xmlns:p14="http://schemas.microsoft.com/office/powerpoint/2010/main" val="73891819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4000" b="1" dirty="0">
                <a:ea typeface="Cambria" panose="02040503050406030204" pitchFamily="18" charset="0"/>
              </a:rPr>
              <a:t>Load Shedding</a:t>
            </a:r>
            <a:endParaRPr lang="en-IN" dirty="0"/>
          </a:p>
        </p:txBody>
      </p:sp>
      <p:sp>
        <p:nvSpPr>
          <p:cNvPr id="3" name="Content Placeholder 2"/>
          <p:cNvSpPr>
            <a:spLocks noGrp="1"/>
          </p:cNvSpPr>
          <p:nvPr>
            <p:ph idx="1"/>
          </p:nvPr>
        </p:nvSpPr>
        <p:spPr>
          <a:xfrm>
            <a:off x="838200" y="1449977"/>
            <a:ext cx="10515600" cy="4937760"/>
          </a:xfrm>
        </p:spPr>
        <p:txBody>
          <a:bodyPr>
            <a:noAutofit/>
          </a:bodyPr>
          <a:lstStyle/>
          <a:p>
            <a:r>
              <a:rPr lang="en-US" b="0" i="0" u="sng" dirty="0">
                <a:effectLst/>
                <a:latin typeface="+mj-lt"/>
                <a:ea typeface="Cambria" panose="02040503050406030204" pitchFamily="18" charset="0"/>
              </a:rPr>
              <a:t>Load shedding is defined as an approach </a:t>
            </a:r>
            <a:r>
              <a:rPr lang="en-US" b="0" i="0" u="sng" dirty="0">
                <a:solidFill>
                  <a:srgbClr val="FF0000"/>
                </a:solidFill>
                <a:effectLst/>
                <a:latin typeface="+mj-lt"/>
                <a:ea typeface="Cambria" panose="02040503050406030204" pitchFamily="18" charset="0"/>
              </a:rPr>
              <a:t>of discarding the packets when the buffer is full </a:t>
            </a:r>
            <a:r>
              <a:rPr lang="en-US" b="0" i="0" u="sng" dirty="0">
                <a:solidFill>
                  <a:srgbClr val="273239"/>
                </a:solidFill>
                <a:effectLst/>
                <a:latin typeface="+mj-lt"/>
                <a:ea typeface="Cambria" panose="02040503050406030204" pitchFamily="18" charset="0"/>
              </a:rPr>
              <a:t>.</a:t>
            </a:r>
          </a:p>
          <a:p>
            <a:r>
              <a:rPr lang="en-US" b="0" i="0" dirty="0">
                <a:effectLst/>
                <a:latin typeface="+mj-lt"/>
                <a:ea typeface="Cambria" panose="02040503050406030204" pitchFamily="18" charset="0"/>
              </a:rPr>
              <a:t>The selection of packets to discard is an important task. Many times packets with </a:t>
            </a:r>
            <a:r>
              <a:rPr lang="en-US" b="0" i="0" u="sng" dirty="0">
                <a:effectLst/>
                <a:latin typeface="+mj-lt"/>
                <a:ea typeface="Cambria" panose="02040503050406030204" pitchFamily="18" charset="0"/>
              </a:rPr>
              <a:t>less importance and old packets </a:t>
            </a:r>
            <a:r>
              <a:rPr lang="en-US" b="0" i="0" dirty="0">
                <a:effectLst/>
                <a:latin typeface="+mj-lt"/>
                <a:ea typeface="Cambria" panose="02040503050406030204" pitchFamily="18" charset="0"/>
              </a:rPr>
              <a:t>are discarded.</a:t>
            </a:r>
          </a:p>
          <a:p>
            <a:r>
              <a:rPr lang="en-US" dirty="0">
                <a:latin typeface="+mj-lt"/>
                <a:ea typeface="Cambria" panose="02040503050406030204" pitchFamily="18" charset="0"/>
              </a:rPr>
              <a:t>To implement an intelligent discard policy, </a:t>
            </a:r>
            <a:r>
              <a:rPr lang="en-US" u="sng" dirty="0">
                <a:latin typeface="+mj-lt"/>
                <a:ea typeface="Cambria" panose="02040503050406030204" pitchFamily="18" charset="0"/>
              </a:rPr>
              <a:t>applications must mark their packets to indicate to the network how important they are</a:t>
            </a:r>
            <a:r>
              <a:rPr lang="en-US" dirty="0">
                <a:latin typeface="+mj-lt"/>
                <a:ea typeface="Cambria" panose="02040503050406030204" pitchFamily="18" charset="0"/>
              </a:rPr>
              <a:t>. Then, when packets have to be discarded, routers can first drop packets from the least important class, then the next most important class, and so on.</a:t>
            </a:r>
            <a:endParaRPr lang="en-IN" u="sng" dirty="0">
              <a:latin typeface="+mj-lt"/>
              <a:ea typeface="Cambria" panose="02040503050406030204" pitchFamily="18" charset="0"/>
            </a:endParaRPr>
          </a:p>
          <a:p>
            <a:endParaRPr lang="en-IN" dirty="0">
              <a:latin typeface="+mj-lt"/>
              <a:ea typeface="Cambria" panose="02040503050406030204" pitchFamily="18" charset="0"/>
            </a:endParaRPr>
          </a:p>
          <a:p>
            <a:endParaRPr lang="en-IN" dirty="0">
              <a:latin typeface="+mj-lt"/>
              <a:ea typeface="Cambria" panose="02040503050406030204" pitchFamily="18" charset="0"/>
            </a:endParaRPr>
          </a:p>
        </p:txBody>
      </p:sp>
    </p:spTree>
    <p:extLst>
      <p:ext uri="{BB962C8B-B14F-4D97-AF65-F5344CB8AC3E}">
        <p14:creationId xmlns:p14="http://schemas.microsoft.com/office/powerpoint/2010/main" val="354569193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88909"/>
          </a:xfrm>
        </p:spPr>
        <p:txBody>
          <a:bodyPr>
            <a:normAutofit/>
          </a:bodyPr>
          <a:lstStyle/>
          <a:p>
            <a:r>
              <a:rPr lang="en-US" sz="4000" b="1" i="0" dirty="0">
                <a:effectLst/>
                <a:ea typeface="Cambria" panose="02040503050406030204" pitchFamily="18" charset="0"/>
              </a:rPr>
              <a:t>Random Early detection</a:t>
            </a:r>
            <a:endParaRPr lang="en-IN" dirty="0"/>
          </a:p>
        </p:txBody>
      </p:sp>
      <p:sp>
        <p:nvSpPr>
          <p:cNvPr id="3" name="Content Placeholder 2"/>
          <p:cNvSpPr>
            <a:spLocks noGrp="1"/>
          </p:cNvSpPr>
          <p:nvPr>
            <p:ph idx="1"/>
          </p:nvPr>
        </p:nvSpPr>
        <p:spPr>
          <a:xfrm>
            <a:off x="838200" y="1463040"/>
            <a:ext cx="10515600" cy="4713923"/>
          </a:xfrm>
        </p:spPr>
        <p:txBody>
          <a:bodyPr/>
          <a:lstStyle/>
          <a:p>
            <a:pPr algn="just" fontAlgn="base"/>
            <a:r>
              <a:rPr lang="en-US" b="0" i="0" dirty="0">
                <a:effectLst/>
                <a:latin typeface="+mj-lt"/>
                <a:ea typeface="Cambria" panose="02040503050406030204" pitchFamily="18" charset="0"/>
              </a:rPr>
              <a:t>Randomly early detection is an approach in which </a:t>
            </a:r>
            <a:r>
              <a:rPr lang="en-US" b="0" i="0" u="sng" dirty="0">
                <a:solidFill>
                  <a:schemeClr val="bg2"/>
                </a:solidFill>
                <a:effectLst/>
                <a:latin typeface="+mj-lt"/>
                <a:ea typeface="Cambria" panose="02040503050406030204" pitchFamily="18" charset="0"/>
              </a:rPr>
              <a:t>packets are discarded before the buffer space becomes full. </a:t>
            </a:r>
          </a:p>
          <a:p>
            <a:pPr algn="just" fontAlgn="base"/>
            <a:r>
              <a:rPr lang="en-US" dirty="0">
                <a:latin typeface="+mj-lt"/>
                <a:ea typeface="Cambria" panose="02040503050406030204" pitchFamily="18" charset="0"/>
              </a:rPr>
              <a:t>When the buffer is empty </a:t>
            </a:r>
            <a:r>
              <a:rPr lang="en-US" u="sng" dirty="0">
                <a:latin typeface="+mj-lt"/>
                <a:ea typeface="Cambria" panose="02040503050406030204" pitchFamily="18" charset="0"/>
              </a:rPr>
              <a:t>set queue size.</a:t>
            </a:r>
            <a:endParaRPr lang="en-US" b="0" i="0" u="sng" dirty="0">
              <a:effectLst/>
              <a:latin typeface="+mj-lt"/>
              <a:ea typeface="Cambria" panose="02040503050406030204" pitchFamily="18" charset="0"/>
            </a:endParaRPr>
          </a:p>
          <a:p>
            <a:pPr algn="just" fontAlgn="base"/>
            <a:r>
              <a:rPr lang="en-US" b="0" i="0" dirty="0">
                <a:effectLst/>
                <a:latin typeface="+mj-lt"/>
                <a:ea typeface="Cambria" panose="02040503050406030204" pitchFamily="18" charset="0"/>
              </a:rPr>
              <a:t>Therefore the situation of congestion is controlled earlier. In this approach, the router initially maintains a </a:t>
            </a:r>
            <a:r>
              <a:rPr lang="en-US" b="0" i="0" u="sng" dirty="0">
                <a:effectLst/>
                <a:latin typeface="+mj-lt"/>
                <a:ea typeface="Cambria" panose="02040503050406030204" pitchFamily="18" charset="0"/>
              </a:rPr>
              <a:t>specific queue length </a:t>
            </a:r>
            <a:r>
              <a:rPr lang="en-US" b="0" i="0" dirty="0">
                <a:effectLst/>
                <a:latin typeface="+mj-lt"/>
                <a:ea typeface="Cambria" panose="02040503050406030204" pitchFamily="18" charset="0"/>
              </a:rPr>
              <a:t>for the outgoing lines. </a:t>
            </a:r>
          </a:p>
          <a:p>
            <a:pPr algn="just" fontAlgn="base"/>
            <a:r>
              <a:rPr lang="en-US" b="0" i="0" dirty="0">
                <a:effectLst/>
                <a:latin typeface="+mj-lt"/>
                <a:ea typeface="Cambria" panose="02040503050406030204" pitchFamily="18" charset="0"/>
              </a:rPr>
              <a:t>When this </a:t>
            </a:r>
            <a:r>
              <a:rPr lang="en-US" b="0" i="0" u="sng" dirty="0">
                <a:effectLst/>
                <a:latin typeface="+mj-lt"/>
                <a:ea typeface="Cambria" panose="02040503050406030204" pitchFamily="18" charset="0"/>
              </a:rPr>
              <a:t>average set line is exceeded </a:t>
            </a:r>
            <a:r>
              <a:rPr lang="en-US" b="0" i="0" dirty="0">
                <a:effectLst/>
                <a:latin typeface="+mj-lt"/>
                <a:ea typeface="Cambria" panose="02040503050406030204" pitchFamily="18" charset="0"/>
              </a:rPr>
              <a:t>it warns for congestion and discards the packets.</a:t>
            </a:r>
          </a:p>
          <a:p>
            <a:endParaRPr lang="en-IN" dirty="0">
              <a:latin typeface="+mj-lt"/>
              <a:ea typeface="Cambria" panose="02040503050406030204" pitchFamily="18" charset="0"/>
            </a:endParaRPr>
          </a:p>
        </p:txBody>
      </p:sp>
    </p:spTree>
    <p:extLst>
      <p:ext uri="{BB962C8B-B14F-4D97-AF65-F5344CB8AC3E}">
        <p14:creationId xmlns:p14="http://schemas.microsoft.com/office/powerpoint/2010/main" val="80863146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67286"/>
          </a:xfrm>
        </p:spPr>
        <p:txBody>
          <a:bodyPr/>
          <a:lstStyle/>
          <a:p>
            <a:r>
              <a:rPr lang="en-IN" b="1" dirty="0">
                <a:ea typeface="Cambria" panose="02040503050406030204" pitchFamily="18" charset="0"/>
              </a:rPr>
              <a:t>Jitter Control</a:t>
            </a:r>
          </a:p>
        </p:txBody>
      </p:sp>
      <p:sp>
        <p:nvSpPr>
          <p:cNvPr id="3" name="Content Placeholder 2"/>
          <p:cNvSpPr>
            <a:spLocks noGrp="1"/>
          </p:cNvSpPr>
          <p:nvPr>
            <p:ph idx="1"/>
          </p:nvPr>
        </p:nvSpPr>
        <p:spPr>
          <a:xfrm>
            <a:off x="838200" y="1825625"/>
            <a:ext cx="10515600" cy="4797244"/>
          </a:xfrm>
        </p:spPr>
        <p:txBody>
          <a:bodyPr>
            <a:normAutofit/>
          </a:bodyPr>
          <a:lstStyle/>
          <a:p>
            <a:r>
              <a:rPr lang="en-IN" u="sng" dirty="0">
                <a:latin typeface="+mj-lt"/>
                <a:ea typeface="Cambria" panose="02040503050406030204" pitchFamily="18" charset="0"/>
              </a:rPr>
              <a:t>Jitter is an </a:t>
            </a:r>
            <a:r>
              <a:rPr lang="en-IN" u="sng" dirty="0">
                <a:solidFill>
                  <a:srgbClr val="FF0000"/>
                </a:solidFill>
                <a:latin typeface="+mj-lt"/>
                <a:ea typeface="Cambria" panose="02040503050406030204" pitchFamily="18" charset="0"/>
              </a:rPr>
              <a:t>inconsistent delay in the data packets.</a:t>
            </a:r>
            <a:endParaRPr lang="en-IN" u="sng" dirty="0">
              <a:latin typeface="+mj-lt"/>
              <a:ea typeface="Cambria" panose="02040503050406030204" pitchFamily="18" charset="0"/>
            </a:endParaRPr>
          </a:p>
          <a:p>
            <a:pPr algn="just"/>
            <a:r>
              <a:rPr lang="en-US" b="0" i="0" dirty="0">
                <a:effectLst/>
                <a:latin typeface="+mj-lt"/>
                <a:ea typeface="Cambria" panose="02040503050406030204" pitchFamily="18" charset="0"/>
              </a:rPr>
              <a:t>Due to network congestion, poor hardware, or lack of packet prioritization, the steady </a:t>
            </a:r>
            <a:r>
              <a:rPr lang="en-US" b="0" i="0" u="sng" dirty="0">
                <a:effectLst/>
                <a:latin typeface="+mj-lt"/>
                <a:ea typeface="Cambria" panose="02040503050406030204" pitchFamily="18" charset="0"/>
              </a:rPr>
              <a:t>stream of data packets gets disrupted</a:t>
            </a:r>
            <a:r>
              <a:rPr lang="en-US" b="0" i="0" dirty="0">
                <a:effectLst/>
                <a:latin typeface="+mj-lt"/>
                <a:ea typeface="Cambria" panose="02040503050406030204" pitchFamily="18" charset="0"/>
              </a:rPr>
              <a:t>, and the </a:t>
            </a:r>
            <a:r>
              <a:rPr lang="en-US" b="0" i="0" u="sng" dirty="0">
                <a:effectLst/>
                <a:latin typeface="+mj-lt"/>
                <a:ea typeface="Cambria" panose="02040503050406030204" pitchFamily="18" charset="0"/>
              </a:rPr>
              <a:t>interval between the packets gets uneven</a:t>
            </a:r>
            <a:r>
              <a:rPr lang="en-US" b="0" i="0" dirty="0">
                <a:effectLst/>
                <a:latin typeface="+mj-lt"/>
                <a:ea typeface="Cambria" panose="02040503050406030204" pitchFamily="18" charset="0"/>
              </a:rPr>
              <a:t>, the result is jitter. </a:t>
            </a:r>
          </a:p>
          <a:p>
            <a:r>
              <a:rPr lang="en-US" dirty="0">
                <a:latin typeface="+mj-lt"/>
                <a:ea typeface="Cambria" panose="02040503050406030204" pitchFamily="18" charset="0"/>
              </a:rPr>
              <a:t>The jitter can be bounded by </a:t>
            </a:r>
            <a:r>
              <a:rPr lang="en-US" u="sng" dirty="0">
                <a:latin typeface="+mj-lt"/>
                <a:ea typeface="Cambria" panose="02040503050406030204" pitchFamily="18" charset="0"/>
              </a:rPr>
              <a:t>computing the expected transit time </a:t>
            </a:r>
            <a:r>
              <a:rPr lang="en-US" dirty="0">
                <a:latin typeface="+mj-lt"/>
                <a:ea typeface="Cambria" panose="02040503050406030204" pitchFamily="18" charset="0"/>
              </a:rPr>
              <a:t>for each hop along the path.</a:t>
            </a:r>
            <a:endParaRPr lang="en-IN" dirty="0">
              <a:latin typeface="+mj-lt"/>
              <a:ea typeface="Cambria" panose="02040503050406030204" pitchFamily="18" charset="0"/>
            </a:endParaRPr>
          </a:p>
          <a:p>
            <a:pPr lvl="1"/>
            <a:r>
              <a:rPr lang="en-IN" dirty="0">
                <a:latin typeface="+mj-lt"/>
                <a:ea typeface="Cambria" panose="02040503050406030204" pitchFamily="18" charset="0"/>
              </a:rPr>
              <a:t>When a packet arrives at router, the router will check to see whether the packet is ahead or behind.</a:t>
            </a:r>
          </a:p>
          <a:p>
            <a:pPr lvl="1"/>
            <a:r>
              <a:rPr lang="en-IN" dirty="0">
                <a:latin typeface="+mj-lt"/>
                <a:ea typeface="Cambria" panose="02040503050406030204" pitchFamily="18" charset="0"/>
              </a:rPr>
              <a:t>If the packet is early router will kept is hold.</a:t>
            </a:r>
          </a:p>
          <a:p>
            <a:pPr lvl="1"/>
            <a:r>
              <a:rPr lang="en-IN" dirty="0">
                <a:latin typeface="+mj-lt"/>
                <a:ea typeface="Cambria" panose="02040503050406030204" pitchFamily="18" charset="0"/>
              </a:rPr>
              <a:t>If it is late it will send as soon as possible.</a:t>
            </a:r>
          </a:p>
          <a:p>
            <a:endParaRPr lang="en-IN" dirty="0">
              <a:latin typeface="+mj-lt"/>
            </a:endParaRPr>
          </a:p>
        </p:txBody>
      </p:sp>
    </p:spTree>
    <p:extLst>
      <p:ext uri="{BB962C8B-B14F-4D97-AF65-F5344CB8AC3E}">
        <p14:creationId xmlns:p14="http://schemas.microsoft.com/office/powerpoint/2010/main" val="79507829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4704" y="232603"/>
            <a:ext cx="10515600" cy="403501"/>
          </a:xfrm>
        </p:spPr>
        <p:txBody>
          <a:bodyPr>
            <a:normAutofit fontScale="90000"/>
          </a:bodyPr>
          <a:lstStyle/>
          <a:p>
            <a:endParaRPr lang="en-IN" dirty="0"/>
          </a:p>
        </p:txBody>
      </p:sp>
      <p:sp>
        <p:nvSpPr>
          <p:cNvPr id="3" name="Content Placeholder 2"/>
          <p:cNvSpPr>
            <a:spLocks noGrp="1"/>
          </p:cNvSpPr>
          <p:nvPr>
            <p:ph idx="1"/>
          </p:nvPr>
        </p:nvSpPr>
        <p:spPr>
          <a:xfrm>
            <a:off x="265043" y="728870"/>
            <a:ext cx="6202017" cy="6129130"/>
          </a:xfrm>
        </p:spPr>
        <p:txBody>
          <a:bodyPr>
            <a:normAutofit fontScale="92500" lnSpcReduction="20000"/>
          </a:bodyPr>
          <a:lstStyle/>
          <a:p>
            <a:r>
              <a:rPr lang="en-US" dirty="0"/>
              <a:t>The algorithm for determining which of several </a:t>
            </a:r>
            <a:r>
              <a:rPr lang="en-US" u="sng" dirty="0"/>
              <a:t>packets competing for an output line should go next can always choose the packet furthest behind in its schedule</a:t>
            </a:r>
            <a:r>
              <a:rPr lang="en-US" dirty="0"/>
              <a:t>. In this way, </a:t>
            </a:r>
            <a:r>
              <a:rPr lang="en-US" u="sng" dirty="0"/>
              <a:t>packets that are ahead of schedule get slowed down and packets that are behind schedule get speeded up</a:t>
            </a:r>
            <a:r>
              <a:rPr lang="en-US" dirty="0"/>
              <a:t>, in both cases </a:t>
            </a:r>
            <a:r>
              <a:rPr lang="en-US" u="sng" dirty="0">
                <a:solidFill>
                  <a:srgbClr val="FF0000"/>
                </a:solidFill>
              </a:rPr>
              <a:t>reducing the amount of jitter</a:t>
            </a:r>
            <a:r>
              <a:rPr lang="en-US" dirty="0"/>
              <a:t>.</a:t>
            </a:r>
          </a:p>
          <a:p>
            <a:r>
              <a:rPr lang="en-US" dirty="0"/>
              <a:t>In some applications, such as video on demand, jitter can be eliminated by buffering at the receiver and then fetching data for display from the buffer instead of from the network in real time. </a:t>
            </a:r>
          </a:p>
          <a:p>
            <a:r>
              <a:rPr lang="en-US" dirty="0"/>
              <a:t>However, for other applications, especially those that require real-time interaction between people such as Internet telephony and video conferencing, the delay inherent in </a:t>
            </a:r>
            <a:r>
              <a:rPr lang="en-IN" dirty="0"/>
              <a:t>buffering is not acceptable.</a:t>
            </a:r>
          </a:p>
        </p:txBody>
      </p:sp>
      <p:pic>
        <p:nvPicPr>
          <p:cNvPr id="4" name="Picture 3"/>
          <p:cNvPicPr>
            <a:picLocks noChangeAspect="1"/>
          </p:cNvPicPr>
          <p:nvPr/>
        </p:nvPicPr>
        <p:blipFill>
          <a:blip r:embed="rId2"/>
          <a:stretch>
            <a:fillRect/>
          </a:stretch>
        </p:blipFill>
        <p:spPr>
          <a:xfrm>
            <a:off x="6467061" y="1351722"/>
            <a:ext cx="5724940" cy="4611756"/>
          </a:xfrm>
          <a:prstGeom prst="rect">
            <a:avLst/>
          </a:prstGeom>
        </p:spPr>
      </p:pic>
      <p:sp>
        <p:nvSpPr>
          <p:cNvPr id="5" name="Rectangle 4"/>
          <p:cNvSpPr/>
          <p:nvPr/>
        </p:nvSpPr>
        <p:spPr>
          <a:xfrm>
            <a:off x="7211957" y="6236876"/>
            <a:ext cx="3996607" cy="369332"/>
          </a:xfrm>
          <a:prstGeom prst="rect">
            <a:avLst/>
          </a:prstGeom>
        </p:spPr>
        <p:txBody>
          <a:bodyPr wrap="none">
            <a:spAutoFit/>
          </a:bodyPr>
          <a:lstStyle/>
          <a:p>
            <a:r>
              <a:rPr lang="en-US" b="1" i="1" dirty="0">
                <a:latin typeface="Verdana" panose="020B0604030504040204" pitchFamily="34" charset="0"/>
              </a:rPr>
              <a:t>(a) High jitter. (b) Low jitter.</a:t>
            </a:r>
            <a:endParaRPr lang="en-IN" dirty="0"/>
          </a:p>
        </p:txBody>
      </p:sp>
    </p:spTree>
    <p:extLst>
      <p:ext uri="{BB962C8B-B14F-4D97-AF65-F5344CB8AC3E}">
        <p14:creationId xmlns:p14="http://schemas.microsoft.com/office/powerpoint/2010/main" val="842685252"/>
      </p:ext>
    </p:extLst>
  </p:cSld>
  <p:clrMapOvr>
    <a:masterClrMapping/>
  </p:clrMapOvr>
</p:sld>
</file>

<file path=ppt/theme/theme1.xml><?xml version="1.0" encoding="utf-8"?>
<a:theme xmlns:a="http://schemas.openxmlformats.org/drawingml/2006/main" name="yellow1">
  <a:themeElements>
    <a:clrScheme name="Custom 10">
      <a:dk1>
        <a:srgbClr val="FFC000"/>
      </a:dk1>
      <a:lt1>
        <a:srgbClr val="000000"/>
      </a:lt1>
      <a:dk2>
        <a:srgbClr val="000000"/>
      </a:dk2>
      <a:lt2>
        <a:srgbClr val="FF0000"/>
      </a:lt2>
      <a:accent1>
        <a:srgbClr val="FFC000"/>
      </a:accent1>
      <a:accent2>
        <a:srgbClr val="FFC000"/>
      </a:accent2>
      <a:accent3>
        <a:srgbClr val="FFC000"/>
      </a:accent3>
      <a:accent4>
        <a:srgbClr val="FFC000"/>
      </a:accent4>
      <a:accent5>
        <a:srgbClr val="FFC000"/>
      </a:accent5>
      <a:accent6>
        <a:srgbClr val="FFC000"/>
      </a:accent6>
      <a:hlink>
        <a:srgbClr val="FFC000"/>
      </a:hlink>
      <a:folHlink>
        <a:srgbClr val="FFC000"/>
      </a:folHlink>
    </a:clrScheme>
    <a:fontScheme name="Custom 1">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yellow1" id="{32DFD3F3-502A-44FD-8EE1-1667FF207D98}" vid="{76D31E06-B53A-4D6E-8DAA-321D3E82B682}"/>
    </a:ext>
  </a:extLst>
</a:theme>
</file>

<file path=docProps/app.xml><?xml version="1.0" encoding="utf-8"?>
<Properties xmlns="http://schemas.openxmlformats.org/officeDocument/2006/extended-properties" xmlns:vt="http://schemas.openxmlformats.org/officeDocument/2006/docPropsVTypes">
  <Template>yellow1</Template>
  <TotalTime>4975</TotalTime>
  <Words>4042</Words>
  <Application>Microsoft Office PowerPoint</Application>
  <PresentationFormat>Widescreen</PresentationFormat>
  <Paragraphs>218</Paragraphs>
  <Slides>47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47</vt:i4>
      </vt:variant>
    </vt:vector>
  </HeadingPairs>
  <TitlesOfParts>
    <vt:vector size="52" baseType="lpstr">
      <vt:lpstr>Arial</vt:lpstr>
      <vt:lpstr>Cambria</vt:lpstr>
      <vt:lpstr>Verdana</vt:lpstr>
      <vt:lpstr>Wingdings</vt:lpstr>
      <vt:lpstr>yellow1</vt:lpstr>
      <vt:lpstr>Module 2-Network Layer</vt:lpstr>
      <vt:lpstr>PowerPoint Presentation</vt:lpstr>
      <vt:lpstr>Routing Algorithms </vt:lpstr>
      <vt:lpstr>PowerPoint Presentation</vt:lpstr>
      <vt:lpstr>Optimality principle </vt:lpstr>
      <vt:lpstr>PowerPoint Presentation</vt:lpstr>
      <vt:lpstr>Shortest Path Routing(Dijkstra’s) </vt:lpstr>
      <vt:lpstr>PowerPoint Presentation</vt:lpstr>
      <vt:lpstr>PowerPoint Presentation</vt:lpstr>
      <vt:lpstr>Dijkstra’s Routing algorithm </vt:lpstr>
      <vt:lpstr>PowerPoint Presentation</vt:lpstr>
      <vt:lpstr>Flooding</vt:lpstr>
      <vt:lpstr>Advantages</vt:lpstr>
      <vt:lpstr>Distance Vector Routing</vt:lpstr>
      <vt:lpstr> Fig.(a) shows the subnet and fig.(b) shows the vectors of J for its neighbors.  Let JA delay is 8, JI delay is 10, JH is 12, JK is 6. The new route to G from J can be calculated as follows: J can get A in 8 m sec. A can get G in 18 m sec(from table). Hence J can get G in (8+18) 26 m sec. Similarly the delay to G via I,H and K is (31 +10) =41, (6+12)18, (31+6)37 m sec. The best of these values is 18, so it makes an entry in its routing table that the delay to G is 18 m sec and that route is via H.</vt:lpstr>
      <vt:lpstr>Count-to-Infinity problem</vt:lpstr>
      <vt:lpstr>PowerPoint Presentation</vt:lpstr>
      <vt:lpstr>PowerPoint Presentation</vt:lpstr>
      <vt:lpstr>Link State Routing</vt:lpstr>
      <vt:lpstr>Learning about the Neighbors</vt:lpstr>
      <vt:lpstr>Setting Link Costs</vt:lpstr>
      <vt:lpstr>Building Link State Packets</vt:lpstr>
      <vt:lpstr>Distributing the Link State Packets</vt:lpstr>
      <vt:lpstr>PowerPoint Presentation</vt:lpstr>
      <vt:lpstr>Computing the New Routes</vt:lpstr>
      <vt:lpstr>Hierarchical Routing </vt:lpstr>
      <vt:lpstr>Ex. Consider a 720 routers subnet. Without hierarchy each router required 720 entries. Total entries will be 720 x 720, with hierarchy, if the subnet is portioned into 24 regions and 30 routers/region, then each router needs 30+23 = 53 entries only.</vt:lpstr>
      <vt:lpstr>CONGESTION CONTROL ALGORITHMS-What is Congestion?</vt:lpstr>
      <vt:lpstr>PowerPoint Presentation</vt:lpstr>
      <vt:lpstr>What factors will lead to congestion?</vt:lpstr>
      <vt:lpstr>PowerPoint Presentation</vt:lpstr>
      <vt:lpstr>PowerPoint Presentation</vt:lpstr>
      <vt:lpstr>General principle of congestion control</vt:lpstr>
      <vt:lpstr>Congestion Prevention Policies open loop congestion control</vt:lpstr>
      <vt:lpstr>PowerPoint Presentation</vt:lpstr>
      <vt:lpstr>PowerPoint Presentation</vt:lpstr>
      <vt:lpstr>Congestion Prevention Policies Closed loop congestion control</vt:lpstr>
      <vt:lpstr>PowerPoint Presentation</vt:lpstr>
      <vt:lpstr>Congestion control in virtual circuit subnet</vt:lpstr>
      <vt:lpstr>Congestion Control in Datagram Subnets</vt:lpstr>
      <vt:lpstr>PowerPoint Presentation</vt:lpstr>
      <vt:lpstr>PowerPoint Presentation</vt:lpstr>
      <vt:lpstr>PowerPoint Presentation</vt:lpstr>
      <vt:lpstr>Load Shedding</vt:lpstr>
      <vt:lpstr>Random Early detection</vt:lpstr>
      <vt:lpstr>Jitter Control</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vanisha santhmayor</cp:lastModifiedBy>
  <cp:revision>85</cp:revision>
  <dcterms:created xsi:type="dcterms:W3CDTF">2023-12-07T04:25:19Z</dcterms:created>
  <dcterms:modified xsi:type="dcterms:W3CDTF">2025-09-04T03:26:31Z</dcterms:modified>
</cp:coreProperties>
</file>