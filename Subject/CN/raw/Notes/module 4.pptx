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95" r:id="rId3"/>
    <p:sldId id="257" r:id="rId4"/>
    <p:sldId id="303" r:id="rId5"/>
    <p:sldId id="258" r:id="rId6"/>
    <p:sldId id="259" r:id="rId7"/>
    <p:sldId id="317" r:id="rId8"/>
    <p:sldId id="260" r:id="rId9"/>
    <p:sldId id="318" r:id="rId10"/>
    <p:sldId id="261" r:id="rId11"/>
    <p:sldId id="262" r:id="rId12"/>
    <p:sldId id="263" r:id="rId13"/>
    <p:sldId id="264" r:id="rId14"/>
    <p:sldId id="319" r:id="rId15"/>
    <p:sldId id="320" r:id="rId16"/>
    <p:sldId id="265" r:id="rId17"/>
    <p:sldId id="266" r:id="rId18"/>
    <p:sldId id="304" r:id="rId19"/>
    <p:sldId id="305" r:id="rId20"/>
    <p:sldId id="270" r:id="rId21"/>
    <p:sldId id="271" r:id="rId22"/>
    <p:sldId id="272" r:id="rId23"/>
    <p:sldId id="273" r:id="rId24"/>
    <p:sldId id="274" r:id="rId25"/>
    <p:sldId id="275" r:id="rId26"/>
    <p:sldId id="306" r:id="rId27"/>
    <p:sldId id="297" r:id="rId28"/>
    <p:sldId id="307" r:id="rId29"/>
    <p:sldId id="308" r:id="rId30"/>
    <p:sldId id="309" r:id="rId31"/>
    <p:sldId id="310" r:id="rId32"/>
    <p:sldId id="311" r:id="rId33"/>
    <p:sldId id="325" r:id="rId34"/>
    <p:sldId id="312" r:id="rId35"/>
    <p:sldId id="276" r:id="rId36"/>
    <p:sldId id="277" r:id="rId37"/>
    <p:sldId id="278" r:id="rId38"/>
    <p:sldId id="279" r:id="rId39"/>
    <p:sldId id="280" r:id="rId40"/>
    <p:sldId id="281" r:id="rId41"/>
    <p:sldId id="313" r:id="rId42"/>
    <p:sldId id="282" r:id="rId43"/>
    <p:sldId id="283" r:id="rId44"/>
    <p:sldId id="314" r:id="rId45"/>
    <p:sldId id="284" r:id="rId46"/>
    <p:sldId id="315" r:id="rId47"/>
    <p:sldId id="289" r:id="rId48"/>
    <p:sldId id="285" r:id="rId49"/>
    <p:sldId id="316" r:id="rId50"/>
    <p:sldId id="286" r:id="rId51"/>
    <p:sldId id="290" r:id="rId52"/>
    <p:sldId id="287" r:id="rId53"/>
    <p:sldId id="288" r:id="rId54"/>
    <p:sldId id="291" r:id="rId55"/>
    <p:sldId id="292" r:id="rId56"/>
    <p:sldId id="298" r:id="rId57"/>
    <p:sldId id="299" r:id="rId58"/>
    <p:sldId id="300" r:id="rId59"/>
    <p:sldId id="301" r:id="rId60"/>
    <p:sldId id="302" r:id="rId61"/>
    <p:sldId id="322" r:id="rId62"/>
    <p:sldId id="323" r:id="rId63"/>
    <p:sldId id="293" r:id="rId64"/>
    <p:sldId id="321" r:id="rId65"/>
    <p:sldId id="29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5D169BE-B39F-4DB8-9787-F11CC0EDA53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2802362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5D169BE-B39F-4DB8-9787-F11CC0EDA53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1633603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D169BE-B39F-4DB8-9787-F11CC0EDA53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2390107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5D169BE-B39F-4DB8-9787-F11CC0EDA534}"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309592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5D169BE-B39F-4DB8-9787-F11CC0EDA534}"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1873160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169BE-B39F-4DB8-9787-F11CC0EDA534}"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2281284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D169BE-B39F-4DB8-9787-F11CC0EDA534}"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320321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D169BE-B39F-4DB8-9787-F11CC0EDA534}"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2886284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5D169BE-B39F-4DB8-9787-F11CC0EDA534}"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3055360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5D169BE-B39F-4DB8-9787-F11CC0EDA53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845135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5D169BE-B39F-4DB8-9787-F11CC0EDA534}"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2C4C928-EB6E-4ADA-A47D-1AAF52B4D67B}" type="slidenum">
              <a:rPr lang="en-IN" smtClean="0"/>
              <a:t>‹#›</a:t>
            </a:fld>
            <a:endParaRPr lang="en-IN"/>
          </a:p>
        </p:txBody>
      </p:sp>
    </p:spTree>
    <p:extLst>
      <p:ext uri="{BB962C8B-B14F-4D97-AF65-F5344CB8AC3E}">
        <p14:creationId xmlns:p14="http://schemas.microsoft.com/office/powerpoint/2010/main" val="285030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D169BE-B39F-4DB8-9787-F11CC0EDA534}" type="datetimeFigureOut">
              <a:rPr lang="en-IN" smtClean="0"/>
              <a:t>20-11-2025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C4C928-EB6E-4ADA-A47D-1AAF52B4D67B}" type="slidenum">
              <a:rPr lang="en-IN" smtClean="0"/>
              <a:t>‹#›</a:t>
            </a:fld>
            <a:endParaRPr lang="en-IN"/>
          </a:p>
        </p:txBody>
      </p:sp>
    </p:spTree>
    <p:extLst>
      <p:ext uri="{BB962C8B-B14F-4D97-AF65-F5344CB8AC3E}">
        <p14:creationId xmlns:p14="http://schemas.microsoft.com/office/powerpoint/2010/main" val="82639431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2452" y="406746"/>
            <a:ext cx="9144000" cy="2387600"/>
          </a:xfrm>
        </p:spPr>
        <p:txBody>
          <a:bodyPr/>
          <a:lstStyle/>
          <a:p>
            <a:r>
              <a:rPr lang="en-IN" b="1" dirty="0"/>
              <a:t>Module 4</a:t>
            </a:r>
            <a:br>
              <a:rPr lang="en-IN" b="1" dirty="0"/>
            </a:br>
            <a:r>
              <a:rPr lang="en-IN" b="1" dirty="0"/>
              <a:t>The Transport Layer</a:t>
            </a:r>
            <a:endParaRPr lang="en-IN" dirty="0"/>
          </a:p>
        </p:txBody>
      </p:sp>
    </p:spTree>
    <p:extLst>
      <p:ext uri="{BB962C8B-B14F-4D97-AF65-F5344CB8AC3E}">
        <p14:creationId xmlns:p14="http://schemas.microsoft.com/office/powerpoint/2010/main" val="1623756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The Transport Service: </a:t>
            </a:r>
            <a:r>
              <a:rPr lang="en-US" dirty="0"/>
              <a:t>Services Provided to the Upper Layers, Transport Service Primitives, An Example of Socket Programming. </a:t>
            </a:r>
            <a:r>
              <a:rPr lang="en-US" b="1" dirty="0"/>
              <a:t>Elements of Transport Protocols: </a:t>
            </a:r>
            <a:r>
              <a:rPr lang="en-US" dirty="0"/>
              <a:t>Addressing, Connection Establishment, Connection Release. </a:t>
            </a:r>
            <a:r>
              <a:rPr lang="en-US" b="1" dirty="0"/>
              <a:t>The Internet Transport Protocols (UDP and TCP): </a:t>
            </a:r>
            <a:r>
              <a:rPr lang="en-US" dirty="0"/>
              <a:t>Introduction to UDP, Introduction to TCP, The TCP Service Model, The TCP Protocol, The TCP Segment Header, TCP Connection Establishment, TCP Connection Release, and Sliding Window protocols. </a:t>
            </a:r>
          </a:p>
          <a:p>
            <a:r>
              <a:rPr lang="en-US" b="1" dirty="0"/>
              <a:t>Chapter 6: 6.1,6.2,6.4,6.5</a:t>
            </a:r>
            <a:endParaRPr lang="en-IN" dirty="0"/>
          </a:p>
        </p:txBody>
      </p:sp>
    </p:spTree>
    <p:extLst>
      <p:ext uri="{BB962C8B-B14F-4D97-AF65-F5344CB8AC3E}">
        <p14:creationId xmlns:p14="http://schemas.microsoft.com/office/powerpoint/2010/main" val="3301913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Autofit/>
          </a:bodyPr>
          <a:lstStyle/>
          <a:p>
            <a:r>
              <a:rPr lang="en-IN" sz="3200" b="1" dirty="0"/>
              <a:t>Transport Service-</a:t>
            </a:r>
            <a:r>
              <a:rPr lang="en-US" sz="3200" dirty="0"/>
              <a:t>Services Provided to the Upper Layers </a:t>
            </a:r>
            <a:endParaRPr lang="en-IN" sz="3200" dirty="0"/>
          </a:p>
        </p:txBody>
      </p:sp>
      <p:sp>
        <p:nvSpPr>
          <p:cNvPr id="3" name="Content Placeholder 2"/>
          <p:cNvSpPr>
            <a:spLocks noGrp="1"/>
          </p:cNvSpPr>
          <p:nvPr>
            <p:ph idx="1"/>
          </p:nvPr>
        </p:nvSpPr>
        <p:spPr>
          <a:xfrm>
            <a:off x="534955" y="1207382"/>
            <a:ext cx="11122090" cy="5398691"/>
          </a:xfrm>
        </p:spPr>
        <p:txBody>
          <a:bodyPr>
            <a:normAutofit fontScale="92500" lnSpcReduction="20000"/>
          </a:bodyPr>
          <a:lstStyle/>
          <a:p>
            <a:pPr lvl="0" algn="just">
              <a:spcBef>
                <a:spcPts val="0"/>
              </a:spcBef>
              <a:buClr>
                <a:schemeClr val="dk1"/>
              </a:buClr>
              <a:buSzPts val="2400"/>
            </a:pPr>
            <a:r>
              <a:rPr lang="en-US" sz="2600" dirty="0">
                <a:sym typeface="Times New Roman"/>
              </a:rPr>
              <a:t>Together with the </a:t>
            </a:r>
            <a:r>
              <a:rPr lang="en-US" sz="2600" dirty="0">
                <a:solidFill>
                  <a:schemeClr val="tx1">
                    <a:lumMod val="20000"/>
                    <a:lumOff val="80000"/>
                  </a:schemeClr>
                </a:solidFill>
                <a:sym typeface="Times New Roman"/>
              </a:rPr>
              <a:t>network layer, the transport layer is the heart of the protocol </a:t>
            </a:r>
            <a:r>
              <a:rPr lang="en-US" sz="2600" dirty="0">
                <a:sym typeface="Times New Roman"/>
              </a:rPr>
              <a:t>hierarchy.</a:t>
            </a:r>
            <a:endParaRPr lang="en-US" sz="2600" dirty="0"/>
          </a:p>
          <a:p>
            <a:pPr lvl="0" algn="just">
              <a:buClr>
                <a:schemeClr val="dk1"/>
              </a:buClr>
              <a:buSzPts val="2400"/>
            </a:pPr>
            <a:r>
              <a:rPr lang="en-US" sz="2600" dirty="0">
                <a:sym typeface="Times New Roman"/>
              </a:rPr>
              <a:t>The network layer provides end-to-end packet delivery using datagrams or virtual circuits. The transport layer builds on the network layer to provide data transport from a process on a source machine to a process on a destination machine with a desired level of reliability that is independent of the physical networks currently in use.</a:t>
            </a:r>
            <a:endParaRPr lang="en-US" sz="2600" dirty="0"/>
          </a:p>
          <a:p>
            <a:pPr lvl="0" algn="just">
              <a:buClr>
                <a:schemeClr val="dk1"/>
              </a:buClr>
              <a:buSzPts val="2400"/>
            </a:pPr>
            <a:r>
              <a:rPr lang="en-US" sz="2600" dirty="0">
                <a:sym typeface="Times New Roman"/>
              </a:rPr>
              <a:t>It provides the abstractions that applications need to use the network.</a:t>
            </a:r>
            <a:endParaRPr lang="en-US" sz="2600" dirty="0"/>
          </a:p>
          <a:p>
            <a:r>
              <a:rPr lang="en-US" sz="2600" dirty="0">
                <a:solidFill>
                  <a:schemeClr val="tx1">
                    <a:lumMod val="20000"/>
                    <a:lumOff val="80000"/>
                  </a:schemeClr>
                </a:solidFill>
              </a:rPr>
              <a:t>The ultimate goal of the transport layer is to </a:t>
            </a:r>
            <a:r>
              <a:rPr lang="en-US" sz="2600" u="sng" dirty="0">
                <a:solidFill>
                  <a:schemeClr val="tx1">
                    <a:lumMod val="20000"/>
                    <a:lumOff val="80000"/>
                  </a:schemeClr>
                </a:solidFill>
              </a:rPr>
              <a:t>provide efficient, reliable, and cost-effective service to its users</a:t>
            </a:r>
            <a:r>
              <a:rPr lang="en-US" sz="2600" u="sng" dirty="0"/>
              <a:t>, </a:t>
            </a:r>
            <a:r>
              <a:rPr lang="en-US" sz="2600" dirty="0"/>
              <a:t>normally processes in the application layer.</a:t>
            </a:r>
          </a:p>
          <a:p>
            <a:r>
              <a:rPr lang="en-US" sz="2600" dirty="0"/>
              <a:t>To achieve this goal, the </a:t>
            </a:r>
            <a:r>
              <a:rPr lang="en-US" sz="2600" dirty="0">
                <a:solidFill>
                  <a:schemeClr val="tx1">
                    <a:lumMod val="20000"/>
                    <a:lumOff val="80000"/>
                  </a:schemeClr>
                </a:solidFill>
              </a:rPr>
              <a:t>transport layer </a:t>
            </a:r>
            <a:r>
              <a:rPr lang="en-US" sz="2600" u="sng" dirty="0">
                <a:solidFill>
                  <a:schemeClr val="tx1">
                    <a:lumMod val="20000"/>
                    <a:lumOff val="80000"/>
                  </a:schemeClr>
                </a:solidFill>
              </a:rPr>
              <a:t>makes use of the services provided by the network layer. </a:t>
            </a:r>
          </a:p>
          <a:p>
            <a:r>
              <a:rPr lang="en-US" sz="2600" u="sng" dirty="0"/>
              <a:t>The </a:t>
            </a:r>
            <a:r>
              <a:rPr lang="en-US" sz="2600" u="sng" dirty="0">
                <a:solidFill>
                  <a:schemeClr val="tx1">
                    <a:lumMod val="20000"/>
                    <a:lumOff val="80000"/>
                  </a:schemeClr>
                </a:solidFill>
              </a:rPr>
              <a:t>hardware and/or software </a:t>
            </a:r>
            <a:r>
              <a:rPr lang="en-US" sz="2600" dirty="0"/>
              <a:t>within the transport layer that does the work is called the </a:t>
            </a:r>
            <a:r>
              <a:rPr lang="en-US" sz="2600" b="1" dirty="0"/>
              <a:t>transport entity</a:t>
            </a:r>
            <a:r>
              <a:rPr lang="en-US" sz="2600" dirty="0"/>
              <a:t>. </a:t>
            </a:r>
          </a:p>
          <a:p>
            <a:r>
              <a:rPr lang="en-US" sz="2600" dirty="0"/>
              <a:t>The </a:t>
            </a:r>
            <a:r>
              <a:rPr lang="en-US" sz="2600" u="sng" dirty="0">
                <a:solidFill>
                  <a:schemeClr val="tx1">
                    <a:lumMod val="20000"/>
                    <a:lumOff val="80000"/>
                  </a:schemeClr>
                </a:solidFill>
              </a:rPr>
              <a:t>transport entity can be located in the operating system kernel, in a separate user process</a:t>
            </a:r>
            <a:r>
              <a:rPr lang="en-US" sz="2600" dirty="0"/>
              <a:t>, in a library package bound into network applications, or on the </a:t>
            </a:r>
            <a:r>
              <a:rPr lang="en-US" sz="2600" u="sng" dirty="0"/>
              <a:t>network interface card.</a:t>
            </a:r>
          </a:p>
        </p:txBody>
      </p:sp>
    </p:spTree>
    <p:extLst>
      <p:ext uri="{BB962C8B-B14F-4D97-AF65-F5344CB8AC3E}">
        <p14:creationId xmlns:p14="http://schemas.microsoft.com/office/powerpoint/2010/main" val="355497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E0B8E-4D1B-14B1-1966-F2CDDAF900C6}"/>
              </a:ext>
            </a:extLst>
          </p:cNvPr>
          <p:cNvSpPr>
            <a:spLocks noGrp="1"/>
          </p:cNvSpPr>
          <p:nvPr>
            <p:ph type="title"/>
          </p:nvPr>
        </p:nvSpPr>
        <p:spPr>
          <a:xfrm>
            <a:off x="597159" y="365126"/>
            <a:ext cx="10972800" cy="838523"/>
          </a:xfrm>
        </p:spPr>
        <p:txBody>
          <a:bodyPr>
            <a:noAutofit/>
          </a:bodyPr>
          <a:lstStyle/>
          <a:p>
            <a:r>
              <a:rPr lang="en-IN" sz="3200" b="1" dirty="0"/>
              <a:t>Transport Service-</a:t>
            </a:r>
            <a:r>
              <a:rPr lang="en-US" sz="3200" dirty="0"/>
              <a:t>Services Provided to the Upper Layers </a:t>
            </a:r>
            <a:endParaRPr lang="en-IN" sz="3200" dirty="0"/>
          </a:p>
        </p:txBody>
      </p:sp>
      <p:sp>
        <p:nvSpPr>
          <p:cNvPr id="3" name="Content Placeholder 2">
            <a:extLst>
              <a:ext uri="{FF2B5EF4-FFF2-40B4-BE49-F238E27FC236}">
                <a16:creationId xmlns:a16="http://schemas.microsoft.com/office/drawing/2014/main" id="{5E1BF7CF-CF76-2DD8-1082-6BACAD690BCF}"/>
              </a:ext>
            </a:extLst>
          </p:cNvPr>
          <p:cNvSpPr>
            <a:spLocks noGrp="1"/>
          </p:cNvSpPr>
          <p:nvPr>
            <p:ph idx="1"/>
          </p:nvPr>
        </p:nvSpPr>
        <p:spPr>
          <a:xfrm>
            <a:off x="597159" y="1492898"/>
            <a:ext cx="10756641" cy="4684065"/>
          </a:xfrm>
        </p:spPr>
        <p:txBody>
          <a:bodyPr>
            <a:normAutofit fontScale="77500" lnSpcReduction="20000"/>
          </a:bodyPr>
          <a:lstStyle/>
          <a:p>
            <a:r>
              <a:rPr lang="en-US" dirty="0"/>
              <a:t>The bottom four layers can be seen as the </a:t>
            </a:r>
            <a:r>
              <a:rPr lang="en-US" b="1" u="sng" dirty="0"/>
              <a:t>transport service provider</a:t>
            </a:r>
            <a:r>
              <a:rPr lang="en-US" dirty="0"/>
              <a:t>, whereas the upper layer(s) are the </a:t>
            </a:r>
            <a:r>
              <a:rPr lang="en-US" b="1" u="sng" dirty="0"/>
              <a:t>transport service user</a:t>
            </a:r>
            <a:r>
              <a:rPr lang="en-US" dirty="0"/>
              <a:t>.</a:t>
            </a:r>
          </a:p>
          <a:p>
            <a:r>
              <a:rPr lang="en-US" dirty="0">
                <a:sym typeface="Times New Roman"/>
              </a:rPr>
              <a:t>To allow users to access the transport service, the transport layer must provide some operations to application programs, that is, a transport service interface. Each transport service has its own interface.</a:t>
            </a:r>
            <a:endParaRPr lang="en-US" dirty="0"/>
          </a:p>
          <a:p>
            <a:r>
              <a:rPr lang="en-IN" b="1" dirty="0"/>
              <a:t>TPDU </a:t>
            </a:r>
            <a:r>
              <a:rPr lang="en-IN" dirty="0"/>
              <a:t>(</a:t>
            </a:r>
            <a:r>
              <a:rPr lang="en-IN" b="1" dirty="0"/>
              <a:t>Transport Protocol Data Unit</a:t>
            </a:r>
            <a:r>
              <a:rPr lang="en-IN" dirty="0"/>
              <a:t>) used for </a:t>
            </a:r>
            <a:r>
              <a:rPr lang="en-IN" u="sng" dirty="0">
                <a:solidFill>
                  <a:schemeClr val="tx1">
                    <a:lumMod val="20000"/>
                    <a:lumOff val="80000"/>
                  </a:schemeClr>
                </a:solidFill>
              </a:rPr>
              <a:t>messages sent</a:t>
            </a:r>
            <a:r>
              <a:rPr lang="en-IN" dirty="0">
                <a:solidFill>
                  <a:schemeClr val="tx1">
                    <a:lumMod val="20000"/>
                    <a:lumOff val="80000"/>
                  </a:schemeClr>
                </a:solidFill>
              </a:rPr>
              <a:t> </a:t>
            </a:r>
            <a:r>
              <a:rPr lang="en-US" dirty="0"/>
              <a:t>from transport entity to transport entity.</a:t>
            </a:r>
          </a:p>
          <a:p>
            <a:r>
              <a:rPr lang="en-US" dirty="0"/>
              <a:t>there are two types of network service, </a:t>
            </a:r>
            <a:r>
              <a:rPr lang="en-US" u="sng" dirty="0"/>
              <a:t>connection-oriented and connectionless</a:t>
            </a:r>
            <a:r>
              <a:rPr lang="en-US" dirty="0"/>
              <a:t>, there are also two types of transport service. </a:t>
            </a:r>
          </a:p>
          <a:p>
            <a:r>
              <a:rPr lang="en-US" dirty="0"/>
              <a:t>The connection-oriented transport service is similar to the connection-oriented network service in many ways. </a:t>
            </a:r>
          </a:p>
          <a:p>
            <a:r>
              <a:rPr lang="en-US" dirty="0"/>
              <a:t>In both cases, connections have three phases: </a:t>
            </a:r>
            <a:r>
              <a:rPr lang="en-US" dirty="0">
                <a:solidFill>
                  <a:schemeClr val="tx1">
                    <a:lumMod val="20000"/>
                    <a:lumOff val="80000"/>
                  </a:schemeClr>
                </a:solidFill>
              </a:rPr>
              <a:t>establishment, data transfer, and release. </a:t>
            </a:r>
          </a:p>
          <a:p>
            <a:r>
              <a:rPr lang="en-US" dirty="0">
                <a:solidFill>
                  <a:schemeClr val="tx1">
                    <a:lumMod val="20000"/>
                    <a:lumOff val="80000"/>
                  </a:schemeClr>
                </a:solidFill>
              </a:rPr>
              <a:t>Addressing and flow control </a:t>
            </a:r>
            <a:r>
              <a:rPr lang="en-US" dirty="0"/>
              <a:t>are also similar in both layers. </a:t>
            </a:r>
          </a:p>
          <a:p>
            <a:r>
              <a:rPr lang="en-US" dirty="0"/>
              <a:t>Furthermore, the connectionless transport service is also very similar to the connectionless network service. </a:t>
            </a:r>
            <a:endParaRPr lang="en-IN" dirty="0"/>
          </a:p>
        </p:txBody>
      </p:sp>
    </p:spTree>
    <p:extLst>
      <p:ext uri="{BB962C8B-B14F-4D97-AF65-F5344CB8AC3E}">
        <p14:creationId xmlns:p14="http://schemas.microsoft.com/office/powerpoint/2010/main" val="3964760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298799" y="485305"/>
            <a:ext cx="9869944" cy="5887390"/>
          </a:xfrm>
          <a:prstGeom prst="rect">
            <a:avLst/>
          </a:prstGeom>
        </p:spPr>
      </p:pic>
    </p:spTree>
    <p:extLst>
      <p:ext uri="{BB962C8B-B14F-4D97-AF65-F5344CB8AC3E}">
        <p14:creationId xmlns:p14="http://schemas.microsoft.com/office/powerpoint/2010/main" val="3531120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3010" y="337675"/>
            <a:ext cx="7729728" cy="576725"/>
          </a:xfrm>
        </p:spPr>
        <p:txBody>
          <a:bodyPr>
            <a:normAutofit fontScale="90000"/>
          </a:bodyPr>
          <a:lstStyle/>
          <a:p>
            <a:r>
              <a:rPr lang="en-IN" b="1" dirty="0"/>
              <a:t>Transport Service Primitives</a:t>
            </a:r>
            <a:endParaRPr lang="en-IN" dirty="0"/>
          </a:p>
        </p:txBody>
      </p:sp>
      <p:sp>
        <p:nvSpPr>
          <p:cNvPr id="3" name="Content Placeholder 2"/>
          <p:cNvSpPr>
            <a:spLocks noGrp="1"/>
          </p:cNvSpPr>
          <p:nvPr>
            <p:ph idx="1"/>
          </p:nvPr>
        </p:nvSpPr>
        <p:spPr>
          <a:xfrm>
            <a:off x="838200" y="1423852"/>
            <a:ext cx="10515600" cy="2116183"/>
          </a:xfrm>
        </p:spPr>
        <p:txBody>
          <a:bodyPr>
            <a:normAutofit/>
          </a:bodyPr>
          <a:lstStyle/>
          <a:p>
            <a:r>
              <a:rPr lang="en-US" sz="2400" dirty="0"/>
              <a:t>Packets are contained in frames .When a frame arrives, the </a:t>
            </a:r>
            <a:r>
              <a:rPr lang="en-US" sz="2400" u="sng" dirty="0"/>
              <a:t>data link layer </a:t>
            </a:r>
            <a:r>
              <a:rPr lang="en-US" sz="2400" dirty="0"/>
              <a:t>processes the frame header and passes the contents of the frame </a:t>
            </a:r>
            <a:r>
              <a:rPr lang="en-US" sz="2400" u="sng" dirty="0"/>
              <a:t>payload field up to the network entity</a:t>
            </a:r>
            <a:r>
              <a:rPr lang="en-US" sz="2400" dirty="0"/>
              <a:t>. </a:t>
            </a:r>
          </a:p>
          <a:p>
            <a:r>
              <a:rPr lang="en-US" sz="2400" dirty="0"/>
              <a:t>The network entity processes the packet header and passes the contents of the packet payload </a:t>
            </a:r>
            <a:r>
              <a:rPr lang="en-US" sz="2400" u="sng" dirty="0"/>
              <a:t>up to the transport entity.</a:t>
            </a:r>
            <a:endParaRPr lang="en-IN" sz="2400" u="sng" dirty="0"/>
          </a:p>
        </p:txBody>
      </p:sp>
      <p:pic>
        <p:nvPicPr>
          <p:cNvPr id="4" name="Picture 3"/>
          <p:cNvPicPr>
            <a:picLocks noChangeAspect="1"/>
          </p:cNvPicPr>
          <p:nvPr/>
        </p:nvPicPr>
        <p:blipFill>
          <a:blip r:embed="rId2"/>
          <a:stretch>
            <a:fillRect/>
          </a:stretch>
        </p:blipFill>
        <p:spPr>
          <a:xfrm>
            <a:off x="1663010" y="3540035"/>
            <a:ext cx="8290888" cy="2677887"/>
          </a:xfrm>
          <a:prstGeom prst="rect">
            <a:avLst/>
          </a:prstGeom>
        </p:spPr>
      </p:pic>
    </p:spTree>
    <p:extLst>
      <p:ext uri="{BB962C8B-B14F-4D97-AF65-F5344CB8AC3E}">
        <p14:creationId xmlns:p14="http://schemas.microsoft.com/office/powerpoint/2010/main" val="4110486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2D621-F27E-32B7-1C2F-040A3DBF6B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1E2D80-90CC-6F75-3CE2-2D63738FDC4E}"/>
              </a:ext>
            </a:extLst>
          </p:cNvPr>
          <p:cNvSpPr>
            <a:spLocks noGrp="1"/>
          </p:cNvSpPr>
          <p:nvPr>
            <p:ph idx="1"/>
          </p:nvPr>
        </p:nvSpPr>
        <p:spPr>
          <a:xfrm>
            <a:off x="513183" y="1950097"/>
            <a:ext cx="11084767" cy="4542778"/>
          </a:xfrm>
        </p:spPr>
        <p:txBody>
          <a:bodyPr>
            <a:normAutofit fontScale="85000" lnSpcReduction="20000"/>
          </a:bodyPr>
          <a:lstStyle/>
          <a:p>
            <a:pPr marL="571500" indent="-457200">
              <a:buSzPts val="1800"/>
            </a:pPr>
            <a:r>
              <a:rPr lang="en-US" dirty="0"/>
              <a:t>To allow users to access the transport service, the transport layer must provide some operations to application programs, that is, a transport service interface. Each transport service has its own interface. </a:t>
            </a:r>
          </a:p>
          <a:p>
            <a:pPr marL="571500" indent="-457200">
              <a:buSzPts val="1800"/>
            </a:pPr>
            <a:r>
              <a:rPr lang="en-US" dirty="0"/>
              <a:t>The transport service is similar to the network service, but there are also some important differences. The main difference is that the network service is intended to model the service offered by real networks and all. Real networks can lose packets, so the network service is generally unreliable. </a:t>
            </a:r>
          </a:p>
          <a:p>
            <a:pPr marL="571500" indent="-457200">
              <a:buSzPts val="1800"/>
            </a:pPr>
            <a:r>
              <a:rPr lang="en-US" dirty="0"/>
              <a:t>The connection-oriented transport service, in contrast, is reliable. Of course, real networks are not error-free, but that is precisely the purpose of the transport layer—to provide a reliable service on top of an unreliable network.</a:t>
            </a:r>
          </a:p>
          <a:p>
            <a:pPr marL="571500" indent="-457200">
              <a:buSzPts val="1800"/>
            </a:pPr>
            <a:r>
              <a:rPr lang="en-US" dirty="0"/>
              <a:t>A second difference between the network service and transport service is that the services are intended for. The network service is used only by the transport entities. Few users write their own transport entities, and thus few users or programs ever (meaning always/forever/still) see the bare network service</a:t>
            </a:r>
          </a:p>
          <a:p>
            <a:pPr marL="571500" indent="-457200">
              <a:buSzPts val="1800"/>
            </a:pPr>
            <a:endParaRPr lang="en-US" dirty="0"/>
          </a:p>
          <a:p>
            <a:pPr marL="571500" indent="-457200">
              <a:buSzPts val="1800"/>
            </a:pPr>
            <a:endParaRPr lang="en-US" dirty="0"/>
          </a:p>
          <a:p>
            <a:endParaRPr lang="en-IN" dirty="0"/>
          </a:p>
        </p:txBody>
      </p:sp>
    </p:spTree>
    <p:extLst>
      <p:ext uri="{BB962C8B-B14F-4D97-AF65-F5344CB8AC3E}">
        <p14:creationId xmlns:p14="http://schemas.microsoft.com/office/powerpoint/2010/main" val="3620025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33434" y="1881051"/>
            <a:ext cx="10120366" cy="3077087"/>
          </a:xfrm>
          <a:prstGeom prst="rect">
            <a:avLst/>
          </a:prstGeom>
        </p:spPr>
      </p:pic>
    </p:spTree>
    <p:extLst>
      <p:ext uri="{BB962C8B-B14F-4D97-AF65-F5344CB8AC3E}">
        <p14:creationId xmlns:p14="http://schemas.microsoft.com/office/powerpoint/2010/main" val="4236986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0D64B9-C015-7E0D-F782-8563FAE82053}"/>
              </a:ext>
            </a:extLst>
          </p:cNvPr>
          <p:cNvSpPr>
            <a:spLocks noGrp="1"/>
          </p:cNvSpPr>
          <p:nvPr>
            <p:ph idx="1"/>
          </p:nvPr>
        </p:nvSpPr>
        <p:spPr>
          <a:xfrm>
            <a:off x="513184" y="1838131"/>
            <a:ext cx="10840616" cy="4338832"/>
          </a:xfrm>
        </p:spPr>
        <p:txBody>
          <a:bodyPr>
            <a:normAutofit/>
          </a:bodyPr>
          <a:lstStyle/>
          <a:p>
            <a:pPr marL="457200" lvl="0" indent="-342900">
              <a:buSzPts val="1800"/>
              <a:buChar char="●"/>
            </a:pPr>
            <a:r>
              <a:rPr lang="en-US" dirty="0"/>
              <a:t>Sockets were first released as part of the Berkeley UNIX 4.2BSD software distribution in 1983. They quickly became popular. The primitives are now widely used for Internet programming on many operating system.</a:t>
            </a:r>
          </a:p>
          <a:p>
            <a:pPr marL="457200" lvl="0" indent="-406400">
              <a:spcBef>
                <a:spcPts val="0"/>
              </a:spcBef>
              <a:buSzPts val="2800"/>
              <a:buFont typeface="Calibri"/>
              <a:buChar char="●"/>
            </a:pPr>
            <a:r>
              <a:rPr lang="en-US" dirty="0"/>
              <a:t>Socket Programming is a method to connect two nodes over a network to establish a means of communication between those two nodes. A node represents a computer or a physical device with an internet connection. </a:t>
            </a:r>
          </a:p>
          <a:p>
            <a:pPr marL="457200" lvl="0" indent="-406400">
              <a:spcBef>
                <a:spcPts val="0"/>
              </a:spcBef>
              <a:buSzPts val="2800"/>
              <a:buFont typeface="Calibri"/>
              <a:buChar char="●"/>
            </a:pPr>
            <a:r>
              <a:rPr lang="en-US" dirty="0">
                <a:solidFill>
                  <a:schemeClr val="tx1">
                    <a:lumMod val="20000"/>
                    <a:lumOff val="80000"/>
                  </a:schemeClr>
                </a:solidFill>
              </a:rPr>
              <a:t>A socket is the endpoint used for connecting to a node. </a:t>
            </a:r>
            <a:r>
              <a:rPr lang="en-US" dirty="0"/>
              <a:t>The signals required to implement the connection between two nodes are sent and received using the sockets on each node respectively.</a:t>
            </a:r>
          </a:p>
          <a:p>
            <a:endParaRPr lang="en-IN" dirty="0"/>
          </a:p>
        </p:txBody>
      </p:sp>
      <p:sp>
        <p:nvSpPr>
          <p:cNvPr id="4" name="Title 1">
            <a:extLst>
              <a:ext uri="{FF2B5EF4-FFF2-40B4-BE49-F238E27FC236}">
                <a16:creationId xmlns:a16="http://schemas.microsoft.com/office/drawing/2014/main" id="{4F419602-8EC1-3B84-1705-2C3B7F7C55E8}"/>
              </a:ext>
            </a:extLst>
          </p:cNvPr>
          <p:cNvSpPr>
            <a:spLocks noGrp="1"/>
          </p:cNvSpPr>
          <p:nvPr>
            <p:ph type="title"/>
          </p:nvPr>
        </p:nvSpPr>
        <p:spPr>
          <a:xfrm>
            <a:off x="838200" y="365125"/>
            <a:ext cx="10515600" cy="1325563"/>
          </a:xfrm>
        </p:spPr>
        <p:txBody>
          <a:bodyPr>
            <a:normAutofit/>
          </a:bodyPr>
          <a:lstStyle/>
          <a:p>
            <a:r>
              <a:rPr lang="en-IN" b="1" dirty="0"/>
              <a:t>Berkeley Sockets</a:t>
            </a:r>
            <a:endParaRPr lang="en-IN" dirty="0"/>
          </a:p>
        </p:txBody>
      </p:sp>
    </p:spTree>
    <p:extLst>
      <p:ext uri="{BB962C8B-B14F-4D97-AF65-F5344CB8AC3E}">
        <p14:creationId xmlns:p14="http://schemas.microsoft.com/office/powerpoint/2010/main" val="674711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1646" y="594169"/>
            <a:ext cx="7729728" cy="602851"/>
          </a:xfrm>
        </p:spPr>
        <p:txBody>
          <a:bodyPr>
            <a:normAutofit fontScale="90000"/>
          </a:bodyPr>
          <a:lstStyle/>
          <a:p>
            <a:r>
              <a:rPr lang="en-IN" b="1" dirty="0"/>
              <a:t>Berkeley Sockets</a:t>
            </a:r>
            <a:endParaRPr lang="en-IN" dirty="0"/>
          </a:p>
        </p:txBody>
      </p:sp>
      <p:sp>
        <p:nvSpPr>
          <p:cNvPr id="3" name="Content Placeholder 2"/>
          <p:cNvSpPr>
            <a:spLocks noGrp="1"/>
          </p:cNvSpPr>
          <p:nvPr>
            <p:ph idx="1"/>
          </p:nvPr>
        </p:nvSpPr>
        <p:spPr>
          <a:xfrm>
            <a:off x="838200" y="1825625"/>
            <a:ext cx="10515600" cy="1257209"/>
          </a:xfrm>
        </p:spPr>
        <p:txBody>
          <a:bodyPr>
            <a:normAutofit/>
          </a:bodyPr>
          <a:lstStyle/>
          <a:p>
            <a:r>
              <a:rPr lang="en-US" sz="2400" dirty="0"/>
              <a:t>the socket primitives used in Berkeley UNIX for TCP, These primitives are widely used for Internet programming</a:t>
            </a:r>
            <a:endParaRPr lang="en-IN" sz="2400" dirty="0"/>
          </a:p>
        </p:txBody>
      </p:sp>
      <p:pic>
        <p:nvPicPr>
          <p:cNvPr id="4" name="Picture 3"/>
          <p:cNvPicPr>
            <a:picLocks noChangeAspect="1"/>
          </p:cNvPicPr>
          <p:nvPr/>
        </p:nvPicPr>
        <p:blipFill>
          <a:blip r:embed="rId2"/>
          <a:stretch>
            <a:fillRect/>
          </a:stretch>
        </p:blipFill>
        <p:spPr>
          <a:xfrm>
            <a:off x="1561066" y="3082834"/>
            <a:ext cx="8719403" cy="3318766"/>
          </a:xfrm>
          <a:prstGeom prst="rect">
            <a:avLst/>
          </a:prstGeom>
        </p:spPr>
      </p:pic>
    </p:spTree>
    <p:extLst>
      <p:ext uri="{BB962C8B-B14F-4D97-AF65-F5344CB8AC3E}">
        <p14:creationId xmlns:p14="http://schemas.microsoft.com/office/powerpoint/2010/main" val="3500684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3851" y="964692"/>
            <a:ext cx="9183189" cy="615914"/>
          </a:xfrm>
        </p:spPr>
        <p:txBody>
          <a:bodyPr>
            <a:normAutofit fontScale="90000"/>
          </a:bodyPr>
          <a:lstStyle/>
          <a:p>
            <a:r>
              <a:rPr lang="en-US" dirty="0"/>
              <a:t>Server side</a:t>
            </a:r>
            <a:endParaRPr lang="en-IN" dirty="0"/>
          </a:p>
        </p:txBody>
      </p:sp>
      <p:sp>
        <p:nvSpPr>
          <p:cNvPr id="3" name="Content Placeholder 2"/>
          <p:cNvSpPr>
            <a:spLocks noGrp="1"/>
          </p:cNvSpPr>
          <p:nvPr>
            <p:ph idx="1"/>
          </p:nvPr>
        </p:nvSpPr>
        <p:spPr>
          <a:xfrm>
            <a:off x="746449" y="1772817"/>
            <a:ext cx="11066106" cy="4665305"/>
          </a:xfrm>
        </p:spPr>
        <p:txBody>
          <a:bodyPr>
            <a:normAutofit/>
          </a:bodyPr>
          <a:lstStyle/>
          <a:p>
            <a:r>
              <a:rPr lang="en-US" dirty="0"/>
              <a:t>The SOCKET primitive creates a </a:t>
            </a:r>
            <a:r>
              <a:rPr lang="en-US" u="sng" dirty="0"/>
              <a:t>new end point and allocates table space for it within the transport entity.</a:t>
            </a:r>
          </a:p>
          <a:p>
            <a:r>
              <a:rPr lang="en-US" dirty="0"/>
              <a:t>A successful SOCKET call </a:t>
            </a:r>
            <a:r>
              <a:rPr lang="en-US" u="sng" dirty="0"/>
              <a:t>returns an ordinary file descriptor for use in succeeding calls.</a:t>
            </a:r>
          </a:p>
          <a:p>
            <a:r>
              <a:rPr lang="en-US" u="sng" dirty="0"/>
              <a:t>Newly-created sockets do not have network addresses. These are assigned using the BIND primitive. </a:t>
            </a:r>
            <a:r>
              <a:rPr lang="en-US" dirty="0"/>
              <a:t>Once a server has bound an address to a socket, remote clients can connect to it.</a:t>
            </a:r>
          </a:p>
          <a:p>
            <a:r>
              <a:rPr lang="en-US" dirty="0"/>
              <a:t>Next comes the LISTEN call, which </a:t>
            </a:r>
            <a:r>
              <a:rPr lang="en-US" u="sng" dirty="0"/>
              <a:t>allocates space to queue incoming calls for the case that several clients try to connect at the same time. </a:t>
            </a:r>
            <a:endParaRPr lang="en-IN" dirty="0"/>
          </a:p>
        </p:txBody>
      </p:sp>
    </p:spTree>
    <p:extLst>
      <p:ext uri="{BB962C8B-B14F-4D97-AF65-F5344CB8AC3E}">
        <p14:creationId xmlns:p14="http://schemas.microsoft.com/office/powerpoint/2010/main" val="1225158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2777" y="964692"/>
            <a:ext cx="8968087" cy="485285"/>
          </a:xfrm>
        </p:spPr>
        <p:txBody>
          <a:bodyPr>
            <a:normAutofit fontScale="90000"/>
          </a:bodyPr>
          <a:lstStyle/>
          <a:p>
            <a:endParaRPr lang="en-IN" dirty="0"/>
          </a:p>
        </p:txBody>
      </p:sp>
      <p:sp>
        <p:nvSpPr>
          <p:cNvPr id="3" name="Content Placeholder 2"/>
          <p:cNvSpPr>
            <a:spLocks noGrp="1"/>
          </p:cNvSpPr>
          <p:nvPr>
            <p:ph idx="1"/>
          </p:nvPr>
        </p:nvSpPr>
        <p:spPr>
          <a:xfrm>
            <a:off x="992777" y="1802674"/>
            <a:ext cx="9810205" cy="3937354"/>
          </a:xfrm>
        </p:spPr>
        <p:txBody>
          <a:bodyPr>
            <a:normAutofit/>
          </a:bodyPr>
          <a:lstStyle/>
          <a:p>
            <a:r>
              <a:rPr lang="en-US" u="sng" dirty="0"/>
              <a:t>To block waiting for an incoming connection, </a:t>
            </a:r>
            <a:r>
              <a:rPr lang="en-US" dirty="0"/>
              <a:t>the server executes an ACCEPT primitive. When a TPDU asking for a connection arrives, the transport entity creates a new socket with the same properties as the original one and returns a file descriptor for it.</a:t>
            </a:r>
          </a:p>
          <a:p>
            <a:r>
              <a:rPr lang="en-US" dirty="0"/>
              <a:t>ACCEPT returns a </a:t>
            </a:r>
            <a:r>
              <a:rPr lang="en-US" u="sng" dirty="0"/>
              <a:t>normal file descriptor, which can be used for reading and writing in the standard way</a:t>
            </a:r>
            <a:r>
              <a:rPr lang="en-US" dirty="0"/>
              <a:t>, </a:t>
            </a:r>
            <a:r>
              <a:rPr lang="en-US" sz="3200" dirty="0"/>
              <a:t>the</a:t>
            </a:r>
            <a:r>
              <a:rPr lang="en-US" dirty="0"/>
              <a:t> same as for files.</a:t>
            </a:r>
            <a:endParaRPr lang="en-IN" dirty="0"/>
          </a:p>
        </p:txBody>
      </p:sp>
    </p:spTree>
    <p:extLst>
      <p:ext uri="{BB962C8B-B14F-4D97-AF65-F5344CB8AC3E}">
        <p14:creationId xmlns:p14="http://schemas.microsoft.com/office/powerpoint/2010/main" val="3077472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223" y="651183"/>
            <a:ext cx="8523949" cy="642040"/>
          </a:xfrm>
        </p:spPr>
        <p:txBody>
          <a:bodyPr>
            <a:normAutofit fontScale="90000"/>
          </a:bodyPr>
          <a:lstStyle/>
          <a:p>
            <a:r>
              <a:rPr lang="en-US" dirty="0"/>
              <a:t>Client side</a:t>
            </a:r>
            <a:endParaRPr lang="en-IN" dirty="0"/>
          </a:p>
        </p:txBody>
      </p:sp>
      <p:sp>
        <p:nvSpPr>
          <p:cNvPr id="3" name="Content Placeholder 2"/>
          <p:cNvSpPr>
            <a:spLocks noGrp="1"/>
          </p:cNvSpPr>
          <p:nvPr>
            <p:ph idx="1"/>
          </p:nvPr>
        </p:nvSpPr>
        <p:spPr>
          <a:xfrm>
            <a:off x="692642" y="1293223"/>
            <a:ext cx="10806716" cy="4786604"/>
          </a:xfrm>
        </p:spPr>
        <p:txBody>
          <a:bodyPr>
            <a:noAutofit/>
          </a:bodyPr>
          <a:lstStyle/>
          <a:p>
            <a:r>
              <a:rPr lang="en-US" dirty="0"/>
              <a:t>a socket must first be </a:t>
            </a:r>
            <a:r>
              <a:rPr lang="en-US" u="sng" dirty="0"/>
              <a:t>created using the SOCKET primitive</a:t>
            </a:r>
            <a:r>
              <a:rPr lang="en-US" dirty="0"/>
              <a:t>, but BIND is not required since the address used does not matter to the server.</a:t>
            </a:r>
          </a:p>
          <a:p>
            <a:r>
              <a:rPr lang="en-IN" dirty="0"/>
              <a:t>The </a:t>
            </a:r>
            <a:r>
              <a:rPr lang="en-US" dirty="0"/>
              <a:t>CONNECT primitive</a:t>
            </a:r>
            <a:r>
              <a:rPr lang="en-US" u="sng" dirty="0"/>
              <a:t> blocks the caller and actively starts the connection process. </a:t>
            </a:r>
            <a:r>
              <a:rPr lang="en-US" dirty="0"/>
              <a:t>When it completes (i.e., when the appropriate TPDU is received from the server), the </a:t>
            </a:r>
            <a:r>
              <a:rPr lang="en-US" u="sng" dirty="0"/>
              <a:t>client process is unblocked and the connection is established.</a:t>
            </a:r>
          </a:p>
          <a:p>
            <a:r>
              <a:rPr lang="en-US" dirty="0"/>
              <a:t>Both sides can now use </a:t>
            </a:r>
            <a:r>
              <a:rPr lang="en-US" u="sng" dirty="0"/>
              <a:t>SEND and RECV to transmit and receive data over the full-duplex connection</a:t>
            </a:r>
            <a:r>
              <a:rPr lang="en-US" dirty="0"/>
              <a:t>. The standard UNIX READ and WRITE system calls can also be used if none of the special options of SEND and RECV are </a:t>
            </a:r>
            <a:r>
              <a:rPr lang="en-IN" dirty="0"/>
              <a:t>required.</a:t>
            </a:r>
          </a:p>
          <a:p>
            <a:r>
              <a:rPr lang="en-US" u="sng" dirty="0"/>
              <a:t>Connection release </a:t>
            </a:r>
            <a:r>
              <a:rPr lang="en-US" dirty="0"/>
              <a:t>with sockets is symmetric. When both sides have </a:t>
            </a:r>
            <a:r>
              <a:rPr lang="en-US" u="sng" dirty="0"/>
              <a:t>executed a CLOSE </a:t>
            </a:r>
            <a:r>
              <a:rPr lang="en-US" dirty="0"/>
              <a:t>primitive, the connection is released.</a:t>
            </a:r>
            <a:endParaRPr lang="en-IN" dirty="0"/>
          </a:p>
        </p:txBody>
      </p:sp>
    </p:spTree>
    <p:extLst>
      <p:ext uri="{BB962C8B-B14F-4D97-AF65-F5344CB8AC3E}">
        <p14:creationId xmlns:p14="http://schemas.microsoft.com/office/powerpoint/2010/main" val="1413302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83B4-C943-4F61-2212-356BF59B361F}"/>
              </a:ext>
            </a:extLst>
          </p:cNvPr>
          <p:cNvSpPr>
            <a:spLocks noGrp="1"/>
          </p:cNvSpPr>
          <p:nvPr>
            <p:ph type="title"/>
          </p:nvPr>
        </p:nvSpPr>
        <p:spPr>
          <a:xfrm>
            <a:off x="474306" y="290481"/>
            <a:ext cx="10515600" cy="698564"/>
          </a:xfrm>
        </p:spPr>
        <p:txBody>
          <a:bodyPr>
            <a:normAutofit fontScale="90000"/>
          </a:bodyPr>
          <a:lstStyle/>
          <a:p>
            <a:r>
              <a:rPr lang="en-US" sz="3600" b="1" dirty="0"/>
              <a:t>An example for socket programming(lab program)</a:t>
            </a:r>
            <a:endParaRPr lang="en-IN" sz="3600" b="1" dirty="0"/>
          </a:p>
        </p:txBody>
      </p:sp>
      <p:sp>
        <p:nvSpPr>
          <p:cNvPr id="3" name="Content Placeholder 2">
            <a:extLst>
              <a:ext uri="{FF2B5EF4-FFF2-40B4-BE49-F238E27FC236}">
                <a16:creationId xmlns:a16="http://schemas.microsoft.com/office/drawing/2014/main" id="{BDCBF27C-5B14-EF1B-04B2-F1E423B51A34}"/>
              </a:ext>
            </a:extLst>
          </p:cNvPr>
          <p:cNvSpPr>
            <a:spLocks noGrp="1"/>
          </p:cNvSpPr>
          <p:nvPr>
            <p:ph idx="1"/>
          </p:nvPr>
        </p:nvSpPr>
        <p:spPr>
          <a:xfrm>
            <a:off x="474306" y="1127060"/>
            <a:ext cx="11114314" cy="5273739"/>
          </a:xfrm>
        </p:spPr>
        <p:txBody>
          <a:bodyPr/>
          <a:lstStyle/>
          <a:p>
            <a:pPr marL="457200" lvl="0" indent="-393065">
              <a:lnSpc>
                <a:spcPct val="115000"/>
              </a:lnSpc>
              <a:buClr>
                <a:schemeClr val="dk1"/>
              </a:buClr>
              <a:buSzPct val="100000"/>
              <a:buFont typeface="Calibri"/>
              <a:buChar char="●"/>
            </a:pPr>
            <a:r>
              <a:rPr lang="en-US" dirty="0"/>
              <a:t>The nodes are divided into two types, server node and client node.</a:t>
            </a:r>
          </a:p>
          <a:p>
            <a:pPr marL="457200" lvl="0" indent="-393065">
              <a:lnSpc>
                <a:spcPct val="115000"/>
              </a:lnSpc>
              <a:spcBef>
                <a:spcPts val="0"/>
              </a:spcBef>
              <a:buClr>
                <a:schemeClr val="dk1"/>
              </a:buClr>
              <a:buSzPct val="100000"/>
              <a:buFont typeface="Calibri"/>
              <a:buChar char="●"/>
            </a:pPr>
            <a:r>
              <a:rPr lang="en-US" dirty="0"/>
              <a:t>The client node sends the connection signal and the server node receives the connection signal sent by the client node.</a:t>
            </a:r>
          </a:p>
          <a:p>
            <a:pPr marL="457200" lvl="0" indent="-393065">
              <a:lnSpc>
                <a:spcPct val="115000"/>
              </a:lnSpc>
              <a:spcBef>
                <a:spcPts val="0"/>
              </a:spcBef>
              <a:buClr>
                <a:schemeClr val="dk1"/>
              </a:buClr>
              <a:buSzPct val="100000"/>
              <a:buFont typeface="Calibri"/>
              <a:buChar char="●"/>
            </a:pPr>
            <a:r>
              <a:rPr lang="en-US" dirty="0"/>
              <a:t>The connection between a server and client node is established using the socket over the transport layer of the internet.</a:t>
            </a:r>
          </a:p>
          <a:p>
            <a:pPr marL="457200" lvl="0" indent="-393065">
              <a:lnSpc>
                <a:spcPct val="115000"/>
              </a:lnSpc>
              <a:spcBef>
                <a:spcPts val="0"/>
              </a:spcBef>
              <a:buClr>
                <a:schemeClr val="dk1"/>
              </a:buClr>
              <a:buSzPct val="100000"/>
              <a:buFont typeface="Calibri"/>
              <a:buChar char="●"/>
            </a:pPr>
            <a:r>
              <a:rPr lang="en-US" dirty="0"/>
              <a:t>After a connection has been established, the client and server nodes can share information between them using the read and write commands.</a:t>
            </a:r>
          </a:p>
          <a:p>
            <a:pPr marL="457200" lvl="0" indent="-393065">
              <a:lnSpc>
                <a:spcPct val="115000"/>
              </a:lnSpc>
              <a:spcBef>
                <a:spcPts val="0"/>
              </a:spcBef>
              <a:buClr>
                <a:schemeClr val="dk1"/>
              </a:buClr>
              <a:buSzPct val="100000"/>
              <a:buFont typeface="Calibri"/>
              <a:buChar char="●"/>
            </a:pPr>
            <a:r>
              <a:rPr lang="en-US" dirty="0"/>
              <a:t>After sharing of information is done, the nodes terminate the connection.</a:t>
            </a:r>
          </a:p>
          <a:p>
            <a:endParaRPr lang="en-IN" dirty="0"/>
          </a:p>
        </p:txBody>
      </p:sp>
    </p:spTree>
    <p:extLst>
      <p:ext uri="{BB962C8B-B14F-4D97-AF65-F5344CB8AC3E}">
        <p14:creationId xmlns:p14="http://schemas.microsoft.com/office/powerpoint/2010/main" val="2225452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187B4-522B-9B7F-421F-3CAE07334C8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E2D33CC-909E-87FC-6A9E-5ACDE262D182}"/>
              </a:ext>
            </a:extLst>
          </p:cNvPr>
          <p:cNvPicPr>
            <a:picLocks noGrp="1" noChangeAspect="1"/>
          </p:cNvPicPr>
          <p:nvPr>
            <p:ph idx="1"/>
          </p:nvPr>
        </p:nvPicPr>
        <p:blipFill>
          <a:blip r:embed="rId2"/>
          <a:stretch>
            <a:fillRect/>
          </a:stretch>
        </p:blipFill>
        <p:spPr>
          <a:xfrm>
            <a:off x="2357487" y="256850"/>
            <a:ext cx="7668687" cy="6395877"/>
          </a:xfrm>
          <a:prstGeom prst="rect">
            <a:avLst/>
          </a:prstGeom>
        </p:spPr>
      </p:pic>
    </p:spTree>
    <p:extLst>
      <p:ext uri="{BB962C8B-B14F-4D97-AF65-F5344CB8AC3E}">
        <p14:creationId xmlns:p14="http://schemas.microsoft.com/office/powerpoint/2010/main" val="2906710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964692"/>
            <a:ext cx="10173789" cy="602851"/>
          </a:xfrm>
        </p:spPr>
        <p:txBody>
          <a:bodyPr>
            <a:normAutofit fontScale="90000"/>
          </a:bodyPr>
          <a:lstStyle/>
          <a:p>
            <a:r>
              <a:rPr lang="en-IN" b="1" dirty="0"/>
              <a:t>Elements of Transport Protocols</a:t>
            </a:r>
            <a:endParaRPr lang="en-IN" dirty="0"/>
          </a:p>
        </p:txBody>
      </p:sp>
      <p:sp>
        <p:nvSpPr>
          <p:cNvPr id="3" name="Content Placeholder 2"/>
          <p:cNvSpPr>
            <a:spLocks noGrp="1"/>
          </p:cNvSpPr>
          <p:nvPr>
            <p:ph idx="1"/>
          </p:nvPr>
        </p:nvSpPr>
        <p:spPr>
          <a:xfrm>
            <a:off x="838200" y="1877876"/>
            <a:ext cx="10515600" cy="4274730"/>
          </a:xfrm>
        </p:spPr>
        <p:txBody>
          <a:bodyPr>
            <a:normAutofit/>
          </a:bodyPr>
          <a:lstStyle/>
          <a:p>
            <a:r>
              <a:rPr lang="en-US" sz="2400" dirty="0"/>
              <a:t>For another thing, the process of establishing a connection over the </a:t>
            </a:r>
            <a:r>
              <a:rPr lang="en-US" sz="2400" u="sng" dirty="0"/>
              <a:t>wire is simple: the other end is always there . </a:t>
            </a:r>
          </a:p>
          <a:p>
            <a:r>
              <a:rPr lang="en-US" sz="2400" dirty="0"/>
              <a:t>In the </a:t>
            </a:r>
            <a:r>
              <a:rPr lang="en-US" sz="2400" u="sng" dirty="0"/>
              <a:t>transport layer, initial connection establishment is </a:t>
            </a:r>
            <a:r>
              <a:rPr lang="en-IN" sz="2400" u="sng" dirty="0"/>
              <a:t>more complicated.</a:t>
            </a:r>
          </a:p>
          <a:p>
            <a:r>
              <a:rPr lang="en-US" sz="2400" dirty="0"/>
              <a:t>difference between the data link layer and the transport layer is the potential </a:t>
            </a:r>
            <a:r>
              <a:rPr lang="en-US" sz="2400" u="sng" dirty="0"/>
              <a:t>existence of storage capacity in the subnet.</a:t>
            </a:r>
          </a:p>
          <a:p>
            <a:r>
              <a:rPr lang="en-US" sz="2400" dirty="0"/>
              <a:t>A final difference between the data link and transport layers is ,</a:t>
            </a:r>
            <a:r>
              <a:rPr lang="en-IN" sz="2400" dirty="0"/>
              <a:t>In </a:t>
            </a:r>
            <a:r>
              <a:rPr lang="en-US" sz="2400" dirty="0"/>
              <a:t>the transport layer, </a:t>
            </a:r>
            <a:r>
              <a:rPr lang="en-US" sz="2400" u="sng" dirty="0"/>
              <a:t>the larger number of connections that must be managed</a:t>
            </a:r>
            <a:endParaRPr lang="en-IN" sz="2400" dirty="0"/>
          </a:p>
        </p:txBody>
      </p:sp>
    </p:spTree>
    <p:extLst>
      <p:ext uri="{BB962C8B-B14F-4D97-AF65-F5344CB8AC3E}">
        <p14:creationId xmlns:p14="http://schemas.microsoft.com/office/powerpoint/2010/main" val="907102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389"/>
            <a:ext cx="10515600" cy="1194299"/>
          </a:xfrm>
        </p:spPr>
        <p:txBody>
          <a:bodyPr>
            <a:noAutofit/>
          </a:bodyPr>
          <a:lstStyle/>
          <a:p>
            <a:r>
              <a:rPr lang="en-US" sz="2800" b="1" i="1" dirty="0"/>
              <a:t>(a) Environment of the data link layer. </a:t>
            </a:r>
            <a:br>
              <a:rPr lang="en-US" sz="2800" b="1" i="1" dirty="0"/>
            </a:br>
            <a:r>
              <a:rPr lang="en-US" sz="2800" b="1" i="1" dirty="0"/>
              <a:t>(b) Environment of </a:t>
            </a:r>
            <a:r>
              <a:rPr lang="en-IN" sz="2800" b="1" i="1" dirty="0"/>
              <a:t>the transport layer.</a:t>
            </a:r>
            <a:endParaRPr lang="en-IN" sz="2800" dirty="0"/>
          </a:p>
        </p:txBody>
      </p:sp>
      <p:pic>
        <p:nvPicPr>
          <p:cNvPr id="4" name="Content Placeholder 3"/>
          <p:cNvPicPr>
            <a:picLocks noGrp="1" noChangeAspect="1"/>
          </p:cNvPicPr>
          <p:nvPr>
            <p:ph idx="1"/>
          </p:nvPr>
        </p:nvPicPr>
        <p:blipFill>
          <a:blip r:embed="rId2"/>
          <a:stretch>
            <a:fillRect/>
          </a:stretch>
        </p:blipFill>
        <p:spPr>
          <a:xfrm>
            <a:off x="1227907" y="2336708"/>
            <a:ext cx="9248503" cy="3188881"/>
          </a:xfrm>
          <a:prstGeom prst="rect">
            <a:avLst/>
          </a:prstGeom>
        </p:spPr>
      </p:pic>
    </p:spTree>
    <p:extLst>
      <p:ext uri="{BB962C8B-B14F-4D97-AF65-F5344CB8AC3E}">
        <p14:creationId xmlns:p14="http://schemas.microsoft.com/office/powerpoint/2010/main" val="2583396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65FA-1B93-235C-8EB3-CC34E186DC4F}"/>
              </a:ext>
            </a:extLst>
          </p:cNvPr>
          <p:cNvSpPr>
            <a:spLocks noGrp="1"/>
          </p:cNvSpPr>
          <p:nvPr>
            <p:ph type="title"/>
          </p:nvPr>
        </p:nvSpPr>
        <p:spPr>
          <a:xfrm>
            <a:off x="539621" y="234496"/>
            <a:ext cx="10515600" cy="847855"/>
          </a:xfrm>
        </p:spPr>
        <p:txBody>
          <a:bodyPr/>
          <a:lstStyle/>
          <a:p>
            <a:endParaRPr lang="en-IN" dirty="0"/>
          </a:p>
        </p:txBody>
      </p:sp>
      <p:sp>
        <p:nvSpPr>
          <p:cNvPr id="4" name="Rectangle 1">
            <a:extLst>
              <a:ext uri="{FF2B5EF4-FFF2-40B4-BE49-F238E27FC236}">
                <a16:creationId xmlns:a16="http://schemas.microsoft.com/office/drawing/2014/main" id="{36F36CB7-C1E6-3D78-E5AB-94E8626F7268}"/>
              </a:ext>
            </a:extLst>
          </p:cNvPr>
          <p:cNvSpPr>
            <a:spLocks noGrp="1" noChangeArrowheads="1"/>
          </p:cNvSpPr>
          <p:nvPr>
            <p:ph idx="1"/>
          </p:nvPr>
        </p:nvSpPr>
        <p:spPr bwMode="auto">
          <a:xfrm>
            <a:off x="341637" y="1368882"/>
            <a:ext cx="11508726"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Addressing</a:t>
            </a:r>
          </a:p>
          <a:p>
            <a:pPr marL="457200" lvl="1" indent="0" eaLnBrk="0" fontAlgn="base" hangingPunct="0">
              <a:lnSpc>
                <a:spcPct val="100000"/>
              </a:lnSpc>
              <a:spcBef>
                <a:spcPct val="0"/>
              </a:spcBef>
              <a:spcAft>
                <a:spcPct val="0"/>
              </a:spcAft>
              <a:buFontTx/>
              <a:buChar char="•"/>
            </a:pPr>
            <a:r>
              <a:rPr lang="en-US" altLang="en-US" sz="1800" dirty="0"/>
              <a:t>Data Link Layer: </a:t>
            </a:r>
            <a:r>
              <a:rPr lang="en-US" altLang="en-US" sz="1800" dirty="0">
                <a:solidFill>
                  <a:schemeClr val="tx1">
                    <a:lumMod val="20000"/>
                    <a:lumOff val="80000"/>
                  </a:schemeClr>
                </a:solidFill>
              </a:rPr>
              <a:t>Each outgoing line connects to a specific router</a:t>
            </a:r>
            <a:r>
              <a:rPr lang="en-US" altLang="en-US" sz="1800" dirty="0"/>
              <a:t>, so it doesn’t need to specify an address—the destination is implied.</a:t>
            </a:r>
          </a:p>
          <a:p>
            <a:pPr marL="457200" lvl="1" indent="0" eaLnBrk="0" fontAlgn="base" hangingPunct="0">
              <a:lnSpc>
                <a:spcPct val="100000"/>
              </a:lnSpc>
              <a:spcBef>
                <a:spcPct val="0"/>
              </a:spcBef>
              <a:spcAft>
                <a:spcPct val="0"/>
              </a:spcAft>
              <a:buFontTx/>
              <a:buChar char="•"/>
            </a:pPr>
            <a:r>
              <a:rPr lang="en-US" altLang="en-US" sz="1800" dirty="0"/>
              <a:t>Transport Layer: </a:t>
            </a:r>
            <a:r>
              <a:rPr lang="en-US" altLang="en-US" sz="1800" dirty="0">
                <a:solidFill>
                  <a:schemeClr val="tx1">
                    <a:lumMod val="20000"/>
                    <a:lumOff val="80000"/>
                  </a:schemeClr>
                </a:solidFill>
              </a:rPr>
              <a:t>Must explicitly specify the destination address</a:t>
            </a:r>
            <a:r>
              <a:rPr lang="en-US" altLang="en-US" sz="1800" dirty="0"/>
              <a:t>, since multiple processes or applications may be communicating.</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Connection Establishment</a:t>
            </a:r>
          </a:p>
          <a:p>
            <a:pPr marL="457200" lvl="1" indent="0" eaLnBrk="0" fontAlgn="base" hangingPunct="0">
              <a:lnSpc>
                <a:spcPct val="100000"/>
              </a:lnSpc>
              <a:spcBef>
                <a:spcPct val="0"/>
              </a:spcBef>
              <a:spcAft>
                <a:spcPct val="0"/>
              </a:spcAft>
              <a:buFontTx/>
              <a:buChar char="•"/>
            </a:pPr>
            <a:r>
              <a:rPr lang="en-US" altLang="en-US" sz="1800" dirty="0"/>
              <a:t>Data Link Layer: </a:t>
            </a:r>
            <a:r>
              <a:rPr lang="en-US" altLang="en-US" sz="1800" dirty="0">
                <a:solidFill>
                  <a:schemeClr val="tx1">
                    <a:lumMod val="20000"/>
                    <a:lumOff val="80000"/>
                  </a:schemeClr>
                </a:solidFill>
              </a:rPr>
              <a:t>Establishing a connection is simple</a:t>
            </a:r>
            <a:r>
              <a:rPr lang="en-US" altLang="en-US" sz="1800" dirty="0"/>
              <a:t>—the other end is always there unless it has failed.</a:t>
            </a:r>
          </a:p>
          <a:p>
            <a:pPr marL="457200" lvl="1" indent="0" eaLnBrk="0" fontAlgn="base" hangingPunct="0">
              <a:lnSpc>
                <a:spcPct val="100000"/>
              </a:lnSpc>
              <a:spcBef>
                <a:spcPct val="0"/>
              </a:spcBef>
              <a:spcAft>
                <a:spcPct val="0"/>
              </a:spcAft>
              <a:buFontTx/>
              <a:buChar char="•"/>
            </a:pPr>
            <a:r>
              <a:rPr lang="en-US" altLang="en-US" sz="1800" dirty="0"/>
              <a:t>Transport Layer: </a:t>
            </a:r>
            <a:r>
              <a:rPr lang="en-US" altLang="en-US" sz="1800" dirty="0">
                <a:solidFill>
                  <a:schemeClr val="tx1">
                    <a:lumMod val="20000"/>
                    <a:lumOff val="80000"/>
                  </a:schemeClr>
                </a:solidFill>
              </a:rPr>
              <a:t>More complex, as it must handle initial handshakes, error checking</a:t>
            </a:r>
            <a:r>
              <a:rPr lang="en-US" altLang="en-US" sz="1800" dirty="0"/>
              <a:t>, and possibly negotiate parameters before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Storage and Delay in the Subnet</a:t>
            </a:r>
          </a:p>
          <a:p>
            <a:pPr marL="457200" lvl="1" indent="0" eaLnBrk="0" fontAlgn="base" hangingPunct="0">
              <a:lnSpc>
                <a:spcPct val="100000"/>
              </a:lnSpc>
              <a:spcBef>
                <a:spcPct val="0"/>
              </a:spcBef>
              <a:spcAft>
                <a:spcPct val="0"/>
              </a:spcAft>
              <a:buFontTx/>
              <a:buChar char="•"/>
            </a:pPr>
            <a:r>
              <a:rPr lang="en-US" altLang="en-US" sz="1800" dirty="0"/>
              <a:t>Data Link Layer: </a:t>
            </a:r>
            <a:r>
              <a:rPr lang="en-US" altLang="en-US" sz="1800" dirty="0">
                <a:solidFill>
                  <a:schemeClr val="tx1">
                    <a:lumMod val="20000"/>
                    <a:lumOff val="80000"/>
                  </a:schemeClr>
                </a:solidFill>
              </a:rPr>
              <a:t>Frames are either delivered or lost</a:t>
            </a:r>
            <a:r>
              <a:rPr lang="en-US" altLang="en-US" sz="1800" dirty="0"/>
              <a:t>; they don’t get delayed unpredictably.</a:t>
            </a:r>
          </a:p>
          <a:p>
            <a:pPr marL="457200" lvl="1" indent="0" eaLnBrk="0" fontAlgn="base" hangingPunct="0">
              <a:lnSpc>
                <a:spcPct val="100000"/>
              </a:lnSpc>
              <a:spcBef>
                <a:spcPct val="0"/>
              </a:spcBef>
              <a:spcAft>
                <a:spcPct val="0"/>
              </a:spcAft>
              <a:buFontTx/>
              <a:buChar char="•"/>
            </a:pPr>
            <a:r>
              <a:rPr lang="en-US" altLang="en-US" sz="1800" dirty="0"/>
              <a:t>Transport Layer: </a:t>
            </a:r>
            <a:r>
              <a:rPr lang="en-US" altLang="en-US" sz="1800" dirty="0">
                <a:solidFill>
                  <a:schemeClr val="tx1">
                    <a:lumMod val="20000"/>
                    <a:lumOff val="80000"/>
                  </a:schemeClr>
                </a:solidFill>
              </a:rPr>
              <a:t>Packets can be stored temporarily in the network (due to adaptive routing or congestion) and delivered late, which can disrupt communication</a:t>
            </a:r>
            <a:r>
              <a:rPr lang="en-US" altLang="en-US" sz="1800" dirty="0"/>
              <a:t>. Special protocols are needed to handle such cases.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Buffering and Flow Control</a:t>
            </a:r>
          </a:p>
          <a:p>
            <a:pPr marL="457200" lvl="1" indent="0" eaLnBrk="0" fontAlgn="base" hangingPunct="0">
              <a:lnSpc>
                <a:spcPct val="100000"/>
              </a:lnSpc>
              <a:spcBef>
                <a:spcPct val="0"/>
              </a:spcBef>
              <a:spcAft>
                <a:spcPct val="0"/>
              </a:spcAft>
              <a:buFontTx/>
              <a:buChar char="•"/>
            </a:pPr>
            <a:r>
              <a:rPr lang="en-US" altLang="en-US" sz="1800" dirty="0"/>
              <a:t>Data Link Layer: </a:t>
            </a:r>
            <a:r>
              <a:rPr lang="en-US" altLang="en-US" sz="1800" dirty="0">
                <a:solidFill>
                  <a:schemeClr val="tx1">
                    <a:lumMod val="20000"/>
                    <a:lumOff val="80000"/>
                  </a:schemeClr>
                </a:solidFill>
              </a:rPr>
              <a:t>Usually deals with a small number of lines, so fixed buffers per line </a:t>
            </a:r>
            <a:r>
              <a:rPr lang="en-US" altLang="en-US" sz="1800" dirty="0"/>
              <a:t>are manageable.</a:t>
            </a:r>
          </a:p>
          <a:p>
            <a:pPr marL="457200" lvl="1" indent="0" eaLnBrk="0" fontAlgn="base" hangingPunct="0">
              <a:lnSpc>
                <a:spcPct val="100000"/>
              </a:lnSpc>
              <a:spcBef>
                <a:spcPct val="0"/>
              </a:spcBef>
              <a:spcAft>
                <a:spcPct val="0"/>
              </a:spcAft>
              <a:buFontTx/>
              <a:buChar char="•"/>
            </a:pPr>
            <a:r>
              <a:rPr lang="en-US" altLang="en-US" sz="1800" dirty="0"/>
              <a:t>Transport Layer: </a:t>
            </a:r>
            <a:r>
              <a:rPr lang="en-US" altLang="en-US" sz="1800" dirty="0">
                <a:solidFill>
                  <a:schemeClr val="tx1">
                    <a:lumMod val="20000"/>
                    <a:lumOff val="80000"/>
                  </a:schemeClr>
                </a:solidFill>
              </a:rPr>
              <a:t>Handles many simultaneous connections, so dynamic buffer allocation </a:t>
            </a:r>
            <a:r>
              <a:rPr lang="en-US" altLang="en-US" sz="1800" dirty="0"/>
              <a:t>and more sophisticated flow control mechanisms are needed.</a:t>
            </a:r>
          </a:p>
        </p:txBody>
      </p:sp>
    </p:spTree>
    <p:extLst>
      <p:ext uri="{BB962C8B-B14F-4D97-AF65-F5344CB8AC3E}">
        <p14:creationId xmlns:p14="http://schemas.microsoft.com/office/powerpoint/2010/main" val="604406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7FC9E-6E55-9415-A62F-77F41F47E494}"/>
              </a:ext>
            </a:extLst>
          </p:cNvPr>
          <p:cNvSpPr>
            <a:spLocks noGrp="1"/>
          </p:cNvSpPr>
          <p:nvPr>
            <p:ph type="title"/>
          </p:nvPr>
        </p:nvSpPr>
        <p:spPr>
          <a:xfrm>
            <a:off x="838200" y="365125"/>
            <a:ext cx="10515600" cy="1183757"/>
          </a:xfrm>
        </p:spPr>
        <p:txBody>
          <a:bodyPr/>
          <a:lstStyle/>
          <a:p>
            <a:r>
              <a:rPr lang="en-IN" b="1" dirty="0"/>
              <a:t>Elements of Transport Protocols</a:t>
            </a:r>
            <a:endParaRPr lang="en-IN" dirty="0"/>
          </a:p>
        </p:txBody>
      </p:sp>
      <p:sp>
        <p:nvSpPr>
          <p:cNvPr id="3" name="Content Placeholder 2">
            <a:extLst>
              <a:ext uri="{FF2B5EF4-FFF2-40B4-BE49-F238E27FC236}">
                <a16:creationId xmlns:a16="http://schemas.microsoft.com/office/drawing/2014/main" id="{93FF1192-E0B5-40DE-F1D8-DBA884DEB7DC}"/>
              </a:ext>
            </a:extLst>
          </p:cNvPr>
          <p:cNvSpPr>
            <a:spLocks noGrp="1"/>
          </p:cNvSpPr>
          <p:nvPr>
            <p:ph idx="1"/>
          </p:nvPr>
        </p:nvSpPr>
        <p:spPr/>
        <p:txBody>
          <a:bodyPr/>
          <a:lstStyle/>
          <a:p>
            <a:pPr marL="514350" indent="-514350">
              <a:buFont typeface="+mj-lt"/>
              <a:buAutoNum type="arabicPeriod"/>
            </a:pPr>
            <a:r>
              <a:rPr lang="en-IN" dirty="0"/>
              <a:t>Addressing</a:t>
            </a:r>
          </a:p>
          <a:p>
            <a:pPr marL="514350" indent="-514350">
              <a:buFont typeface="+mj-lt"/>
              <a:buAutoNum type="arabicPeriod"/>
            </a:pPr>
            <a:r>
              <a:rPr lang="en-IN" dirty="0"/>
              <a:t>Connection Establishment</a:t>
            </a:r>
          </a:p>
          <a:p>
            <a:pPr marL="514350" indent="-514350">
              <a:buFont typeface="+mj-lt"/>
              <a:buAutoNum type="arabicPeriod"/>
            </a:pPr>
            <a:r>
              <a:rPr lang="en-IN" dirty="0"/>
              <a:t>Connection Release </a:t>
            </a:r>
          </a:p>
          <a:p>
            <a:pPr marL="514350" indent="-514350">
              <a:buFont typeface="+mj-lt"/>
              <a:buAutoNum type="arabicPeriod"/>
            </a:pPr>
            <a:r>
              <a:rPr lang="en-IN" dirty="0"/>
              <a:t>Flow Control and Buffering </a:t>
            </a:r>
          </a:p>
          <a:p>
            <a:pPr marL="514350" indent="-514350">
              <a:buFont typeface="+mj-lt"/>
              <a:buAutoNum type="arabicPeriod"/>
            </a:pPr>
            <a:r>
              <a:rPr lang="en-IN" dirty="0"/>
              <a:t>Multiplexing</a:t>
            </a:r>
          </a:p>
          <a:p>
            <a:pPr marL="514350" indent="-514350">
              <a:buFont typeface="+mj-lt"/>
              <a:buAutoNum type="arabicPeriod"/>
            </a:pPr>
            <a:r>
              <a:rPr lang="en-IN" dirty="0"/>
              <a:t>Crash Recovery</a:t>
            </a:r>
          </a:p>
        </p:txBody>
      </p:sp>
    </p:spTree>
    <p:extLst>
      <p:ext uri="{BB962C8B-B14F-4D97-AF65-F5344CB8AC3E}">
        <p14:creationId xmlns:p14="http://schemas.microsoft.com/office/powerpoint/2010/main" val="55269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59743"/>
            <a:ext cx="8915835" cy="802526"/>
          </a:xfrm>
        </p:spPr>
        <p:txBody>
          <a:bodyPr/>
          <a:lstStyle/>
          <a:p>
            <a:r>
              <a:rPr lang="en-IN" b="1" dirty="0"/>
              <a:t>1.Connection Establishment</a:t>
            </a:r>
            <a:endParaRPr lang="en-IN" dirty="0"/>
          </a:p>
        </p:txBody>
      </p:sp>
      <p:sp>
        <p:nvSpPr>
          <p:cNvPr id="3" name="Content Placeholder 2"/>
          <p:cNvSpPr>
            <a:spLocks noGrp="1"/>
          </p:cNvSpPr>
          <p:nvPr>
            <p:ph idx="1"/>
          </p:nvPr>
        </p:nvSpPr>
        <p:spPr>
          <a:xfrm>
            <a:off x="709127" y="1679510"/>
            <a:ext cx="10627567" cy="4161453"/>
          </a:xfrm>
        </p:spPr>
        <p:txBody>
          <a:bodyPr>
            <a:normAutofit/>
          </a:bodyPr>
          <a:lstStyle/>
          <a:p>
            <a:r>
              <a:rPr lang="en-IN" sz="2400" b="1" dirty="0"/>
              <a:t>Three-way </a:t>
            </a:r>
            <a:r>
              <a:rPr lang="en-IN" sz="2400" b="1" dirty="0" err="1"/>
              <a:t>handshake</a:t>
            </a:r>
            <a:r>
              <a:rPr lang="en-IN" sz="2400" dirty="0" err="1"/>
              <a:t>:This</a:t>
            </a:r>
            <a:r>
              <a:rPr lang="en-IN" sz="2400" dirty="0"/>
              <a:t> </a:t>
            </a:r>
            <a:r>
              <a:rPr lang="en-US" sz="2400" dirty="0"/>
              <a:t>establishment protocol does not require both sides to begin sending with the same sequence number, so it can be used with synchronization methods other than the global clock method.</a:t>
            </a:r>
          </a:p>
          <a:p>
            <a:r>
              <a:rPr lang="en-US" sz="2400" b="1" i="1" dirty="0"/>
              <a:t>Three protocol scenarios for establishing a connection  using a three-way handshake. CR denotes CONNECTION REQUEST. </a:t>
            </a:r>
          </a:p>
          <a:p>
            <a:pPr lvl="1"/>
            <a:r>
              <a:rPr lang="en-US" sz="2000" b="1" i="1" dirty="0"/>
              <a:t>(a) Normal operation. </a:t>
            </a:r>
          </a:p>
          <a:p>
            <a:pPr lvl="1"/>
            <a:r>
              <a:rPr lang="en-US" sz="2000" b="1" i="1" dirty="0"/>
              <a:t>(b) Old duplicate CONNECTION REQUEST appearing out of nowhere. </a:t>
            </a:r>
          </a:p>
          <a:p>
            <a:pPr lvl="1"/>
            <a:r>
              <a:rPr lang="en-US" sz="2000" b="1" i="1" dirty="0"/>
              <a:t>(c) Duplicate CONNECTION REQUEST and duplicate </a:t>
            </a:r>
            <a:r>
              <a:rPr lang="en-IN" sz="2000" b="1" i="1" dirty="0"/>
              <a:t>ACK.</a:t>
            </a:r>
            <a:endParaRPr lang="en-IN" sz="2000" dirty="0"/>
          </a:p>
        </p:txBody>
      </p:sp>
    </p:spTree>
    <p:extLst>
      <p:ext uri="{BB962C8B-B14F-4D97-AF65-F5344CB8AC3E}">
        <p14:creationId xmlns:p14="http://schemas.microsoft.com/office/powerpoint/2010/main" val="3921037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306287" y="130628"/>
            <a:ext cx="9065622" cy="6596743"/>
          </a:xfrm>
          <a:prstGeom prst="rect">
            <a:avLst/>
          </a:prstGeom>
        </p:spPr>
      </p:pic>
    </p:spTree>
    <p:extLst>
      <p:ext uri="{BB962C8B-B14F-4D97-AF65-F5344CB8AC3E}">
        <p14:creationId xmlns:p14="http://schemas.microsoft.com/office/powerpoint/2010/main" val="3710246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691" y="481366"/>
            <a:ext cx="7729728" cy="446097"/>
          </a:xfrm>
        </p:spPr>
        <p:txBody>
          <a:bodyPr>
            <a:normAutofit fontScale="90000"/>
          </a:bodyPr>
          <a:lstStyle/>
          <a:p>
            <a:endParaRPr lang="en-IN" dirty="0"/>
          </a:p>
        </p:txBody>
      </p:sp>
      <p:sp>
        <p:nvSpPr>
          <p:cNvPr id="3" name="Content Placeholder 2"/>
          <p:cNvSpPr>
            <a:spLocks noGrp="1"/>
          </p:cNvSpPr>
          <p:nvPr>
            <p:ph idx="1"/>
          </p:nvPr>
        </p:nvSpPr>
        <p:spPr>
          <a:xfrm>
            <a:off x="836022" y="1201783"/>
            <a:ext cx="10659291" cy="5120639"/>
          </a:xfrm>
        </p:spPr>
        <p:txBody>
          <a:bodyPr>
            <a:normAutofit/>
          </a:bodyPr>
          <a:lstStyle/>
          <a:p>
            <a:r>
              <a:rPr lang="en-IN" sz="2000" dirty="0"/>
              <a:t>Case1:Host 1 chooses a </a:t>
            </a:r>
            <a:r>
              <a:rPr lang="en-US" sz="2000" dirty="0"/>
              <a:t>sequence number, </a:t>
            </a:r>
            <a:r>
              <a:rPr lang="en-US" sz="2000" i="1" dirty="0"/>
              <a:t>x</a:t>
            </a:r>
            <a:r>
              <a:rPr lang="en-US" sz="2000" dirty="0"/>
              <a:t>, and sends a CONNECTION REQUEST TPDU containing it to host 2. Host 2 replies with an ACK TPDU acknowledging </a:t>
            </a:r>
            <a:r>
              <a:rPr lang="en-US" sz="2000" i="1" dirty="0"/>
              <a:t>x </a:t>
            </a:r>
            <a:r>
              <a:rPr lang="en-US" sz="2000" dirty="0"/>
              <a:t>and announcing its own initial sequence number, </a:t>
            </a:r>
            <a:r>
              <a:rPr lang="en-US" sz="2000" i="1" dirty="0"/>
              <a:t>y</a:t>
            </a:r>
            <a:r>
              <a:rPr lang="en-US" sz="2000" dirty="0"/>
              <a:t>. Finally, host 1 acknowledges host 2's choice of an initial sequence number in the first data </a:t>
            </a:r>
            <a:r>
              <a:rPr lang="en-IN" sz="2000" dirty="0"/>
              <a:t>TPDU that it sends.</a:t>
            </a:r>
          </a:p>
          <a:p>
            <a:r>
              <a:rPr lang="en-US" sz="2000" dirty="0"/>
              <a:t>Case 2:first TPDU is a delayed duplicate CONNECTION REQUEST from an old connection. This TPDU arrives at host 2 without host 1's knowledge. Host 2 reacts to this TPDU by sending host 1 an ACK TPDU, in effect asking for verification that host 1 was indeed trying to set up a new connection. When host 1 rejects host 2's attempt to establish a connection, host 2 realizes that it was tricked by a delayed duplicate and abandons the connection. In this way, a delayed </a:t>
            </a:r>
            <a:r>
              <a:rPr lang="en-IN" sz="2000" dirty="0"/>
              <a:t>duplicate does no damage.</a:t>
            </a:r>
          </a:p>
          <a:p>
            <a:r>
              <a:rPr lang="en-IN" sz="2000" dirty="0"/>
              <a:t>Case 3:host 2 gets a </a:t>
            </a:r>
            <a:r>
              <a:rPr lang="en-US" sz="2000" dirty="0"/>
              <a:t>delayed CONNECTION REQUEST and replies to it. At this point it is crucial to realize that host 2 has proposed using </a:t>
            </a:r>
            <a:r>
              <a:rPr lang="en-US" sz="2000" i="1" dirty="0"/>
              <a:t>y </a:t>
            </a:r>
            <a:r>
              <a:rPr lang="en-US" sz="2000" dirty="0"/>
              <a:t>as the initial sequence number for host 2 to host 1 traffic, knowing full well that no TPDUs containing sequence number </a:t>
            </a:r>
            <a:r>
              <a:rPr lang="en-US" sz="2000" i="1" dirty="0"/>
              <a:t>y </a:t>
            </a:r>
            <a:r>
              <a:rPr lang="en-US" sz="2000" dirty="0"/>
              <a:t>or acknowledgements to </a:t>
            </a:r>
            <a:r>
              <a:rPr lang="en-US" sz="2000" i="1" dirty="0"/>
              <a:t>y </a:t>
            </a:r>
            <a:r>
              <a:rPr lang="en-US" sz="2000" dirty="0"/>
              <a:t>are still in existence. When the second delayed TPDU arrives at host 2, the fact that </a:t>
            </a:r>
            <a:r>
              <a:rPr lang="en-US" sz="2000" i="1" dirty="0"/>
              <a:t>z </a:t>
            </a:r>
            <a:r>
              <a:rPr lang="en-US" sz="2000" dirty="0"/>
              <a:t>has been acknowledged rather than </a:t>
            </a:r>
            <a:r>
              <a:rPr lang="en-US" sz="2000" i="1" dirty="0"/>
              <a:t>y </a:t>
            </a:r>
            <a:r>
              <a:rPr lang="en-US" sz="2000" dirty="0"/>
              <a:t>tells host 2 that this, too, is an old duplicate. </a:t>
            </a:r>
            <a:endParaRPr lang="en-IN" sz="2000" dirty="0"/>
          </a:p>
        </p:txBody>
      </p:sp>
    </p:spTree>
    <p:extLst>
      <p:ext uri="{BB962C8B-B14F-4D97-AF65-F5344CB8AC3E}">
        <p14:creationId xmlns:p14="http://schemas.microsoft.com/office/powerpoint/2010/main" val="3581487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085" y="416052"/>
            <a:ext cx="9679577" cy="642039"/>
          </a:xfrm>
        </p:spPr>
        <p:txBody>
          <a:bodyPr>
            <a:normAutofit fontScale="90000"/>
          </a:bodyPr>
          <a:lstStyle/>
          <a:p>
            <a:r>
              <a:rPr lang="en-IN" b="1" dirty="0"/>
              <a:t>2.Connection Release</a:t>
            </a:r>
            <a:endParaRPr lang="en-IN" dirty="0"/>
          </a:p>
        </p:txBody>
      </p:sp>
      <p:sp>
        <p:nvSpPr>
          <p:cNvPr id="3" name="Content Placeholder 2"/>
          <p:cNvSpPr>
            <a:spLocks noGrp="1"/>
          </p:cNvSpPr>
          <p:nvPr>
            <p:ph idx="1"/>
          </p:nvPr>
        </p:nvSpPr>
        <p:spPr>
          <a:xfrm>
            <a:off x="992777" y="1358537"/>
            <a:ext cx="7022401" cy="5159829"/>
          </a:xfrm>
        </p:spPr>
        <p:txBody>
          <a:bodyPr>
            <a:normAutofit fontScale="92500" lnSpcReduction="20000"/>
          </a:bodyPr>
          <a:lstStyle/>
          <a:p>
            <a:r>
              <a:rPr lang="en-US" dirty="0"/>
              <a:t>There are two styles of terminating a connection: asymmetric release and symmetric release. </a:t>
            </a:r>
          </a:p>
          <a:p>
            <a:r>
              <a:rPr lang="en-US" dirty="0">
                <a:solidFill>
                  <a:schemeClr val="tx1">
                    <a:lumMod val="20000"/>
                    <a:lumOff val="80000"/>
                  </a:schemeClr>
                </a:solidFill>
              </a:rPr>
              <a:t>Asymmetric release </a:t>
            </a:r>
            <a:r>
              <a:rPr lang="en-US" dirty="0"/>
              <a:t>is the way the telephone system works: when one party hangs up, the connection is broken. </a:t>
            </a:r>
          </a:p>
          <a:p>
            <a:r>
              <a:rPr lang="en-US" dirty="0">
                <a:solidFill>
                  <a:schemeClr val="tx1">
                    <a:lumMod val="20000"/>
                    <a:lumOff val="80000"/>
                  </a:schemeClr>
                </a:solidFill>
              </a:rPr>
              <a:t>Symmetric release </a:t>
            </a:r>
            <a:r>
              <a:rPr lang="en-US" dirty="0"/>
              <a:t>treats the connection as two separate unidirectional connections and requires each one </a:t>
            </a:r>
            <a:r>
              <a:rPr lang="en-IN" dirty="0"/>
              <a:t>to be released separately.</a:t>
            </a:r>
          </a:p>
          <a:p>
            <a:r>
              <a:rPr lang="en-US" dirty="0"/>
              <a:t>EX: After the connection is established, host 1 sends a TPDU that arrives properly at host 2. Then host 1 sends another TPDU. Unfortunately, host 2 issues a DISCONNECT before the second TPDU arrives. The result is that the connection is released and data are lost.</a:t>
            </a:r>
            <a:endParaRPr lang="en-IN" dirty="0"/>
          </a:p>
        </p:txBody>
      </p:sp>
      <p:pic>
        <p:nvPicPr>
          <p:cNvPr id="4" name="Picture 3"/>
          <p:cNvPicPr>
            <a:picLocks noChangeAspect="1"/>
          </p:cNvPicPr>
          <p:nvPr/>
        </p:nvPicPr>
        <p:blipFill>
          <a:blip r:embed="rId2"/>
          <a:stretch>
            <a:fillRect/>
          </a:stretch>
        </p:blipFill>
        <p:spPr>
          <a:xfrm>
            <a:off x="8015179" y="1515291"/>
            <a:ext cx="3718808" cy="5003075"/>
          </a:xfrm>
          <a:prstGeom prst="rect">
            <a:avLst/>
          </a:prstGeom>
        </p:spPr>
      </p:pic>
    </p:spTree>
    <p:extLst>
      <p:ext uri="{BB962C8B-B14F-4D97-AF65-F5344CB8AC3E}">
        <p14:creationId xmlns:p14="http://schemas.microsoft.com/office/powerpoint/2010/main" val="2173519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8604" y="169820"/>
            <a:ext cx="9984379" cy="705392"/>
          </a:xfrm>
        </p:spPr>
        <p:txBody>
          <a:bodyPr>
            <a:normAutofit fontScale="62500" lnSpcReduction="20000"/>
          </a:bodyPr>
          <a:lstStyle/>
          <a:p>
            <a:r>
              <a:rPr lang="en-US" b="1" i="1" dirty="0"/>
              <a:t>Four protocol scenarios for releasing a connection. (a) Normal case of three-way handshake. (b) Final ACK lost. (c) Response lost. (d) Response lost and subsequent DRs lost.</a:t>
            </a:r>
            <a:endParaRPr lang="en-IN" dirty="0"/>
          </a:p>
        </p:txBody>
      </p:sp>
      <p:pic>
        <p:nvPicPr>
          <p:cNvPr id="4" name="Picture 3"/>
          <p:cNvPicPr>
            <a:picLocks noChangeAspect="1"/>
          </p:cNvPicPr>
          <p:nvPr/>
        </p:nvPicPr>
        <p:blipFill>
          <a:blip r:embed="rId2"/>
          <a:stretch>
            <a:fillRect/>
          </a:stretch>
        </p:blipFill>
        <p:spPr>
          <a:xfrm>
            <a:off x="1094791" y="875212"/>
            <a:ext cx="9853749" cy="5553580"/>
          </a:xfrm>
          <a:prstGeom prst="rect">
            <a:avLst/>
          </a:prstGeom>
        </p:spPr>
      </p:pic>
    </p:spTree>
    <p:extLst>
      <p:ext uri="{BB962C8B-B14F-4D97-AF65-F5344CB8AC3E}">
        <p14:creationId xmlns:p14="http://schemas.microsoft.com/office/powerpoint/2010/main" val="31103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085" y="416052"/>
            <a:ext cx="9679577" cy="642039"/>
          </a:xfrm>
        </p:spPr>
        <p:txBody>
          <a:bodyPr>
            <a:normAutofit fontScale="90000"/>
          </a:bodyPr>
          <a:lstStyle/>
          <a:p>
            <a:endParaRPr lang="en-IN" dirty="0"/>
          </a:p>
        </p:txBody>
      </p:sp>
      <p:sp>
        <p:nvSpPr>
          <p:cNvPr id="3" name="Content Placeholder 2"/>
          <p:cNvSpPr>
            <a:spLocks noGrp="1"/>
          </p:cNvSpPr>
          <p:nvPr>
            <p:ph idx="1"/>
          </p:nvPr>
        </p:nvSpPr>
        <p:spPr>
          <a:xfrm>
            <a:off x="992777" y="1358537"/>
            <a:ext cx="9535885" cy="5081451"/>
          </a:xfrm>
        </p:spPr>
        <p:txBody>
          <a:bodyPr>
            <a:normAutofit fontScale="77500" lnSpcReduction="20000"/>
          </a:bodyPr>
          <a:lstStyle/>
          <a:p>
            <a:r>
              <a:rPr lang="en-US" dirty="0"/>
              <a:t>Case 1:normal case in which one of the users sends a DR (DISCONNECTION REQUEST) TPDU to initiate the connection release. When it arrives, the recipient sends back a DR TPDU, too, and starts a timer, just in case its DR is lost. When this DR arrives, the original sender sends back an ACK TPDU and releases the connection. Finally, when the ACK TPDU arrives, the receiver also releases the connection. Releasing a connection means that the transport entity removes the information about the connection from its table of currently open connections and signals the connection's owner</a:t>
            </a:r>
          </a:p>
          <a:p>
            <a:r>
              <a:rPr lang="en-US" dirty="0"/>
              <a:t>Case 2:Now consider the case of the second DR being lost. The user initiating the disconnection will not receive the expected response, will time out, and will start all over again. If the final ACK TPDU is lost, the situation is saved by the timer. When the timer expires, the connection is released anyway.</a:t>
            </a:r>
          </a:p>
          <a:p>
            <a:r>
              <a:rPr lang="en-US" dirty="0"/>
              <a:t> Case 3: assuming that the second time no TPDUs are lost and all TPDUs are delivered correctly and on time.</a:t>
            </a:r>
          </a:p>
          <a:p>
            <a:r>
              <a:rPr lang="en-IN" dirty="0"/>
              <a:t>Case 4: assuming that all the </a:t>
            </a:r>
            <a:r>
              <a:rPr lang="en-US" dirty="0"/>
              <a:t>repeated attempts to retransmit the DR also fail due to lost TPDUs. After </a:t>
            </a:r>
            <a:r>
              <a:rPr lang="en-US" i="1" dirty="0"/>
              <a:t>N </a:t>
            </a:r>
            <a:r>
              <a:rPr lang="en-US" dirty="0"/>
              <a:t>retries, the sender just gives up and releases the connection. Meanwhile, the receiver times out and also exits.</a:t>
            </a:r>
            <a:endParaRPr lang="en-IN" dirty="0"/>
          </a:p>
        </p:txBody>
      </p:sp>
    </p:spTree>
    <p:extLst>
      <p:ext uri="{BB962C8B-B14F-4D97-AF65-F5344CB8AC3E}">
        <p14:creationId xmlns:p14="http://schemas.microsoft.com/office/powerpoint/2010/main" val="1051148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3753D-242B-3F84-46B0-305DA469775F}"/>
              </a:ext>
            </a:extLst>
          </p:cNvPr>
          <p:cNvSpPr>
            <a:spLocks noGrp="1"/>
          </p:cNvSpPr>
          <p:nvPr>
            <p:ph type="title"/>
          </p:nvPr>
        </p:nvSpPr>
        <p:spPr/>
        <p:txBody>
          <a:bodyPr/>
          <a:lstStyle/>
          <a:p>
            <a:r>
              <a:rPr lang="en-IN" b="1" dirty="0"/>
              <a:t>3.Addressing</a:t>
            </a:r>
            <a:endParaRPr lang="en-IN" dirty="0"/>
          </a:p>
        </p:txBody>
      </p:sp>
      <p:sp>
        <p:nvSpPr>
          <p:cNvPr id="3" name="Content Placeholder 2">
            <a:extLst>
              <a:ext uri="{FF2B5EF4-FFF2-40B4-BE49-F238E27FC236}">
                <a16:creationId xmlns:a16="http://schemas.microsoft.com/office/drawing/2014/main" id="{3F129ADF-6402-42E5-6415-87D6195D2B52}"/>
              </a:ext>
            </a:extLst>
          </p:cNvPr>
          <p:cNvSpPr>
            <a:spLocks noGrp="1"/>
          </p:cNvSpPr>
          <p:nvPr>
            <p:ph idx="1"/>
          </p:nvPr>
        </p:nvSpPr>
        <p:spPr>
          <a:xfrm>
            <a:off x="483636" y="1502229"/>
            <a:ext cx="11440886" cy="5057191"/>
          </a:xfrm>
        </p:spPr>
        <p:txBody>
          <a:bodyPr>
            <a:normAutofit fontScale="85000" lnSpcReduction="20000"/>
          </a:bodyPr>
          <a:lstStyle/>
          <a:p>
            <a:r>
              <a:rPr lang="en-US" dirty="0"/>
              <a:t>When an </a:t>
            </a:r>
            <a:r>
              <a:rPr lang="en-US" dirty="0">
                <a:solidFill>
                  <a:schemeClr val="tx1">
                    <a:lumMod val="20000"/>
                    <a:lumOff val="80000"/>
                  </a:schemeClr>
                </a:solidFill>
              </a:rPr>
              <a:t>application process (such as a user program) wants to communicate with a remote application, it must specify which process</a:t>
            </a:r>
            <a:r>
              <a:rPr lang="en-US" dirty="0"/>
              <a:t> on the remote system to connect to. This applies to both connection-oriented and connectionless transport services — each message or connection must know where it’s going.</a:t>
            </a:r>
          </a:p>
          <a:p>
            <a:pPr marL="0" indent="0">
              <a:buNone/>
            </a:pPr>
            <a:r>
              <a:rPr lang="en-US" dirty="0">
                <a:solidFill>
                  <a:schemeClr val="tx1">
                    <a:lumMod val="20000"/>
                    <a:lumOff val="80000"/>
                  </a:schemeClr>
                </a:solidFill>
              </a:rPr>
              <a:t>Transport Addresses (TSAPs):</a:t>
            </a:r>
          </a:p>
          <a:p>
            <a:r>
              <a:rPr lang="en-US" dirty="0"/>
              <a:t>To handle this, transport protocols define transport addresses, also called Transport Service Access Points (TSAPs).</a:t>
            </a:r>
          </a:p>
          <a:p>
            <a:r>
              <a:rPr lang="en-US" dirty="0"/>
              <a:t>Each process that wishes to </a:t>
            </a:r>
            <a:r>
              <a:rPr lang="en-US" dirty="0">
                <a:solidFill>
                  <a:schemeClr val="tx1">
                    <a:lumMod val="20000"/>
                    <a:lumOff val="80000"/>
                  </a:schemeClr>
                </a:solidFill>
              </a:rPr>
              <a:t>receive communication listens on a specific TSAP</a:t>
            </a:r>
            <a:r>
              <a:rPr lang="en-US" dirty="0"/>
              <a:t>.</a:t>
            </a:r>
          </a:p>
          <a:p>
            <a:r>
              <a:rPr lang="en-US" dirty="0"/>
              <a:t>In the </a:t>
            </a:r>
            <a:r>
              <a:rPr lang="en-US" dirty="0">
                <a:solidFill>
                  <a:schemeClr val="tx1">
                    <a:lumMod val="20000"/>
                    <a:lumOff val="80000"/>
                  </a:schemeClr>
                </a:solidFill>
              </a:rPr>
              <a:t>Internet</a:t>
            </a:r>
            <a:r>
              <a:rPr lang="en-US" dirty="0"/>
              <a:t>, these are known as </a:t>
            </a:r>
            <a:r>
              <a:rPr lang="en-US" dirty="0">
                <a:solidFill>
                  <a:schemeClr val="tx1">
                    <a:lumMod val="20000"/>
                    <a:lumOff val="80000"/>
                  </a:schemeClr>
                </a:solidFill>
              </a:rPr>
              <a:t>ports.</a:t>
            </a:r>
          </a:p>
          <a:p>
            <a:r>
              <a:rPr lang="en-US" dirty="0"/>
              <a:t>In ATM networks, they are called AAL-SAPs. Thus, “TSAP” is a general term for these transport-level endpoints.</a:t>
            </a:r>
          </a:p>
          <a:p>
            <a:r>
              <a:rPr lang="en-US" dirty="0"/>
              <a:t>The corresponding concept in the network layer is the </a:t>
            </a:r>
            <a:r>
              <a:rPr lang="en-US" dirty="0">
                <a:solidFill>
                  <a:schemeClr val="tx1">
                    <a:lumMod val="20000"/>
                    <a:lumOff val="80000"/>
                  </a:schemeClr>
                </a:solidFill>
              </a:rPr>
              <a:t>Network Service Access Point (NSAP) </a:t>
            </a:r>
            <a:r>
              <a:rPr lang="en-US" dirty="0"/>
              <a:t>— for example, IP addresses serve as NSAPs.</a:t>
            </a:r>
          </a:p>
          <a:p>
            <a:pPr lvl="1"/>
            <a:r>
              <a:rPr lang="en-US" altLang="en-US" dirty="0"/>
              <a:t>IP address → identifies which device (host) on the network.</a:t>
            </a:r>
          </a:p>
          <a:p>
            <a:pPr lvl="1"/>
            <a:r>
              <a:rPr lang="en-US" altLang="en-US" dirty="0"/>
              <a:t>Port number → identifies which process or service on that device.</a:t>
            </a:r>
          </a:p>
          <a:p>
            <a:pPr lvl="1"/>
            <a:r>
              <a:rPr lang="en-US" altLang="en-US" dirty="0"/>
              <a:t>TSAP = IP address + Port number → identifies exactly where the data should go</a:t>
            </a:r>
            <a:endParaRPr lang="en-US" dirty="0"/>
          </a:p>
          <a:p>
            <a:endParaRPr lang="en-US" dirty="0"/>
          </a:p>
          <a:p>
            <a:endParaRPr lang="en-IN" dirty="0"/>
          </a:p>
        </p:txBody>
      </p:sp>
    </p:spTree>
    <p:extLst>
      <p:ext uri="{BB962C8B-B14F-4D97-AF65-F5344CB8AC3E}">
        <p14:creationId xmlns:p14="http://schemas.microsoft.com/office/powerpoint/2010/main" val="3243918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571" y="3797559"/>
            <a:ext cx="11588621" cy="2883159"/>
          </a:xfrm>
        </p:spPr>
        <p:txBody>
          <a:bodyPr>
            <a:normAutofit fontScale="77500" lnSpcReduction="20000"/>
          </a:bodyPr>
          <a:lstStyle/>
          <a:p>
            <a:r>
              <a:rPr lang="en-US" dirty="0"/>
              <a:t>1. A time of day server process on host 2 attaches itself to TSAP 1522 to wait for an incoming call. A call such as our LISTEN might be </a:t>
            </a:r>
            <a:r>
              <a:rPr lang="en-IN" dirty="0"/>
              <a:t>used, </a:t>
            </a:r>
          </a:p>
          <a:p>
            <a:r>
              <a:rPr lang="en-US" dirty="0"/>
              <a:t>2. An application process on host 1 wants to find out the time-of-day, so it issues a CONNECT request specifying TSAP 1208 as the source and TSAP 1522 as the destination. This action ultimately results in a transport connection being established between the application process on host 1 and server 1 on host 2.</a:t>
            </a:r>
            <a:endParaRPr lang="en-IN" dirty="0"/>
          </a:p>
          <a:p>
            <a:r>
              <a:rPr lang="en-US" dirty="0"/>
              <a:t>3. The application process then sends over a request for the time.</a:t>
            </a:r>
          </a:p>
          <a:p>
            <a:r>
              <a:rPr lang="en-US" dirty="0"/>
              <a:t>4. The time server process responds with the current </a:t>
            </a:r>
            <a:r>
              <a:rPr lang="en-IN" dirty="0"/>
              <a:t>time.</a:t>
            </a:r>
          </a:p>
          <a:p>
            <a:r>
              <a:rPr lang="en-US" dirty="0"/>
              <a:t>5. The transport connection is then released.</a:t>
            </a:r>
            <a:endParaRPr lang="en-IN" dirty="0"/>
          </a:p>
        </p:txBody>
      </p:sp>
      <p:pic>
        <p:nvPicPr>
          <p:cNvPr id="4" name="Content Placeholder 3"/>
          <p:cNvPicPr>
            <a:picLocks noChangeAspect="1"/>
          </p:cNvPicPr>
          <p:nvPr/>
        </p:nvPicPr>
        <p:blipFill>
          <a:blip r:embed="rId2"/>
          <a:stretch>
            <a:fillRect/>
          </a:stretch>
        </p:blipFill>
        <p:spPr>
          <a:xfrm>
            <a:off x="2353181" y="0"/>
            <a:ext cx="6571365" cy="3526971"/>
          </a:xfrm>
          <a:prstGeom prst="rect">
            <a:avLst/>
          </a:prstGeom>
        </p:spPr>
      </p:pic>
    </p:spTree>
    <p:extLst>
      <p:ext uri="{BB962C8B-B14F-4D97-AF65-F5344CB8AC3E}">
        <p14:creationId xmlns:p14="http://schemas.microsoft.com/office/powerpoint/2010/main" val="1837139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EB270-57BC-CE61-6E88-7E5A5284450E}"/>
              </a:ext>
            </a:extLst>
          </p:cNvPr>
          <p:cNvSpPr>
            <a:spLocks noGrp="1"/>
          </p:cNvSpPr>
          <p:nvPr>
            <p:ph type="title"/>
          </p:nvPr>
        </p:nvSpPr>
        <p:spPr/>
        <p:txBody>
          <a:bodyPr/>
          <a:lstStyle/>
          <a:p>
            <a:r>
              <a:rPr lang="en-IN" b="1" dirty="0"/>
              <a:t>4.Flow Control and Buffering</a:t>
            </a:r>
          </a:p>
        </p:txBody>
      </p:sp>
      <p:sp>
        <p:nvSpPr>
          <p:cNvPr id="3" name="Content Placeholder 2">
            <a:extLst>
              <a:ext uri="{FF2B5EF4-FFF2-40B4-BE49-F238E27FC236}">
                <a16:creationId xmlns:a16="http://schemas.microsoft.com/office/drawing/2014/main" id="{8DCDED3A-D6FA-2DE7-3733-A5A75CCD497A}"/>
              </a:ext>
            </a:extLst>
          </p:cNvPr>
          <p:cNvSpPr>
            <a:spLocks noGrp="1"/>
          </p:cNvSpPr>
          <p:nvPr>
            <p:ph idx="1"/>
          </p:nvPr>
        </p:nvSpPr>
        <p:spPr/>
        <p:txBody>
          <a:bodyPr/>
          <a:lstStyle/>
          <a:p>
            <a:r>
              <a:rPr lang="en-US" dirty="0"/>
              <a:t>After establishing a connection, the next important task is </a:t>
            </a:r>
            <a:r>
              <a:rPr lang="en-US" b="1" dirty="0"/>
              <a:t>managing the data flow</a:t>
            </a:r>
            <a:r>
              <a:rPr lang="en-US" dirty="0"/>
              <a:t> between the sender and receiver. This involves </a:t>
            </a:r>
            <a:r>
              <a:rPr lang="en-US" b="1" dirty="0"/>
              <a:t>flow control</a:t>
            </a:r>
            <a:r>
              <a:rPr lang="en-US" dirty="0"/>
              <a:t> and </a:t>
            </a:r>
            <a:r>
              <a:rPr lang="en-US" b="1" dirty="0"/>
              <a:t>buffering</a:t>
            </a:r>
            <a:r>
              <a:rPr lang="en-US" dirty="0"/>
              <a:t> — ensuring that data is sent at a rate that the receiver can handle without being overwhelmed.</a:t>
            </a:r>
            <a:endParaRPr lang="en-IN" dirty="0"/>
          </a:p>
        </p:txBody>
      </p:sp>
    </p:spTree>
    <p:extLst>
      <p:ext uri="{BB962C8B-B14F-4D97-AF65-F5344CB8AC3E}">
        <p14:creationId xmlns:p14="http://schemas.microsoft.com/office/powerpoint/2010/main" val="765325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8D6E4-AFEF-A824-CC02-9928A5F76A6E}"/>
              </a:ext>
            </a:extLst>
          </p:cNvPr>
          <p:cNvSpPr>
            <a:spLocks noGrp="1"/>
          </p:cNvSpPr>
          <p:nvPr>
            <p:ph type="title"/>
          </p:nvPr>
        </p:nvSpPr>
        <p:spPr/>
        <p:txBody>
          <a:bodyPr/>
          <a:lstStyle/>
          <a:p>
            <a:r>
              <a:rPr lang="en-US" b="1" dirty="0"/>
              <a:t>Flow Control Concept</a:t>
            </a:r>
            <a:endParaRPr lang="en-IN" dirty="0"/>
          </a:p>
        </p:txBody>
      </p:sp>
      <p:sp>
        <p:nvSpPr>
          <p:cNvPr id="3" name="Content Placeholder 2">
            <a:extLst>
              <a:ext uri="{FF2B5EF4-FFF2-40B4-BE49-F238E27FC236}">
                <a16:creationId xmlns:a16="http://schemas.microsoft.com/office/drawing/2014/main" id="{D1FC3B79-0366-FA01-327B-6A9F63EB7FFA}"/>
              </a:ext>
            </a:extLst>
          </p:cNvPr>
          <p:cNvSpPr>
            <a:spLocks noGrp="1"/>
          </p:cNvSpPr>
          <p:nvPr>
            <p:ph idx="1"/>
          </p:nvPr>
        </p:nvSpPr>
        <p:spPr/>
        <p:txBody>
          <a:bodyPr/>
          <a:lstStyle/>
          <a:p>
            <a:r>
              <a:rPr lang="en-US" b="1" dirty="0"/>
              <a:t>Flow control</a:t>
            </a:r>
            <a:r>
              <a:rPr lang="en-US" dirty="0"/>
              <a:t> prevents a </a:t>
            </a:r>
            <a:r>
              <a:rPr lang="en-US" b="1" dirty="0"/>
              <a:t>fast sender</a:t>
            </a:r>
            <a:r>
              <a:rPr lang="en-US" dirty="0"/>
              <a:t> from overrunning a </a:t>
            </a:r>
            <a:r>
              <a:rPr lang="en-US" b="1" dirty="0"/>
              <a:t>slow receiver</a:t>
            </a:r>
            <a:r>
              <a:rPr lang="en-US" dirty="0"/>
              <a:t>.</a:t>
            </a:r>
          </a:p>
          <a:p>
            <a:r>
              <a:rPr lang="en-US" dirty="0"/>
              <a:t>Both the </a:t>
            </a:r>
            <a:r>
              <a:rPr lang="en-US" b="1" dirty="0"/>
              <a:t>data link layer</a:t>
            </a:r>
            <a:r>
              <a:rPr lang="en-US" dirty="0"/>
              <a:t> and </a:t>
            </a:r>
            <a:r>
              <a:rPr lang="en-US" b="1" dirty="0"/>
              <a:t>transport layer</a:t>
            </a:r>
            <a:r>
              <a:rPr lang="en-US" dirty="0"/>
              <a:t> use mechanisms like </a:t>
            </a:r>
            <a:r>
              <a:rPr lang="en-US" b="1" dirty="0"/>
              <a:t>sliding window protocols</a:t>
            </a:r>
            <a:r>
              <a:rPr lang="en-US" dirty="0"/>
              <a:t> for this purpose.</a:t>
            </a:r>
          </a:p>
          <a:p>
            <a:r>
              <a:rPr lang="en-US" dirty="0"/>
              <a:t>However, there’s a major difference:</a:t>
            </a:r>
          </a:p>
          <a:p>
            <a:pPr lvl="1"/>
            <a:r>
              <a:rPr lang="en-US" dirty="0"/>
              <a:t>In the </a:t>
            </a:r>
            <a:r>
              <a:rPr lang="en-US" b="1" dirty="0"/>
              <a:t>data link layer</a:t>
            </a:r>
            <a:r>
              <a:rPr lang="en-US" dirty="0"/>
              <a:t>, routers have </a:t>
            </a:r>
            <a:r>
              <a:rPr lang="en-US" b="1" dirty="0"/>
              <a:t>few lines</a:t>
            </a:r>
            <a:r>
              <a:rPr lang="en-US" dirty="0"/>
              <a:t> to manage.</a:t>
            </a:r>
          </a:p>
          <a:p>
            <a:pPr lvl="1"/>
            <a:r>
              <a:rPr lang="en-US" dirty="0"/>
              <a:t>In the </a:t>
            </a:r>
            <a:r>
              <a:rPr lang="en-US" b="1" dirty="0"/>
              <a:t>transport layer</a:t>
            </a:r>
            <a:r>
              <a:rPr lang="en-US" dirty="0"/>
              <a:t>, a host may have </a:t>
            </a:r>
            <a:r>
              <a:rPr lang="en-US" b="1" dirty="0"/>
              <a:t>many simultaneous connections</a:t>
            </a:r>
            <a:r>
              <a:rPr lang="en-US" dirty="0"/>
              <a:t>, making it impractical to assign fixed buffers for each connection.</a:t>
            </a:r>
          </a:p>
          <a:p>
            <a:endParaRPr lang="en-IN" dirty="0"/>
          </a:p>
        </p:txBody>
      </p:sp>
    </p:spTree>
    <p:extLst>
      <p:ext uri="{BB962C8B-B14F-4D97-AF65-F5344CB8AC3E}">
        <p14:creationId xmlns:p14="http://schemas.microsoft.com/office/powerpoint/2010/main" val="2461945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7118F-CFFA-D454-D954-7D2A68A671C4}"/>
              </a:ext>
            </a:extLst>
          </p:cNvPr>
          <p:cNvSpPr>
            <a:spLocks noGrp="1"/>
          </p:cNvSpPr>
          <p:nvPr>
            <p:ph type="title"/>
          </p:nvPr>
        </p:nvSpPr>
        <p:spPr/>
        <p:txBody>
          <a:bodyPr/>
          <a:lstStyle/>
          <a:p>
            <a:r>
              <a:rPr lang="en-US" dirty="0"/>
              <a:t>Buffering in the Transport Layer</a:t>
            </a:r>
            <a:endParaRPr lang="en-IN" dirty="0"/>
          </a:p>
        </p:txBody>
      </p:sp>
      <p:sp>
        <p:nvSpPr>
          <p:cNvPr id="3" name="Content Placeholder 2">
            <a:extLst>
              <a:ext uri="{FF2B5EF4-FFF2-40B4-BE49-F238E27FC236}">
                <a16:creationId xmlns:a16="http://schemas.microsoft.com/office/drawing/2014/main" id="{36B206F0-B87A-8D1F-A59D-AE0C0CA39456}"/>
              </a:ext>
            </a:extLst>
          </p:cNvPr>
          <p:cNvSpPr>
            <a:spLocks noGrp="1"/>
          </p:cNvSpPr>
          <p:nvPr>
            <p:ph idx="1"/>
          </p:nvPr>
        </p:nvSpPr>
        <p:spPr>
          <a:xfrm>
            <a:off x="634482" y="1690688"/>
            <a:ext cx="11224726" cy="4971369"/>
          </a:xfrm>
        </p:spPr>
        <p:txBody>
          <a:bodyPr>
            <a:normAutofit fontScale="92500" lnSpcReduction="10000"/>
          </a:bodyPr>
          <a:lstStyle/>
          <a:p>
            <a:r>
              <a:rPr lang="en-US" b="1" dirty="0"/>
              <a:t>(a) Data Link Layer Buffering</a:t>
            </a:r>
          </a:p>
          <a:p>
            <a:r>
              <a:rPr lang="en-US" dirty="0"/>
              <a:t>In data link protocols both sender and receiver routers keep a </a:t>
            </a:r>
            <a:r>
              <a:rPr lang="en-US" dirty="0">
                <a:solidFill>
                  <a:schemeClr val="tx1">
                    <a:lumMod val="20000"/>
                    <a:lumOff val="80000"/>
                  </a:schemeClr>
                </a:solidFill>
              </a:rPr>
              <a:t>fixed number of buffers per line.</a:t>
            </a:r>
            <a:br>
              <a:rPr lang="en-US" dirty="0"/>
            </a:br>
            <a:endParaRPr lang="en-US" dirty="0"/>
          </a:p>
          <a:p>
            <a:r>
              <a:rPr lang="en-US" b="1" dirty="0"/>
              <a:t>(b) Transport Layer Buffering</a:t>
            </a:r>
          </a:p>
          <a:p>
            <a:r>
              <a:rPr lang="en-US" dirty="0"/>
              <a:t>The </a:t>
            </a:r>
            <a:r>
              <a:rPr lang="en-US" b="1" dirty="0"/>
              <a:t>sender</a:t>
            </a:r>
            <a:r>
              <a:rPr lang="en-US" dirty="0"/>
              <a:t> must buffer all outgoing </a:t>
            </a:r>
            <a:r>
              <a:rPr lang="en-US" b="1" dirty="0"/>
              <a:t>Transport Protocol Data Units (TPDUs)</a:t>
            </a:r>
            <a:r>
              <a:rPr lang="en-US" dirty="0"/>
              <a:t> until they are </a:t>
            </a:r>
            <a:r>
              <a:rPr lang="en-US" b="1" dirty="0"/>
              <a:t>acknowledged</a:t>
            </a:r>
            <a:r>
              <a:rPr lang="en-US" dirty="0"/>
              <a:t>, in case they need retransmission.</a:t>
            </a:r>
          </a:p>
          <a:p>
            <a:r>
              <a:rPr lang="en-US" dirty="0"/>
              <a:t>The </a:t>
            </a:r>
            <a:r>
              <a:rPr lang="en-US" b="1" dirty="0"/>
              <a:t>receiver</a:t>
            </a:r>
            <a:r>
              <a:rPr lang="en-US" dirty="0"/>
              <a:t> may use:</a:t>
            </a:r>
          </a:p>
          <a:p>
            <a:pPr lvl="1"/>
            <a:r>
              <a:rPr lang="en-US" b="1" dirty="0"/>
              <a:t>Dedicated buffers</a:t>
            </a:r>
            <a:r>
              <a:rPr lang="en-US" dirty="0"/>
              <a:t> for each connection, or</a:t>
            </a:r>
          </a:p>
          <a:p>
            <a:pPr lvl="1"/>
            <a:r>
              <a:rPr lang="en-US" dirty="0"/>
              <a:t>A </a:t>
            </a:r>
            <a:r>
              <a:rPr lang="en-US" b="1" dirty="0"/>
              <a:t>shared buffer pool</a:t>
            </a:r>
            <a:r>
              <a:rPr lang="en-US" dirty="0"/>
              <a:t> for all connections.</a:t>
            </a:r>
          </a:p>
          <a:p>
            <a:r>
              <a:rPr lang="en-US" dirty="0"/>
              <a:t>If no buffer is available when a TPDU arrives, it may be discarded. The sender will simply </a:t>
            </a:r>
            <a:r>
              <a:rPr lang="en-US" b="1" dirty="0"/>
              <a:t>retransmit</a:t>
            </a:r>
            <a:r>
              <a:rPr lang="en-US" dirty="0"/>
              <a:t> it later, since it already keeps a copy.</a:t>
            </a:r>
          </a:p>
          <a:p>
            <a:endParaRPr lang="en-IN" dirty="0"/>
          </a:p>
        </p:txBody>
      </p:sp>
    </p:spTree>
    <p:extLst>
      <p:ext uri="{BB962C8B-B14F-4D97-AF65-F5344CB8AC3E}">
        <p14:creationId xmlns:p14="http://schemas.microsoft.com/office/powerpoint/2010/main" val="37955373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9D0F3-6BD7-D257-4E81-40D9B4BC0D1B}"/>
              </a:ext>
            </a:extLst>
          </p:cNvPr>
          <p:cNvSpPr>
            <a:spLocks noGrp="1"/>
          </p:cNvSpPr>
          <p:nvPr>
            <p:ph type="title"/>
          </p:nvPr>
        </p:nvSpPr>
        <p:spPr>
          <a:xfrm>
            <a:off x="838200" y="365126"/>
            <a:ext cx="10515600" cy="853422"/>
          </a:xfrm>
        </p:spPr>
        <p:txBody>
          <a:bodyPr/>
          <a:lstStyle/>
          <a:p>
            <a:endParaRPr lang="en-IN" dirty="0"/>
          </a:p>
        </p:txBody>
      </p:sp>
      <p:sp>
        <p:nvSpPr>
          <p:cNvPr id="4" name="Rectangle 1">
            <a:extLst>
              <a:ext uri="{FF2B5EF4-FFF2-40B4-BE49-F238E27FC236}">
                <a16:creationId xmlns:a16="http://schemas.microsoft.com/office/drawing/2014/main" id="{A270810F-5353-4C5B-05AB-A36F29C7FD3F}"/>
              </a:ext>
            </a:extLst>
          </p:cNvPr>
          <p:cNvSpPr>
            <a:spLocks noGrp="1" noChangeArrowheads="1"/>
          </p:cNvSpPr>
          <p:nvPr>
            <p:ph idx="1"/>
          </p:nvPr>
        </p:nvSpPr>
        <p:spPr bwMode="auto">
          <a:xfrm>
            <a:off x="676275" y="1218548"/>
            <a:ext cx="10839450" cy="5839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Sender vs Receiver Buffering</a:t>
            </a:r>
          </a:p>
          <a:p>
            <a:r>
              <a:rPr lang="en-US" sz="2400" dirty="0"/>
              <a:t>For </a:t>
            </a:r>
            <a:r>
              <a:rPr lang="en-US" sz="2400" b="1" dirty="0"/>
              <a:t>low-bandwidth, bursty traffic</a:t>
            </a:r>
            <a:r>
              <a:rPr lang="en-US" sz="2400" dirty="0"/>
              <a:t> (like interactive terminal sessions):</a:t>
            </a:r>
            <a:br>
              <a:rPr lang="en-US" sz="2400" dirty="0"/>
            </a:br>
            <a:r>
              <a:rPr lang="en-US" sz="2400" dirty="0"/>
              <a:t>→ Better to buffer at the </a:t>
            </a:r>
            <a:r>
              <a:rPr lang="en-US" sz="2400" b="1" dirty="0"/>
              <a:t>sender</a:t>
            </a:r>
            <a:r>
              <a:rPr lang="en-US" sz="2400" dirty="0"/>
              <a:t>.</a:t>
            </a:r>
            <a:br>
              <a:rPr lang="en-US" sz="2400" dirty="0"/>
            </a:br>
            <a:r>
              <a:rPr lang="en-US" sz="2400" dirty="0"/>
              <a:t>→ Buffers are allocated </a:t>
            </a:r>
            <a:r>
              <a:rPr lang="en-US" sz="2400" b="1" dirty="0"/>
              <a:t>dynamically</a:t>
            </a:r>
            <a:r>
              <a:rPr lang="en-US" sz="2400" dirty="0"/>
              <a:t> as needed.</a:t>
            </a:r>
          </a:p>
          <a:p>
            <a:r>
              <a:rPr lang="en-US" sz="2400" dirty="0"/>
              <a:t>For </a:t>
            </a:r>
            <a:r>
              <a:rPr lang="en-US" sz="2400" b="1" dirty="0"/>
              <a:t>high-bandwidth, steady traffic</a:t>
            </a:r>
            <a:r>
              <a:rPr lang="en-US" sz="2400" dirty="0"/>
              <a:t> (like file transfers):</a:t>
            </a:r>
            <a:br>
              <a:rPr lang="en-US" sz="2400" dirty="0"/>
            </a:br>
            <a:r>
              <a:rPr lang="en-US" sz="2400" dirty="0"/>
              <a:t>→ Better to buffer at the </a:t>
            </a:r>
            <a:r>
              <a:rPr lang="en-US" sz="2400" b="1" dirty="0"/>
              <a:t>receiver</a:t>
            </a:r>
            <a:r>
              <a:rPr lang="en-US" sz="2400" dirty="0"/>
              <a:t>.</a:t>
            </a:r>
            <a:br>
              <a:rPr lang="en-US" sz="2400" dirty="0"/>
            </a:br>
            <a:r>
              <a:rPr lang="en-US" sz="2400" dirty="0"/>
              <a:t>→ The receiver dedicates a </a:t>
            </a:r>
            <a:r>
              <a:rPr lang="en-US" sz="2400" b="1" dirty="0"/>
              <a:t>full window of buffers</a:t>
            </a:r>
            <a:r>
              <a:rPr lang="en-US" sz="2400" dirty="0"/>
              <a:t> to keep data flowing smoothly.</a:t>
            </a:r>
          </a:p>
          <a:p>
            <a:pPr eaLnBrk="0" fontAlgn="base" hangingPunct="0">
              <a:lnSpc>
                <a:spcPct val="100000"/>
              </a:lnSpc>
              <a:spcBef>
                <a:spcPct val="0"/>
              </a:spcBef>
              <a:spcAft>
                <a:spcPct val="0"/>
              </a:spcAft>
            </a:pPr>
            <a:endParaRPr lang="en-US" altLang="en-US" sz="2400" dirty="0"/>
          </a:p>
          <a:p>
            <a:pPr eaLnBrk="0" fontAlgn="base" hangingPunct="0">
              <a:lnSpc>
                <a:spcPct val="100000"/>
              </a:lnSpc>
              <a:spcBef>
                <a:spcPct val="0"/>
              </a:spcBef>
              <a:spcAft>
                <a:spcPct val="0"/>
              </a:spcAft>
            </a:pPr>
            <a:r>
              <a:rPr lang="en-US" altLang="en-US" sz="2400" dirty="0"/>
              <a:t>With an unreliable network service, the sender must buffer all sent TPDUs until acknowledged.</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With a reliable network service, buffering strategy can vary:</a:t>
            </a:r>
          </a:p>
          <a:p>
            <a:pPr marL="457200" lvl="1" indent="0" eaLnBrk="0" fontAlgn="base" hangingPunct="0">
              <a:lnSpc>
                <a:spcPct val="100000"/>
              </a:lnSpc>
              <a:spcBef>
                <a:spcPct val="0"/>
              </a:spcBef>
              <a:spcAft>
                <a:spcPct val="0"/>
              </a:spcAft>
              <a:buFontTx/>
              <a:buChar char="•"/>
            </a:pPr>
            <a:r>
              <a:rPr lang="en-US" altLang="en-US" sz="2000" dirty="0"/>
              <a:t>If the sender knows the receiver always has space, it can avoid keeping copies.</a:t>
            </a:r>
          </a:p>
          <a:p>
            <a:pPr marL="457200" lvl="1" indent="0" eaLnBrk="0" fontAlgn="base" hangingPunct="0">
              <a:lnSpc>
                <a:spcPct val="100000"/>
              </a:lnSpc>
              <a:spcBef>
                <a:spcPct val="0"/>
              </a:spcBef>
              <a:spcAft>
                <a:spcPct val="0"/>
              </a:spcAft>
              <a:buFontTx/>
              <a:buChar char="•"/>
            </a:pPr>
            <a:r>
              <a:rPr lang="en-US" altLang="en-US" sz="2000" dirty="0"/>
              <a:t>But if the receiver may run out of buffers, the sender must still buffer, since a network-level acknowledgment only means arrival, not acceptance by the receiver.</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p>
        </p:txBody>
      </p:sp>
    </p:spTree>
    <p:extLst>
      <p:ext uri="{BB962C8B-B14F-4D97-AF65-F5344CB8AC3E}">
        <p14:creationId xmlns:p14="http://schemas.microsoft.com/office/powerpoint/2010/main" val="961713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CF833-2EB7-F9FD-E2B4-5F5C21D8A9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31BAAE-4B1E-C1C2-976E-790B00772EFE}"/>
              </a:ext>
            </a:extLst>
          </p:cNvPr>
          <p:cNvSpPr>
            <a:spLocks noGrp="1"/>
          </p:cNvSpPr>
          <p:nvPr>
            <p:ph idx="1"/>
          </p:nvPr>
        </p:nvSpPr>
        <p:spPr/>
        <p:txBody>
          <a:bodyPr>
            <a:normAutofit fontScale="77500" lnSpcReduction="20000"/>
          </a:bodyPr>
          <a:lstStyle/>
          <a:p>
            <a:r>
              <a:rPr lang="en-US" b="1" dirty="0"/>
              <a:t>Buffer Size Management</a:t>
            </a:r>
          </a:p>
          <a:p>
            <a:r>
              <a:rPr lang="en-US" dirty="0"/>
              <a:t>The question of </a:t>
            </a:r>
            <a:r>
              <a:rPr lang="en-US" b="1" dirty="0"/>
              <a:t>how large buffers should be</a:t>
            </a:r>
            <a:r>
              <a:rPr lang="en-US" dirty="0"/>
              <a:t> depends on TPDU sizes and traffic types.</a:t>
            </a:r>
          </a:p>
          <a:p>
            <a:r>
              <a:rPr lang="en-US" b="1" dirty="0"/>
              <a:t>Types of Buffering Approaches:</a:t>
            </a:r>
          </a:p>
          <a:p>
            <a:r>
              <a:rPr lang="en-US" b="1" dirty="0"/>
              <a:t>Fixed-size buffers:</a:t>
            </a:r>
            <a:endParaRPr lang="en-US" dirty="0"/>
          </a:p>
          <a:p>
            <a:pPr lvl="1"/>
            <a:r>
              <a:rPr lang="en-US" dirty="0"/>
              <a:t>One TPDU per buffer (good for uniform sizes).</a:t>
            </a:r>
          </a:p>
          <a:p>
            <a:pPr lvl="1"/>
            <a:r>
              <a:rPr lang="en-US" dirty="0"/>
              <a:t>Wastes space when TPDUs are small.</a:t>
            </a:r>
          </a:p>
          <a:p>
            <a:pPr lvl="1"/>
            <a:r>
              <a:rPr lang="en-US" dirty="0"/>
              <a:t>Needs multiple buffers for large TPDUs.</a:t>
            </a:r>
          </a:p>
          <a:p>
            <a:r>
              <a:rPr lang="en-US" b="1" dirty="0"/>
              <a:t>Variable-size buffers:</a:t>
            </a:r>
            <a:endParaRPr lang="en-US" dirty="0"/>
          </a:p>
          <a:p>
            <a:pPr lvl="1"/>
            <a:r>
              <a:rPr lang="en-US" dirty="0"/>
              <a:t>Better memory efficiency.</a:t>
            </a:r>
          </a:p>
          <a:p>
            <a:pPr lvl="1"/>
            <a:r>
              <a:rPr lang="en-US" dirty="0"/>
              <a:t>More complex buffer management.</a:t>
            </a:r>
          </a:p>
          <a:p>
            <a:r>
              <a:rPr lang="en-US" b="1" dirty="0"/>
              <a:t>Circular buffer per connection:</a:t>
            </a:r>
            <a:endParaRPr lang="en-US" dirty="0"/>
          </a:p>
          <a:p>
            <a:pPr lvl="1"/>
            <a:r>
              <a:rPr lang="en-US" dirty="0"/>
              <a:t>Uses memory efficiently for busy connections.</a:t>
            </a:r>
          </a:p>
          <a:p>
            <a:pPr lvl="1"/>
            <a:r>
              <a:rPr lang="en-US" dirty="0"/>
              <a:t>Wasteful if some connections are idle.</a:t>
            </a:r>
          </a:p>
          <a:p>
            <a:endParaRPr lang="en-IN" dirty="0"/>
          </a:p>
        </p:txBody>
      </p:sp>
      <p:pic>
        <p:nvPicPr>
          <p:cNvPr id="6" name="Picture 5">
            <a:extLst>
              <a:ext uri="{FF2B5EF4-FFF2-40B4-BE49-F238E27FC236}">
                <a16:creationId xmlns:a16="http://schemas.microsoft.com/office/drawing/2014/main" id="{8A457AE2-8EF2-9B6C-DA7B-2514FC99549A}"/>
              </a:ext>
            </a:extLst>
          </p:cNvPr>
          <p:cNvPicPr>
            <a:picLocks noChangeAspect="1"/>
          </p:cNvPicPr>
          <p:nvPr/>
        </p:nvPicPr>
        <p:blipFill>
          <a:blip r:embed="rId2"/>
          <a:stretch>
            <a:fillRect/>
          </a:stretch>
        </p:blipFill>
        <p:spPr>
          <a:xfrm>
            <a:off x="6599799" y="2980718"/>
            <a:ext cx="5296731" cy="2827972"/>
          </a:xfrm>
          <a:prstGeom prst="rect">
            <a:avLst/>
          </a:prstGeom>
        </p:spPr>
      </p:pic>
    </p:spTree>
    <p:extLst>
      <p:ext uri="{BB962C8B-B14F-4D97-AF65-F5344CB8AC3E}">
        <p14:creationId xmlns:p14="http://schemas.microsoft.com/office/powerpoint/2010/main" val="5864577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A85B5-E50D-136F-288B-D3ACC873BFC4}"/>
              </a:ext>
            </a:extLst>
          </p:cNvPr>
          <p:cNvSpPr>
            <a:spLocks noGrp="1"/>
          </p:cNvSpPr>
          <p:nvPr>
            <p:ph type="title"/>
          </p:nvPr>
        </p:nvSpPr>
        <p:spPr>
          <a:xfrm>
            <a:off x="475861" y="169182"/>
            <a:ext cx="10515600" cy="763879"/>
          </a:xfrm>
        </p:spPr>
        <p:txBody>
          <a:bodyPr/>
          <a:lstStyle/>
          <a:p>
            <a:r>
              <a:rPr lang="en-IN" b="1" dirty="0"/>
              <a:t>5.Multiplexing</a:t>
            </a:r>
          </a:p>
        </p:txBody>
      </p:sp>
      <p:sp>
        <p:nvSpPr>
          <p:cNvPr id="4" name="Rectangle 1">
            <a:extLst>
              <a:ext uri="{FF2B5EF4-FFF2-40B4-BE49-F238E27FC236}">
                <a16:creationId xmlns:a16="http://schemas.microsoft.com/office/drawing/2014/main" id="{0645329E-9519-E486-1F2E-16809CEF6494}"/>
              </a:ext>
            </a:extLst>
          </p:cNvPr>
          <p:cNvSpPr>
            <a:spLocks noGrp="1" noChangeArrowheads="1"/>
          </p:cNvSpPr>
          <p:nvPr>
            <p:ph idx="1"/>
          </p:nvPr>
        </p:nvSpPr>
        <p:spPr bwMode="auto">
          <a:xfrm>
            <a:off x="475861" y="1086844"/>
            <a:ext cx="11056776"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200" dirty="0"/>
              <a:t>Multiplexing means sharing one connection or link among multiple conversations.</a:t>
            </a:r>
            <a:br>
              <a:rPr lang="en-US" altLang="en-US" sz="2200" dirty="0"/>
            </a:br>
            <a:r>
              <a:rPr lang="en-US" altLang="en-US" sz="2200" dirty="0"/>
              <a:t>It helps different processes or applications use the same network interface efficiently.</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200" dirty="0"/>
              <a:t>Upward Multiplexing:</a:t>
            </a:r>
            <a:br>
              <a:rPr lang="en-US" altLang="en-US" sz="2200" dirty="0"/>
            </a:br>
            <a:r>
              <a:rPr lang="en-US" altLang="en-US" sz="2200" dirty="0"/>
              <a:t>When a host has only one network address, multiple transport connections must use that same address.</a:t>
            </a:r>
            <a:br>
              <a:rPr lang="en-US" altLang="en-US" sz="2200" dirty="0"/>
            </a:br>
            <a:r>
              <a:rPr lang="en-US" altLang="en-US" sz="2200" dirty="0"/>
              <a:t>Incoming packets are then separated and delivered to the correct process.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200" dirty="0"/>
              <a:t>Downward Multiplexing:</a:t>
            </a:r>
            <a:br>
              <a:rPr lang="en-US" altLang="en-US" sz="2200" dirty="0"/>
            </a:br>
            <a:r>
              <a:rPr lang="en-US" altLang="en-US" sz="2200" dirty="0"/>
              <a:t>Sometimes a single network connection cannot provide enough bandwidth.</a:t>
            </a:r>
            <a:br>
              <a:rPr lang="en-US" altLang="en-US" sz="2200" dirty="0"/>
            </a:br>
            <a:r>
              <a:rPr lang="en-US" altLang="en-US" sz="2200" dirty="0"/>
              <a:t>To increase capacity, multiple network connections are opened and used together.</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200" dirty="0"/>
              <a:t>In downward multiplexing, data is split across multiple connections (e.g., round-robin sending).</a:t>
            </a:r>
            <a:br>
              <a:rPr lang="en-US" altLang="en-US" sz="2200" dirty="0"/>
            </a:br>
            <a:r>
              <a:rPr lang="en-US" altLang="en-US" sz="2200" dirty="0"/>
              <a:t>This increases the effective bandwidth.</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200" dirty="0"/>
              <a:t>Example:</a:t>
            </a:r>
            <a:br>
              <a:rPr lang="en-US" altLang="en-US" sz="2200" dirty="0"/>
            </a:br>
            <a:r>
              <a:rPr lang="en-US" altLang="en-US" sz="2200" dirty="0"/>
              <a:t>An ISDN line offers two 64 kbps channels.</a:t>
            </a:r>
            <a:br>
              <a:rPr lang="en-US" altLang="en-US" sz="2200" dirty="0"/>
            </a:br>
            <a:r>
              <a:rPr lang="en-US" altLang="en-US" sz="2200" dirty="0"/>
              <a:t>Using both channels simultaneously gives the user 128 kbps total bandwidth through downward multiplexing.</a:t>
            </a:r>
          </a:p>
        </p:txBody>
      </p:sp>
    </p:spTree>
    <p:extLst>
      <p:ext uri="{BB962C8B-B14F-4D97-AF65-F5344CB8AC3E}">
        <p14:creationId xmlns:p14="http://schemas.microsoft.com/office/powerpoint/2010/main" val="2530166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7D4E1-FF25-CD00-3821-E04A34E85ABE}"/>
              </a:ext>
            </a:extLst>
          </p:cNvPr>
          <p:cNvSpPr>
            <a:spLocks noGrp="1"/>
          </p:cNvSpPr>
          <p:nvPr>
            <p:ph type="title"/>
          </p:nvPr>
        </p:nvSpPr>
        <p:spPr>
          <a:xfrm>
            <a:off x="578499" y="184666"/>
            <a:ext cx="10515600" cy="997144"/>
          </a:xfrm>
        </p:spPr>
        <p:txBody>
          <a:bodyPr/>
          <a:lstStyle/>
          <a:p>
            <a:r>
              <a:rPr lang="en-US" b="1" dirty="0"/>
              <a:t>6.Crash Recovery</a:t>
            </a:r>
            <a:endParaRPr lang="en-IN" dirty="0"/>
          </a:p>
        </p:txBody>
      </p:sp>
      <p:sp>
        <p:nvSpPr>
          <p:cNvPr id="3" name="Content Placeholder 2">
            <a:extLst>
              <a:ext uri="{FF2B5EF4-FFF2-40B4-BE49-F238E27FC236}">
                <a16:creationId xmlns:a16="http://schemas.microsoft.com/office/drawing/2014/main" id="{E6F250AD-4C12-DA4E-2858-341ED44297E5}"/>
              </a:ext>
            </a:extLst>
          </p:cNvPr>
          <p:cNvSpPr>
            <a:spLocks noGrp="1"/>
          </p:cNvSpPr>
          <p:nvPr>
            <p:ph idx="1"/>
          </p:nvPr>
        </p:nvSpPr>
        <p:spPr>
          <a:xfrm>
            <a:off x="345233" y="1110344"/>
            <a:ext cx="11523305" cy="5562990"/>
          </a:xfrm>
        </p:spPr>
        <p:txBody>
          <a:bodyPr>
            <a:normAutofit fontScale="92500" lnSpcReduction="20000"/>
          </a:bodyPr>
          <a:lstStyle/>
          <a:p>
            <a:pPr marL="0" lvl="0" indent="0">
              <a:buSzPts val="1800"/>
              <a:buNone/>
            </a:pPr>
            <a:r>
              <a:rPr lang="en-US" dirty="0"/>
              <a:t>•When data transfers take a long time (like downloading big files), sometimes </a:t>
            </a:r>
            <a:r>
              <a:rPr lang="en-US" b="1" dirty="0"/>
              <a:t>a host (computer)</a:t>
            </a:r>
            <a:r>
              <a:rPr lang="en-US" dirty="0"/>
              <a:t> or </a:t>
            </a:r>
            <a:r>
              <a:rPr lang="en-US" b="1" dirty="0"/>
              <a:t>a router (network device)</a:t>
            </a:r>
            <a:r>
              <a:rPr lang="en-US" dirty="0"/>
              <a:t> might crash. The system must then figure out how to </a:t>
            </a:r>
            <a:r>
              <a:rPr lang="en-US" b="1" dirty="0"/>
              <a:t>recover the connection</a:t>
            </a:r>
            <a:r>
              <a:rPr lang="en-US" dirty="0"/>
              <a:t> without starting everything from the beginning.</a:t>
            </a:r>
          </a:p>
          <a:p>
            <a:pPr eaLnBrk="0" fontAlgn="base" hangingPunct="0">
              <a:lnSpc>
                <a:spcPct val="100000"/>
              </a:lnSpc>
              <a:spcBef>
                <a:spcPct val="0"/>
              </a:spcBef>
              <a:spcAft>
                <a:spcPct val="0"/>
              </a:spcAft>
            </a:pPr>
            <a:r>
              <a:rPr lang="en-US" altLang="en-US" dirty="0">
                <a:solidFill>
                  <a:schemeClr val="tx1">
                    <a:lumMod val="20000"/>
                    <a:lumOff val="80000"/>
                  </a:schemeClr>
                </a:solidFill>
              </a:rPr>
              <a:t>Router or network crashes are easier to handle:</a:t>
            </a:r>
          </a:p>
          <a:p>
            <a:pPr marL="457200" lvl="1" indent="0" eaLnBrk="0" fontAlgn="base" hangingPunct="0">
              <a:lnSpc>
                <a:spcPct val="100000"/>
              </a:lnSpc>
              <a:spcBef>
                <a:spcPct val="0"/>
              </a:spcBef>
              <a:spcAft>
                <a:spcPct val="0"/>
              </a:spcAft>
              <a:buFontTx/>
              <a:buChar char="•"/>
            </a:pPr>
            <a:r>
              <a:rPr lang="en-US" altLang="en-US" dirty="0"/>
              <a:t>If routers or parts of the network fail, packets may get lost.</a:t>
            </a:r>
          </a:p>
          <a:p>
            <a:pPr marL="457200" lvl="1" indent="0" eaLnBrk="0" fontAlgn="base" hangingPunct="0">
              <a:lnSpc>
                <a:spcPct val="100000"/>
              </a:lnSpc>
              <a:spcBef>
                <a:spcPct val="0"/>
              </a:spcBef>
              <a:spcAft>
                <a:spcPct val="0"/>
              </a:spcAft>
              <a:buFontTx/>
              <a:buChar char="•"/>
            </a:pPr>
            <a:r>
              <a:rPr lang="en-US" altLang="en-US" dirty="0"/>
              <a:t>The transport layer (like TCP) in the hosts already knows how to </a:t>
            </a:r>
            <a:r>
              <a:rPr lang="en-US" altLang="en-US" dirty="0">
                <a:solidFill>
                  <a:schemeClr val="tx1">
                    <a:lumMod val="20000"/>
                    <a:lumOff val="80000"/>
                  </a:schemeClr>
                </a:solidFill>
              </a:rPr>
              <a:t>handle lost packets by retransmitting them</a:t>
            </a:r>
            <a:r>
              <a:rPr lang="en-US" altLang="en-US" dirty="0"/>
              <a:t>, so this recovery is manageable.</a:t>
            </a:r>
          </a:p>
          <a:p>
            <a:pPr eaLnBrk="0" fontAlgn="base" hangingPunct="0">
              <a:lnSpc>
                <a:spcPct val="100000"/>
              </a:lnSpc>
              <a:spcBef>
                <a:spcPct val="0"/>
              </a:spcBef>
              <a:spcAft>
                <a:spcPct val="0"/>
              </a:spcAft>
            </a:pPr>
            <a:r>
              <a:rPr lang="en-US" altLang="en-US" dirty="0">
                <a:solidFill>
                  <a:schemeClr val="tx1">
                    <a:lumMod val="20000"/>
                    <a:lumOff val="80000"/>
                  </a:schemeClr>
                </a:solidFill>
              </a:rPr>
              <a:t>Host crashes are harder to handle:</a:t>
            </a:r>
          </a:p>
          <a:p>
            <a:pPr marL="457200" lvl="1" indent="0" eaLnBrk="0" fontAlgn="base" hangingPunct="0">
              <a:lnSpc>
                <a:spcPct val="100000"/>
              </a:lnSpc>
              <a:spcBef>
                <a:spcPct val="0"/>
              </a:spcBef>
              <a:spcAft>
                <a:spcPct val="0"/>
              </a:spcAft>
              <a:buFontTx/>
              <a:buChar char="•"/>
            </a:pPr>
            <a:r>
              <a:rPr lang="en-US" altLang="en-US" dirty="0"/>
              <a:t>If a host (like a client or server) crashes, the connection state (like sequence numbers, buffers, etc.) is lost.</a:t>
            </a:r>
          </a:p>
          <a:p>
            <a:pPr marL="457200" lvl="1" indent="0" eaLnBrk="0" fontAlgn="base" hangingPunct="0">
              <a:lnSpc>
                <a:spcPct val="100000"/>
              </a:lnSpc>
              <a:spcBef>
                <a:spcPct val="0"/>
              </a:spcBef>
              <a:spcAft>
                <a:spcPct val="0"/>
              </a:spcAft>
              <a:buFontTx/>
              <a:buChar char="•"/>
            </a:pPr>
            <a:r>
              <a:rPr lang="en-US" altLang="en-US" dirty="0"/>
              <a:t>When the host comes back (reboots), it </a:t>
            </a:r>
            <a:r>
              <a:rPr lang="en-US" altLang="en-US" dirty="0">
                <a:solidFill>
                  <a:schemeClr val="tx1">
                    <a:lumMod val="20000"/>
                    <a:lumOff val="80000"/>
                  </a:schemeClr>
                </a:solidFill>
              </a:rPr>
              <a:t>no longer remembers the old connection.</a:t>
            </a:r>
          </a:p>
          <a:p>
            <a:pPr marL="457200" lvl="1" indent="0" eaLnBrk="0" fontAlgn="base" hangingPunct="0">
              <a:lnSpc>
                <a:spcPct val="100000"/>
              </a:lnSpc>
              <a:spcBef>
                <a:spcPct val="0"/>
              </a:spcBef>
              <a:spcAft>
                <a:spcPct val="0"/>
              </a:spcAft>
              <a:buFontTx/>
              <a:buChar char="•"/>
            </a:pPr>
            <a:r>
              <a:rPr lang="en-US" altLang="en-US" dirty="0"/>
              <a:t>This causes problems for long-lived connections, because the </a:t>
            </a:r>
            <a:r>
              <a:rPr lang="en-US" altLang="en-US" dirty="0">
                <a:solidFill>
                  <a:schemeClr val="tx1">
                    <a:lumMod val="20000"/>
                    <a:lumOff val="80000"/>
                  </a:schemeClr>
                </a:solidFill>
              </a:rPr>
              <a:t>other side (the peer) may still think the connection is active.</a:t>
            </a:r>
          </a:p>
          <a:p>
            <a:pPr eaLnBrk="0" fontAlgn="base" hangingPunct="0">
              <a:lnSpc>
                <a:spcPct val="100000"/>
              </a:lnSpc>
              <a:spcBef>
                <a:spcPct val="0"/>
              </a:spcBef>
              <a:spcAft>
                <a:spcPct val="0"/>
              </a:spcAft>
            </a:pPr>
            <a:r>
              <a:rPr lang="en-US" altLang="en-US" dirty="0">
                <a:solidFill>
                  <a:schemeClr val="tx1">
                    <a:lumMod val="20000"/>
                    <a:lumOff val="80000"/>
                  </a:schemeClr>
                </a:solidFill>
              </a:rPr>
              <a:t>Desirable behavior:</a:t>
            </a:r>
          </a:p>
          <a:p>
            <a:pPr marL="457200" lvl="1" indent="0" eaLnBrk="0" fontAlgn="base" hangingPunct="0">
              <a:lnSpc>
                <a:spcPct val="100000"/>
              </a:lnSpc>
              <a:spcBef>
                <a:spcPct val="0"/>
              </a:spcBef>
              <a:spcAft>
                <a:spcPct val="0"/>
              </a:spcAft>
              <a:buFontTx/>
              <a:buChar char="•"/>
            </a:pPr>
            <a:r>
              <a:rPr lang="en-US" altLang="en-US" dirty="0"/>
              <a:t>Ideally, after a server crash and quick reboot, </a:t>
            </a:r>
            <a:r>
              <a:rPr lang="en-US" altLang="en-US" dirty="0">
                <a:solidFill>
                  <a:schemeClr val="tx1">
                    <a:lumMod val="20000"/>
                    <a:lumOff val="80000"/>
                  </a:schemeClr>
                </a:solidFill>
              </a:rPr>
              <a:t>clients should be able to resume </a:t>
            </a:r>
            <a:r>
              <a:rPr lang="en-US" altLang="en-US" dirty="0"/>
              <a:t>their session </a:t>
            </a:r>
            <a:r>
              <a:rPr lang="en-US" altLang="en-US" dirty="0">
                <a:solidFill>
                  <a:schemeClr val="tx1">
                    <a:lumMod val="20000"/>
                    <a:lumOff val="80000"/>
                  </a:schemeClr>
                </a:solidFill>
              </a:rPr>
              <a:t>without having to start over </a:t>
            </a:r>
            <a:r>
              <a:rPr lang="en-US" altLang="en-US" dirty="0"/>
              <a:t>completely.</a:t>
            </a:r>
          </a:p>
          <a:p>
            <a:pPr marL="457200" lvl="1" indent="0" eaLnBrk="0" fontAlgn="base" hangingPunct="0">
              <a:lnSpc>
                <a:spcPct val="100000"/>
              </a:lnSpc>
              <a:spcBef>
                <a:spcPct val="0"/>
              </a:spcBef>
              <a:spcAft>
                <a:spcPct val="0"/>
              </a:spcAft>
              <a:buFontTx/>
              <a:buChar char="•"/>
            </a:pPr>
            <a:r>
              <a:rPr lang="en-US" altLang="en-US" dirty="0"/>
              <a:t>This requires </a:t>
            </a:r>
            <a:r>
              <a:rPr lang="en-US" altLang="en-US" dirty="0">
                <a:solidFill>
                  <a:schemeClr val="tx1">
                    <a:lumMod val="20000"/>
                    <a:lumOff val="80000"/>
                  </a:schemeClr>
                </a:solidFill>
              </a:rPr>
              <a:t>special mechanisms for connection recovery </a:t>
            </a:r>
            <a:r>
              <a:rPr lang="en-US" altLang="en-US" dirty="0"/>
              <a:t>and state synchronization after a crash.</a:t>
            </a:r>
          </a:p>
          <a:p>
            <a:pPr marL="0" lvl="0" indent="0">
              <a:buSzPts val="1800"/>
              <a:buNone/>
            </a:pPr>
            <a:endParaRPr lang="en-US" dirty="0"/>
          </a:p>
          <a:p>
            <a:pPr marL="0" lvl="0" indent="0">
              <a:buSzPts val="1800"/>
              <a:buNone/>
            </a:pPr>
            <a:endParaRPr lang="en-IN" dirty="0"/>
          </a:p>
        </p:txBody>
      </p:sp>
    </p:spTree>
    <p:extLst>
      <p:ext uri="{BB962C8B-B14F-4D97-AF65-F5344CB8AC3E}">
        <p14:creationId xmlns:p14="http://schemas.microsoft.com/office/powerpoint/2010/main" val="3113669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085" y="416052"/>
            <a:ext cx="9679577" cy="642039"/>
          </a:xfrm>
        </p:spPr>
        <p:txBody>
          <a:bodyPr>
            <a:normAutofit fontScale="90000"/>
          </a:bodyPr>
          <a:lstStyle/>
          <a:p>
            <a:r>
              <a:rPr lang="en-IN" b="1" dirty="0"/>
              <a:t>The Internet Transport Protocols </a:t>
            </a:r>
            <a:endParaRPr lang="en-IN" dirty="0"/>
          </a:p>
        </p:txBody>
      </p:sp>
      <p:sp>
        <p:nvSpPr>
          <p:cNvPr id="3" name="Content Placeholder 2"/>
          <p:cNvSpPr>
            <a:spLocks noGrp="1"/>
          </p:cNvSpPr>
          <p:nvPr>
            <p:ph idx="1"/>
          </p:nvPr>
        </p:nvSpPr>
        <p:spPr>
          <a:xfrm>
            <a:off x="992777" y="1358537"/>
            <a:ext cx="10325256" cy="5083411"/>
          </a:xfrm>
        </p:spPr>
        <p:txBody>
          <a:bodyPr>
            <a:normAutofit/>
          </a:bodyPr>
          <a:lstStyle/>
          <a:p>
            <a:endParaRPr lang="en-IN" sz="3200" dirty="0"/>
          </a:p>
          <a:p>
            <a:r>
              <a:rPr lang="en-US" dirty="0"/>
              <a:t>The Internet has two main protocols in the transport layer, </a:t>
            </a:r>
            <a:r>
              <a:rPr lang="en-US" b="1" u="sng" dirty="0"/>
              <a:t>a connectionless protocol </a:t>
            </a:r>
            <a:r>
              <a:rPr lang="en-US" u="sng" dirty="0"/>
              <a:t>and a </a:t>
            </a:r>
            <a:r>
              <a:rPr lang="en-US" b="1" u="sng" dirty="0"/>
              <a:t>connection- oriented </a:t>
            </a:r>
            <a:r>
              <a:rPr lang="en-US" u="sng" dirty="0"/>
              <a:t>one. </a:t>
            </a:r>
            <a:r>
              <a:rPr lang="en-US" dirty="0"/>
              <a:t>The protocols complement each other. </a:t>
            </a:r>
          </a:p>
          <a:p>
            <a:r>
              <a:rPr lang="en-US" dirty="0"/>
              <a:t>The connectionless protocol is </a:t>
            </a:r>
            <a:r>
              <a:rPr lang="en-US" b="1" dirty="0"/>
              <a:t>UDP. </a:t>
            </a:r>
            <a:r>
              <a:rPr lang="en-US" dirty="0">
                <a:solidFill>
                  <a:schemeClr val="tx1">
                    <a:lumMod val="20000"/>
                    <a:lumOff val="80000"/>
                  </a:schemeClr>
                </a:solidFill>
              </a:rPr>
              <a:t>It does almost nothing beyond </a:t>
            </a:r>
            <a:r>
              <a:rPr lang="en-US" u="sng" dirty="0">
                <a:solidFill>
                  <a:schemeClr val="tx1">
                    <a:lumMod val="20000"/>
                    <a:lumOff val="80000"/>
                  </a:schemeClr>
                </a:solidFill>
              </a:rPr>
              <a:t>sending packets between applications</a:t>
            </a:r>
            <a:r>
              <a:rPr lang="en-US" dirty="0"/>
              <a:t>, letting applications build their own protocols on top as needed. </a:t>
            </a:r>
          </a:p>
          <a:p>
            <a:r>
              <a:rPr lang="en-US" dirty="0"/>
              <a:t>The connection-oriented protocol is </a:t>
            </a:r>
            <a:r>
              <a:rPr lang="en-US" b="1" dirty="0"/>
              <a:t>TCP. </a:t>
            </a:r>
            <a:r>
              <a:rPr lang="en-US" dirty="0">
                <a:solidFill>
                  <a:schemeClr val="tx1">
                    <a:lumMod val="20000"/>
                    <a:lumOff val="80000"/>
                  </a:schemeClr>
                </a:solidFill>
              </a:rPr>
              <a:t>It does almost everything</a:t>
            </a:r>
            <a:r>
              <a:rPr lang="en-US" dirty="0"/>
              <a:t>. It makes connections and </a:t>
            </a:r>
            <a:r>
              <a:rPr lang="en-US" u="sng" dirty="0">
                <a:solidFill>
                  <a:schemeClr val="tx1">
                    <a:lumMod val="20000"/>
                    <a:lumOff val="80000"/>
                  </a:schemeClr>
                </a:solidFill>
              </a:rPr>
              <a:t>adds reliability with retransmissions, along with flow control and congestion control</a:t>
            </a:r>
            <a:r>
              <a:rPr lang="en-US" dirty="0">
                <a:solidFill>
                  <a:schemeClr val="tx1">
                    <a:lumMod val="20000"/>
                    <a:lumOff val="80000"/>
                  </a:schemeClr>
                </a:solidFill>
              </a:rPr>
              <a:t>, </a:t>
            </a:r>
            <a:r>
              <a:rPr lang="en-US" dirty="0"/>
              <a:t>all on behalf of the applications that use it. </a:t>
            </a:r>
          </a:p>
        </p:txBody>
      </p:sp>
    </p:spTree>
    <p:extLst>
      <p:ext uri="{BB962C8B-B14F-4D97-AF65-F5344CB8AC3E}">
        <p14:creationId xmlns:p14="http://schemas.microsoft.com/office/powerpoint/2010/main" val="2747481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085" y="416052"/>
            <a:ext cx="9679577" cy="642039"/>
          </a:xfrm>
        </p:spPr>
        <p:txBody>
          <a:bodyPr>
            <a:normAutofit fontScale="90000"/>
          </a:bodyPr>
          <a:lstStyle/>
          <a:p>
            <a:r>
              <a:rPr lang="en-IN" dirty="0"/>
              <a:t> </a:t>
            </a:r>
            <a:r>
              <a:rPr lang="en-IN" b="1" dirty="0"/>
              <a:t>UDP </a:t>
            </a:r>
            <a:endParaRPr lang="en-IN" dirty="0"/>
          </a:p>
        </p:txBody>
      </p:sp>
      <p:sp>
        <p:nvSpPr>
          <p:cNvPr id="3" name="Content Placeholder 2"/>
          <p:cNvSpPr>
            <a:spLocks noGrp="1"/>
          </p:cNvSpPr>
          <p:nvPr>
            <p:ph idx="1"/>
          </p:nvPr>
        </p:nvSpPr>
        <p:spPr>
          <a:xfrm>
            <a:off x="849085" y="1345474"/>
            <a:ext cx="10702213" cy="4850053"/>
          </a:xfrm>
        </p:spPr>
        <p:txBody>
          <a:bodyPr>
            <a:normAutofit/>
          </a:bodyPr>
          <a:lstStyle/>
          <a:p>
            <a:r>
              <a:rPr lang="en-IN" dirty="0"/>
              <a:t>The </a:t>
            </a:r>
            <a:r>
              <a:rPr lang="en-IN" u="sng" dirty="0"/>
              <a:t>Internet protocol suite supports a connectionless transport protocol </a:t>
            </a:r>
            <a:r>
              <a:rPr lang="en-IN" dirty="0"/>
              <a:t>called UDP(User Datagram Protocol). </a:t>
            </a:r>
          </a:p>
          <a:p>
            <a:r>
              <a:rPr lang="en-IN" dirty="0"/>
              <a:t>UDP provides a way for applications to </a:t>
            </a:r>
            <a:r>
              <a:rPr lang="en-IN" u="sng" dirty="0"/>
              <a:t>send encapsulated </a:t>
            </a:r>
            <a:r>
              <a:rPr lang="en-IN" u="sng" dirty="0" err="1"/>
              <a:t>IPdatagrams</a:t>
            </a:r>
            <a:r>
              <a:rPr lang="en-IN" u="sng" dirty="0"/>
              <a:t> </a:t>
            </a:r>
            <a:r>
              <a:rPr lang="en-IN" u="sng" dirty="0">
                <a:solidFill>
                  <a:schemeClr val="tx1">
                    <a:lumMod val="20000"/>
                    <a:lumOff val="80000"/>
                  </a:schemeClr>
                </a:solidFill>
              </a:rPr>
              <a:t>without having to establish a connection.</a:t>
            </a:r>
          </a:p>
          <a:p>
            <a:r>
              <a:rPr lang="en-US" dirty="0"/>
              <a:t>UDP transmits segments consisting of an </a:t>
            </a:r>
            <a:r>
              <a:rPr lang="en-US" u="sng" dirty="0"/>
              <a:t>8-byte header followed by the payload. </a:t>
            </a:r>
          </a:p>
          <a:p>
            <a:r>
              <a:rPr lang="en-US" dirty="0"/>
              <a:t>The </a:t>
            </a:r>
            <a:r>
              <a:rPr lang="en-US" dirty="0">
                <a:solidFill>
                  <a:schemeClr val="tx1">
                    <a:lumMod val="20000"/>
                    <a:lumOff val="80000"/>
                  </a:schemeClr>
                </a:solidFill>
              </a:rPr>
              <a:t>two ports serve to identify the end-points </a:t>
            </a:r>
            <a:r>
              <a:rPr lang="en-US" dirty="0"/>
              <a:t>within the source and destination machines. </a:t>
            </a:r>
          </a:p>
          <a:p>
            <a:r>
              <a:rPr lang="en-US" dirty="0"/>
              <a:t>When a </a:t>
            </a:r>
            <a:r>
              <a:rPr lang="en-US" u="sng" dirty="0"/>
              <a:t>UDP packet arrives, its payload is handed to the process attached to the destination port. </a:t>
            </a:r>
            <a:r>
              <a:rPr lang="en-US" dirty="0"/>
              <a:t>With them, it </a:t>
            </a:r>
            <a:r>
              <a:rPr lang="en-US" dirty="0">
                <a:solidFill>
                  <a:schemeClr val="tx1">
                    <a:lumMod val="20000"/>
                    <a:lumOff val="80000"/>
                  </a:schemeClr>
                </a:solidFill>
              </a:rPr>
              <a:t>delivers the embedded segment to the correct application.</a:t>
            </a:r>
          </a:p>
          <a:p>
            <a:endParaRPr lang="en-IN" sz="3200" dirty="0"/>
          </a:p>
        </p:txBody>
      </p:sp>
    </p:spTree>
    <p:extLst>
      <p:ext uri="{BB962C8B-B14F-4D97-AF65-F5344CB8AC3E}">
        <p14:creationId xmlns:p14="http://schemas.microsoft.com/office/powerpoint/2010/main" val="3265202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085" y="416052"/>
            <a:ext cx="9679577" cy="642039"/>
          </a:xfrm>
        </p:spPr>
        <p:txBody>
          <a:bodyPr>
            <a:normAutofit fontScale="90000"/>
          </a:bodyPr>
          <a:lstStyle/>
          <a:p>
            <a:endParaRPr lang="en-IN" dirty="0"/>
          </a:p>
        </p:txBody>
      </p:sp>
      <p:sp>
        <p:nvSpPr>
          <p:cNvPr id="3" name="Content Placeholder 2"/>
          <p:cNvSpPr>
            <a:spLocks noGrp="1"/>
          </p:cNvSpPr>
          <p:nvPr>
            <p:ph idx="1"/>
          </p:nvPr>
        </p:nvSpPr>
        <p:spPr>
          <a:xfrm>
            <a:off x="992777" y="1358538"/>
            <a:ext cx="9980023" cy="2129246"/>
          </a:xfrm>
        </p:spPr>
        <p:txBody>
          <a:bodyPr>
            <a:noAutofit/>
          </a:bodyPr>
          <a:lstStyle/>
          <a:p>
            <a:r>
              <a:rPr lang="en-IN" sz="2400" b="1" dirty="0"/>
              <a:t>Source port, destination port: </a:t>
            </a:r>
            <a:r>
              <a:rPr lang="en-IN" sz="2400" dirty="0"/>
              <a:t>Identifies the end points within the source and destination machines. </a:t>
            </a:r>
          </a:p>
          <a:p>
            <a:r>
              <a:rPr lang="en-US" sz="2400" b="1" dirty="0"/>
              <a:t>UDP length: </a:t>
            </a:r>
            <a:r>
              <a:rPr lang="en-US" sz="2400" dirty="0"/>
              <a:t>Includes 8-byte header and the data </a:t>
            </a:r>
          </a:p>
          <a:p>
            <a:r>
              <a:rPr lang="en-US" sz="2400" b="1" dirty="0"/>
              <a:t>UDP checksum: </a:t>
            </a:r>
            <a:r>
              <a:rPr lang="en-US" sz="2400" dirty="0"/>
              <a:t>Includes the UDP header, the UDP data padded out to an even number of bytes if need be. It is an optional field</a:t>
            </a:r>
            <a:endParaRPr lang="en-IN" sz="2400" dirty="0"/>
          </a:p>
        </p:txBody>
      </p:sp>
      <p:pic>
        <p:nvPicPr>
          <p:cNvPr id="5" name="Picture 4"/>
          <p:cNvPicPr>
            <a:picLocks noChangeAspect="1"/>
          </p:cNvPicPr>
          <p:nvPr/>
        </p:nvPicPr>
        <p:blipFill>
          <a:blip r:embed="rId2"/>
          <a:stretch>
            <a:fillRect/>
          </a:stretch>
        </p:blipFill>
        <p:spPr>
          <a:xfrm>
            <a:off x="992777" y="4292427"/>
            <a:ext cx="10276599" cy="1807928"/>
          </a:xfrm>
          <a:prstGeom prst="rect">
            <a:avLst/>
          </a:prstGeom>
        </p:spPr>
      </p:pic>
    </p:spTree>
    <p:extLst>
      <p:ext uri="{BB962C8B-B14F-4D97-AF65-F5344CB8AC3E}">
        <p14:creationId xmlns:p14="http://schemas.microsoft.com/office/powerpoint/2010/main" val="3015762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085" y="416052"/>
            <a:ext cx="9679577" cy="642039"/>
          </a:xfrm>
        </p:spPr>
        <p:txBody>
          <a:bodyPr>
            <a:normAutofit fontScale="90000"/>
          </a:bodyPr>
          <a:lstStyle/>
          <a:p>
            <a:r>
              <a:rPr lang="en-IN" b="1" dirty="0"/>
              <a:t>REMOTE PROCEDURE CALL </a:t>
            </a:r>
            <a:endParaRPr lang="en-IN" dirty="0"/>
          </a:p>
        </p:txBody>
      </p:sp>
      <p:sp>
        <p:nvSpPr>
          <p:cNvPr id="3" name="Content Placeholder 2"/>
          <p:cNvSpPr>
            <a:spLocks noGrp="1"/>
          </p:cNvSpPr>
          <p:nvPr>
            <p:ph idx="1"/>
          </p:nvPr>
        </p:nvSpPr>
        <p:spPr>
          <a:xfrm>
            <a:off x="992777" y="1214847"/>
            <a:ext cx="10875762" cy="5227101"/>
          </a:xfrm>
        </p:spPr>
        <p:txBody>
          <a:bodyPr>
            <a:normAutofit lnSpcReduction="10000"/>
          </a:bodyPr>
          <a:lstStyle/>
          <a:p>
            <a:r>
              <a:rPr lang="en-US" dirty="0"/>
              <a:t>In a certain sense, sending a message to a remote host and getting a reply back is like </a:t>
            </a:r>
            <a:r>
              <a:rPr lang="en-US" u="sng" dirty="0"/>
              <a:t>making a function call in a programming language. </a:t>
            </a:r>
            <a:r>
              <a:rPr lang="en-US" dirty="0"/>
              <a:t>This is to arrange </a:t>
            </a:r>
            <a:r>
              <a:rPr lang="en-US" u="sng" dirty="0">
                <a:solidFill>
                  <a:schemeClr val="tx1">
                    <a:lumMod val="20000"/>
                    <a:lumOff val="80000"/>
                  </a:schemeClr>
                </a:solidFill>
              </a:rPr>
              <a:t>request-reply interactions on networks</a:t>
            </a:r>
            <a:r>
              <a:rPr lang="en-US" dirty="0">
                <a:solidFill>
                  <a:schemeClr val="tx1">
                    <a:lumMod val="20000"/>
                    <a:lumOff val="80000"/>
                  </a:schemeClr>
                </a:solidFill>
              </a:rPr>
              <a:t> </a:t>
            </a:r>
            <a:r>
              <a:rPr lang="en-US" dirty="0"/>
              <a:t>to be cast in the form of procedure calls.</a:t>
            </a:r>
            <a:endParaRPr lang="en-IN" dirty="0"/>
          </a:p>
          <a:p>
            <a:r>
              <a:rPr lang="en-US" dirty="0"/>
              <a:t>RPC is used to </a:t>
            </a:r>
            <a:r>
              <a:rPr lang="en-US" u="sng" dirty="0"/>
              <a:t>call remote programs using the procedural call. </a:t>
            </a:r>
          </a:p>
          <a:p>
            <a:r>
              <a:rPr lang="en-US" dirty="0"/>
              <a:t>When a process on machine 1 calls a procedure on machine 2, the calling process on 1 is suspended and execution of the called procedure takes place on 2.</a:t>
            </a:r>
          </a:p>
          <a:p>
            <a:r>
              <a:rPr lang="en-US" u="sng" dirty="0">
                <a:solidFill>
                  <a:schemeClr val="tx1">
                    <a:lumMod val="20000"/>
                    <a:lumOff val="80000"/>
                  </a:schemeClr>
                </a:solidFill>
              </a:rPr>
              <a:t>Information can be transported from the caller to the </a:t>
            </a:r>
            <a:r>
              <a:rPr lang="en-US" u="sng" dirty="0" err="1">
                <a:solidFill>
                  <a:schemeClr val="tx1">
                    <a:lumMod val="20000"/>
                    <a:lumOff val="80000"/>
                  </a:schemeClr>
                </a:solidFill>
              </a:rPr>
              <a:t>callee</a:t>
            </a:r>
            <a:r>
              <a:rPr lang="en-US" u="sng" dirty="0">
                <a:solidFill>
                  <a:schemeClr val="tx1">
                    <a:lumMod val="20000"/>
                    <a:lumOff val="80000"/>
                  </a:schemeClr>
                </a:solidFill>
              </a:rPr>
              <a:t> in the parameters </a:t>
            </a:r>
            <a:r>
              <a:rPr lang="en-US" dirty="0">
                <a:solidFill>
                  <a:schemeClr val="tx1">
                    <a:lumMod val="20000"/>
                    <a:lumOff val="80000"/>
                  </a:schemeClr>
                </a:solidFill>
              </a:rPr>
              <a:t>and </a:t>
            </a:r>
            <a:r>
              <a:rPr lang="en-US" u="sng" dirty="0">
                <a:solidFill>
                  <a:schemeClr val="tx1">
                    <a:lumMod val="20000"/>
                    <a:lumOff val="80000"/>
                  </a:schemeClr>
                </a:solidFill>
              </a:rPr>
              <a:t>can come back in the procedure result</a:t>
            </a:r>
            <a:r>
              <a:rPr lang="en-US" dirty="0">
                <a:solidFill>
                  <a:schemeClr val="tx1">
                    <a:lumMod val="20000"/>
                    <a:lumOff val="80000"/>
                  </a:schemeClr>
                </a:solidFill>
              </a:rPr>
              <a:t>. </a:t>
            </a:r>
            <a:r>
              <a:rPr lang="en-US" u="sng" dirty="0">
                <a:solidFill>
                  <a:schemeClr val="tx1">
                    <a:lumMod val="20000"/>
                    <a:lumOff val="80000"/>
                  </a:schemeClr>
                </a:solidFill>
              </a:rPr>
              <a:t>No message passing is visible to the application programmer. </a:t>
            </a:r>
            <a:r>
              <a:rPr lang="en-US" dirty="0">
                <a:solidFill>
                  <a:schemeClr val="tx1">
                    <a:lumMod val="20000"/>
                    <a:lumOff val="80000"/>
                  </a:schemeClr>
                </a:solidFill>
              </a:rPr>
              <a:t>This technique is known as </a:t>
            </a:r>
            <a:r>
              <a:rPr lang="en-US" b="1" dirty="0">
                <a:solidFill>
                  <a:schemeClr val="tx1">
                    <a:lumMod val="20000"/>
                    <a:lumOff val="80000"/>
                  </a:schemeClr>
                </a:solidFill>
              </a:rPr>
              <a:t>RPC </a:t>
            </a:r>
            <a:r>
              <a:rPr lang="en-US" dirty="0">
                <a:solidFill>
                  <a:schemeClr val="tx1">
                    <a:lumMod val="20000"/>
                    <a:lumOff val="80000"/>
                  </a:schemeClr>
                </a:solidFill>
              </a:rPr>
              <a:t>(</a:t>
            </a:r>
            <a:r>
              <a:rPr lang="en-US" b="1" dirty="0">
                <a:solidFill>
                  <a:schemeClr val="tx1">
                    <a:lumMod val="20000"/>
                    <a:lumOff val="80000"/>
                  </a:schemeClr>
                </a:solidFill>
              </a:rPr>
              <a:t>Remote Procedure Call</a:t>
            </a:r>
            <a:r>
              <a:rPr lang="en-US" dirty="0">
                <a:solidFill>
                  <a:schemeClr val="tx1">
                    <a:lumMod val="20000"/>
                    <a:lumOff val="80000"/>
                  </a:schemeClr>
                </a:solidFill>
              </a:rPr>
              <a:t>) </a:t>
            </a:r>
            <a:r>
              <a:rPr lang="en-US" dirty="0"/>
              <a:t>and has become the basis for many networking applications.</a:t>
            </a:r>
          </a:p>
        </p:txBody>
      </p:sp>
    </p:spTree>
    <p:extLst>
      <p:ext uri="{BB962C8B-B14F-4D97-AF65-F5344CB8AC3E}">
        <p14:creationId xmlns:p14="http://schemas.microsoft.com/office/powerpoint/2010/main" val="3749946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3570" y="416052"/>
            <a:ext cx="7729728" cy="419971"/>
          </a:xfrm>
        </p:spPr>
        <p:txBody>
          <a:bodyPr>
            <a:normAutofit fontScale="90000"/>
          </a:bodyPr>
          <a:lstStyle/>
          <a:p>
            <a:endParaRPr lang="en-IN" dirty="0"/>
          </a:p>
        </p:txBody>
      </p:sp>
      <p:sp>
        <p:nvSpPr>
          <p:cNvPr id="3" name="Content Placeholder 2"/>
          <p:cNvSpPr>
            <a:spLocks noGrp="1"/>
          </p:cNvSpPr>
          <p:nvPr>
            <p:ph idx="1"/>
          </p:nvPr>
        </p:nvSpPr>
        <p:spPr>
          <a:xfrm>
            <a:off x="692330" y="1489166"/>
            <a:ext cx="10802983" cy="4706361"/>
          </a:xfrm>
        </p:spPr>
        <p:txBody>
          <a:bodyPr>
            <a:normAutofit/>
          </a:bodyPr>
          <a:lstStyle/>
          <a:p>
            <a:r>
              <a:rPr lang="en-US" u="sng" dirty="0"/>
              <a:t>Traditionally, the calling procedure is known as the </a:t>
            </a:r>
            <a:r>
              <a:rPr lang="en-US" b="1" u="sng" dirty="0"/>
              <a:t>client </a:t>
            </a:r>
            <a:r>
              <a:rPr lang="en-US" u="sng" dirty="0"/>
              <a:t>and the called procedure is known as the </a:t>
            </a:r>
            <a:r>
              <a:rPr lang="en-US" b="1" u="sng" dirty="0"/>
              <a:t>server.</a:t>
            </a:r>
          </a:p>
          <a:p>
            <a:r>
              <a:rPr lang="en-US" dirty="0"/>
              <a:t>In the simplest form, to call a remote procedure, the </a:t>
            </a:r>
            <a:r>
              <a:rPr lang="en-US" u="sng" dirty="0"/>
              <a:t>client program must be bound with a small library procedure, called the </a:t>
            </a:r>
            <a:r>
              <a:rPr lang="en-US" b="1" u="sng" dirty="0"/>
              <a:t>client stub</a:t>
            </a:r>
            <a:r>
              <a:rPr lang="en-US" u="sng" dirty="0"/>
              <a:t>,</a:t>
            </a:r>
            <a:r>
              <a:rPr lang="en-US" dirty="0"/>
              <a:t> that represents the server procedure in the client’s address space. </a:t>
            </a:r>
          </a:p>
          <a:p>
            <a:r>
              <a:rPr lang="en-US" dirty="0"/>
              <a:t>Similarly, the </a:t>
            </a:r>
            <a:r>
              <a:rPr lang="en-US" u="sng" dirty="0"/>
              <a:t>server is bound with a procedure called the </a:t>
            </a:r>
            <a:r>
              <a:rPr lang="en-US" b="1" u="sng" dirty="0"/>
              <a:t>server stub</a:t>
            </a:r>
            <a:r>
              <a:rPr lang="en-US" u="sng" dirty="0"/>
              <a:t>.</a:t>
            </a:r>
            <a:r>
              <a:rPr lang="en-US" dirty="0"/>
              <a:t> These procedures hide the fact that the procedure call from the client to the server is not local.</a:t>
            </a:r>
          </a:p>
          <a:p>
            <a:endParaRPr lang="en-IN" sz="3200" dirty="0"/>
          </a:p>
        </p:txBody>
      </p:sp>
    </p:spTree>
    <p:extLst>
      <p:ext uri="{BB962C8B-B14F-4D97-AF65-F5344CB8AC3E}">
        <p14:creationId xmlns:p14="http://schemas.microsoft.com/office/powerpoint/2010/main" val="34382109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791" y="92766"/>
            <a:ext cx="11701670" cy="3816626"/>
          </a:xfrm>
        </p:spPr>
        <p:txBody>
          <a:bodyPr>
            <a:normAutofit/>
          </a:bodyPr>
          <a:lstStyle/>
          <a:p>
            <a:r>
              <a:rPr lang="en-US" sz="2400" b="1" dirty="0"/>
              <a:t>Step 1 </a:t>
            </a:r>
            <a:r>
              <a:rPr lang="en-US" sz="2400" dirty="0"/>
              <a:t>is the client </a:t>
            </a:r>
            <a:r>
              <a:rPr lang="en-US" sz="2400" u="sng" dirty="0"/>
              <a:t>calling the client stub</a:t>
            </a:r>
            <a:r>
              <a:rPr lang="en-US" sz="2400" dirty="0"/>
              <a:t>. This call is a </a:t>
            </a:r>
            <a:r>
              <a:rPr lang="en-US" sz="2400" u="sng" dirty="0"/>
              <a:t>local procedure call</a:t>
            </a:r>
            <a:r>
              <a:rPr lang="en-US" sz="2400" dirty="0"/>
              <a:t>, with the parameters pushed onto the stack in the normal way. </a:t>
            </a:r>
          </a:p>
          <a:p>
            <a:r>
              <a:rPr lang="en-US" sz="2400" b="1" dirty="0"/>
              <a:t>Step 2 </a:t>
            </a:r>
            <a:r>
              <a:rPr lang="en-US" sz="2400" dirty="0"/>
              <a:t>is the </a:t>
            </a:r>
            <a:r>
              <a:rPr lang="en-US" sz="2400" u="sng" dirty="0"/>
              <a:t>client stub packing the parameters </a:t>
            </a:r>
            <a:r>
              <a:rPr lang="en-US" sz="2400" dirty="0"/>
              <a:t>into a message and </a:t>
            </a:r>
            <a:r>
              <a:rPr lang="en-US" sz="2400" u="sng" dirty="0"/>
              <a:t>making a system call </a:t>
            </a:r>
            <a:r>
              <a:rPr lang="en-US" sz="2400" dirty="0"/>
              <a:t>to send the message. Packing the parameters is called </a:t>
            </a:r>
            <a:r>
              <a:rPr lang="en-US" sz="2400" b="1" dirty="0"/>
              <a:t>marshaling</a:t>
            </a:r>
            <a:r>
              <a:rPr lang="en-US" sz="2400" dirty="0"/>
              <a:t>. </a:t>
            </a:r>
          </a:p>
          <a:p>
            <a:r>
              <a:rPr lang="en-US" sz="2400" b="1" dirty="0"/>
              <a:t>Step 3 </a:t>
            </a:r>
            <a:r>
              <a:rPr lang="en-US" sz="2400" dirty="0"/>
              <a:t>is the </a:t>
            </a:r>
            <a:r>
              <a:rPr lang="en-US" sz="2400" u="sng" dirty="0"/>
              <a:t>operating system sending the message </a:t>
            </a:r>
            <a:r>
              <a:rPr lang="en-US" sz="2400" dirty="0"/>
              <a:t>from the client machine to the server machine.</a:t>
            </a:r>
            <a:endParaRPr lang="en-IN" sz="2400" dirty="0"/>
          </a:p>
          <a:p>
            <a:r>
              <a:rPr lang="en-US" sz="2400" b="1" dirty="0"/>
              <a:t>Step 4 </a:t>
            </a:r>
            <a:r>
              <a:rPr lang="en-US" sz="2400" dirty="0"/>
              <a:t>is the operating system </a:t>
            </a:r>
            <a:r>
              <a:rPr lang="en-US" sz="2400" u="sng" dirty="0"/>
              <a:t>passing the incoming packet </a:t>
            </a:r>
            <a:r>
              <a:rPr lang="en-US" sz="2400" dirty="0"/>
              <a:t>to the server stub. </a:t>
            </a:r>
          </a:p>
          <a:p>
            <a:r>
              <a:rPr lang="en-US" sz="2400" b="1" dirty="0"/>
              <a:t>Step 5 </a:t>
            </a:r>
            <a:r>
              <a:rPr lang="en-US" sz="2400" dirty="0"/>
              <a:t>is the </a:t>
            </a:r>
            <a:r>
              <a:rPr lang="en-US" sz="2400" u="sng" dirty="0"/>
              <a:t>server stub calling the server procedure </a:t>
            </a:r>
            <a:r>
              <a:rPr lang="en-US" sz="2400" dirty="0"/>
              <a:t>with the </a:t>
            </a:r>
            <a:r>
              <a:rPr lang="en-US" sz="2400" b="1" dirty="0" err="1"/>
              <a:t>unmarshaled</a:t>
            </a:r>
            <a:r>
              <a:rPr lang="en-US" sz="2400" b="1" dirty="0"/>
              <a:t> </a:t>
            </a:r>
            <a:r>
              <a:rPr lang="en-US" sz="2400" dirty="0"/>
              <a:t>parameters. The </a:t>
            </a:r>
            <a:r>
              <a:rPr lang="en-US" sz="2400" u="sng" dirty="0"/>
              <a:t>reply traces the same path in the other direction</a:t>
            </a:r>
            <a:r>
              <a:rPr lang="en-US" sz="2400" dirty="0"/>
              <a:t>. </a:t>
            </a:r>
            <a:endParaRPr lang="en-IN" sz="2400" dirty="0"/>
          </a:p>
        </p:txBody>
      </p:sp>
      <p:pic>
        <p:nvPicPr>
          <p:cNvPr id="4" name="Picture 3"/>
          <p:cNvPicPr>
            <a:picLocks noChangeAspect="1"/>
          </p:cNvPicPr>
          <p:nvPr/>
        </p:nvPicPr>
        <p:blipFill>
          <a:blip r:embed="rId2"/>
          <a:stretch>
            <a:fillRect/>
          </a:stretch>
        </p:blipFill>
        <p:spPr>
          <a:xfrm>
            <a:off x="2978521" y="3909392"/>
            <a:ext cx="5963119" cy="2848702"/>
          </a:xfrm>
          <a:prstGeom prst="rect">
            <a:avLst/>
          </a:prstGeom>
        </p:spPr>
      </p:pic>
    </p:spTree>
    <p:extLst>
      <p:ext uri="{BB962C8B-B14F-4D97-AF65-F5344CB8AC3E}">
        <p14:creationId xmlns:p14="http://schemas.microsoft.com/office/powerpoint/2010/main" val="14549492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46653-A8E8-D0C9-28E5-0D15E845EAA8}"/>
              </a:ext>
            </a:extLst>
          </p:cNvPr>
          <p:cNvSpPr>
            <a:spLocks noGrp="1"/>
          </p:cNvSpPr>
          <p:nvPr>
            <p:ph type="title"/>
          </p:nvPr>
        </p:nvSpPr>
        <p:spPr/>
        <p:txBody>
          <a:bodyPr/>
          <a:lstStyle/>
          <a:p>
            <a:endParaRPr lang="en-IN"/>
          </a:p>
        </p:txBody>
      </p:sp>
      <p:pic>
        <p:nvPicPr>
          <p:cNvPr id="4" name="Google Shape;418;g269585f7124_0_0">
            <a:extLst>
              <a:ext uri="{FF2B5EF4-FFF2-40B4-BE49-F238E27FC236}">
                <a16:creationId xmlns:a16="http://schemas.microsoft.com/office/drawing/2014/main" id="{47E4CF33-1716-98ED-0A69-754CD610A7E5}"/>
              </a:ext>
            </a:extLst>
          </p:cNvPr>
          <p:cNvPicPr preferRelativeResize="0">
            <a:picLocks noGrp="1"/>
          </p:cNvPicPr>
          <p:nvPr>
            <p:ph idx="1"/>
          </p:nvPr>
        </p:nvPicPr>
        <p:blipFill rotWithShape="1">
          <a:blip r:embed="rId2">
            <a:alphaModFix/>
          </a:blip>
          <a:srcRect/>
          <a:stretch/>
        </p:blipFill>
        <p:spPr>
          <a:xfrm>
            <a:off x="940836" y="322521"/>
            <a:ext cx="10310327" cy="6212957"/>
          </a:xfrm>
          <a:prstGeom prst="rect">
            <a:avLst/>
          </a:prstGeom>
          <a:noFill/>
          <a:ln>
            <a:noFill/>
          </a:ln>
        </p:spPr>
      </p:pic>
    </p:spTree>
    <p:extLst>
      <p:ext uri="{BB962C8B-B14F-4D97-AF65-F5344CB8AC3E}">
        <p14:creationId xmlns:p14="http://schemas.microsoft.com/office/powerpoint/2010/main" val="730160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715" y="350737"/>
            <a:ext cx="10215154" cy="772669"/>
          </a:xfrm>
        </p:spPr>
        <p:txBody>
          <a:bodyPr>
            <a:normAutofit/>
          </a:bodyPr>
          <a:lstStyle/>
          <a:p>
            <a:r>
              <a:rPr lang="en-IN" b="1" dirty="0"/>
              <a:t>UDP Applications </a:t>
            </a:r>
            <a:endParaRPr lang="en-IN" dirty="0"/>
          </a:p>
        </p:txBody>
      </p:sp>
      <p:sp>
        <p:nvSpPr>
          <p:cNvPr id="3" name="Content Placeholder 2"/>
          <p:cNvSpPr>
            <a:spLocks noGrp="1"/>
          </p:cNvSpPr>
          <p:nvPr>
            <p:ph idx="1"/>
          </p:nvPr>
        </p:nvSpPr>
        <p:spPr>
          <a:xfrm>
            <a:off x="834887" y="1240971"/>
            <a:ext cx="11070974" cy="5266292"/>
          </a:xfrm>
        </p:spPr>
        <p:txBody>
          <a:bodyPr>
            <a:noAutofit/>
          </a:bodyPr>
          <a:lstStyle/>
          <a:p>
            <a:r>
              <a:rPr lang="en-US" sz="2400" dirty="0"/>
              <a:t>UDP does </a:t>
            </a:r>
            <a:r>
              <a:rPr lang="en-US" sz="2400" u="sng" dirty="0">
                <a:solidFill>
                  <a:schemeClr val="tx1">
                    <a:lumMod val="20000"/>
                    <a:lumOff val="80000"/>
                  </a:schemeClr>
                </a:solidFill>
              </a:rPr>
              <a:t>not provide error control; it provides an unreliable service. </a:t>
            </a:r>
          </a:p>
          <a:p>
            <a:r>
              <a:rPr lang="en-US" sz="2400" dirty="0"/>
              <a:t>UDP is suitable for a process that requires </a:t>
            </a:r>
            <a:r>
              <a:rPr lang="en-US" sz="2400" u="sng" dirty="0">
                <a:solidFill>
                  <a:schemeClr val="tx1">
                    <a:lumMod val="20000"/>
                    <a:lumOff val="80000"/>
                  </a:schemeClr>
                </a:solidFill>
              </a:rPr>
              <a:t>simple request-response communication </a:t>
            </a:r>
            <a:r>
              <a:rPr lang="en-US" sz="2400" u="sng" dirty="0"/>
              <a:t>with little concern for flow and error control</a:t>
            </a:r>
          </a:p>
          <a:p>
            <a:r>
              <a:rPr lang="en-US" sz="2400" dirty="0"/>
              <a:t>UDP is suitable for a process with </a:t>
            </a:r>
            <a:r>
              <a:rPr lang="en-US" sz="2400" dirty="0">
                <a:solidFill>
                  <a:schemeClr val="tx1">
                    <a:lumMod val="20000"/>
                    <a:lumOff val="80000"/>
                  </a:schemeClr>
                </a:solidFill>
              </a:rPr>
              <a:t>internal flow- and error-control </a:t>
            </a:r>
            <a:r>
              <a:rPr lang="en-US" sz="2400" dirty="0"/>
              <a:t>mechanisms. </a:t>
            </a:r>
          </a:p>
          <a:p>
            <a:r>
              <a:rPr lang="en-US" sz="2400" dirty="0"/>
              <a:t>UDP is a suitable transport protocol for</a:t>
            </a:r>
            <a:r>
              <a:rPr lang="en-US" sz="2400" dirty="0">
                <a:solidFill>
                  <a:schemeClr val="tx1">
                    <a:lumMod val="20000"/>
                    <a:lumOff val="80000"/>
                  </a:schemeClr>
                </a:solidFill>
              </a:rPr>
              <a:t> </a:t>
            </a:r>
            <a:r>
              <a:rPr lang="en-US" sz="2400" u="sng" dirty="0">
                <a:solidFill>
                  <a:schemeClr val="tx1">
                    <a:lumMod val="20000"/>
                    <a:lumOff val="80000"/>
                  </a:schemeClr>
                </a:solidFill>
              </a:rPr>
              <a:t>multicasting. Multicasting capability is embedded in the UDP software</a:t>
            </a:r>
          </a:p>
          <a:p>
            <a:r>
              <a:rPr lang="en-US" sz="2400" dirty="0"/>
              <a:t>UDP is used for </a:t>
            </a:r>
            <a:r>
              <a:rPr lang="en-US" sz="2400" u="sng" dirty="0"/>
              <a:t>management processes such as SNMP.(simple network management protocol)</a:t>
            </a:r>
          </a:p>
          <a:p>
            <a:r>
              <a:rPr lang="en-US" sz="2400" dirty="0"/>
              <a:t>UDP is used for some </a:t>
            </a:r>
            <a:r>
              <a:rPr lang="en-US" sz="2400" u="sng" dirty="0">
                <a:solidFill>
                  <a:schemeClr val="tx1">
                    <a:lumMod val="20000"/>
                    <a:lumOff val="80000"/>
                  </a:schemeClr>
                </a:solidFill>
              </a:rPr>
              <a:t>route updating protocols such as Routing Information Protocol(RIP)</a:t>
            </a:r>
          </a:p>
          <a:p>
            <a:r>
              <a:rPr lang="en-US" sz="2400" dirty="0"/>
              <a:t>UDP is normally used for </a:t>
            </a:r>
            <a:r>
              <a:rPr lang="en-US" sz="2400" u="sng" dirty="0">
                <a:solidFill>
                  <a:schemeClr val="tx1">
                    <a:lumMod val="20000"/>
                    <a:lumOff val="80000"/>
                  </a:schemeClr>
                </a:solidFill>
              </a:rPr>
              <a:t>interactive real-time applications </a:t>
            </a:r>
            <a:r>
              <a:rPr lang="en-US" sz="2400" u="sng" dirty="0"/>
              <a:t>that cannot tolerate uneven delay between sections of a received message</a:t>
            </a:r>
          </a:p>
          <a:p>
            <a:endParaRPr lang="en-IN" sz="2000" dirty="0"/>
          </a:p>
        </p:txBody>
      </p:sp>
    </p:spTree>
    <p:extLst>
      <p:ext uri="{BB962C8B-B14F-4D97-AF65-F5344CB8AC3E}">
        <p14:creationId xmlns:p14="http://schemas.microsoft.com/office/powerpoint/2010/main" val="14876669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331" y="350738"/>
            <a:ext cx="10567852" cy="576725"/>
          </a:xfrm>
        </p:spPr>
        <p:txBody>
          <a:bodyPr>
            <a:normAutofit fontScale="90000"/>
          </a:bodyPr>
          <a:lstStyle/>
          <a:p>
            <a:r>
              <a:rPr lang="en-IN" b="1" dirty="0"/>
              <a:t>TCP </a:t>
            </a:r>
            <a:endParaRPr lang="en-IN" dirty="0"/>
          </a:p>
        </p:txBody>
      </p:sp>
      <p:sp>
        <p:nvSpPr>
          <p:cNvPr id="3" name="Content Placeholder 2"/>
          <p:cNvSpPr>
            <a:spLocks noGrp="1"/>
          </p:cNvSpPr>
          <p:nvPr>
            <p:ph idx="1"/>
          </p:nvPr>
        </p:nvSpPr>
        <p:spPr>
          <a:xfrm>
            <a:off x="692331" y="1358538"/>
            <a:ext cx="10567852" cy="5068388"/>
          </a:xfrm>
        </p:spPr>
        <p:txBody>
          <a:bodyPr>
            <a:normAutofit/>
          </a:bodyPr>
          <a:lstStyle/>
          <a:p>
            <a:r>
              <a:rPr lang="en-US" sz="2400" dirty="0"/>
              <a:t>It was specifically designed to provide a </a:t>
            </a:r>
            <a:r>
              <a:rPr lang="en-US" sz="2400" u="sng" dirty="0">
                <a:solidFill>
                  <a:schemeClr val="tx1">
                    <a:lumMod val="20000"/>
                    <a:lumOff val="80000"/>
                  </a:schemeClr>
                </a:solidFill>
              </a:rPr>
              <a:t>reliable end-to end byte stream </a:t>
            </a:r>
            <a:r>
              <a:rPr lang="en-US" sz="2400" u="sng" dirty="0"/>
              <a:t>over an unreliable network. </a:t>
            </a:r>
          </a:p>
          <a:p>
            <a:r>
              <a:rPr lang="en-US" sz="2400" dirty="0"/>
              <a:t>It was designed to </a:t>
            </a:r>
            <a:r>
              <a:rPr lang="en-US" sz="2400" u="sng" dirty="0">
                <a:solidFill>
                  <a:schemeClr val="tx1">
                    <a:lumMod val="20000"/>
                    <a:lumOff val="80000"/>
                  </a:schemeClr>
                </a:solidFill>
              </a:rPr>
              <a:t>adapt dynamically to properties of the inter network and to be robust </a:t>
            </a:r>
            <a:r>
              <a:rPr lang="en-US" sz="2400" u="sng" dirty="0"/>
              <a:t>in the face of many kinds of failures. </a:t>
            </a:r>
          </a:p>
          <a:p>
            <a:r>
              <a:rPr lang="en-US" sz="2400" dirty="0"/>
              <a:t>Each machine supporting TCP has a TCP transport entity, which accepts user </a:t>
            </a:r>
            <a:r>
              <a:rPr lang="en-US" sz="2400" dirty="0">
                <a:solidFill>
                  <a:schemeClr val="tx1">
                    <a:lumMod val="20000"/>
                    <a:lumOff val="80000"/>
                  </a:schemeClr>
                </a:solidFill>
              </a:rPr>
              <a:t>data streams </a:t>
            </a:r>
            <a:r>
              <a:rPr lang="en-US" sz="2400" dirty="0"/>
              <a:t>from local processes, </a:t>
            </a:r>
            <a:r>
              <a:rPr lang="en-US" sz="2400" u="sng" dirty="0">
                <a:solidFill>
                  <a:schemeClr val="tx1">
                    <a:lumMod val="20000"/>
                    <a:lumOff val="80000"/>
                  </a:schemeClr>
                </a:solidFill>
              </a:rPr>
              <a:t>breaks them up into pieces not exceeding 64kbytes </a:t>
            </a:r>
            <a:r>
              <a:rPr lang="en-US" sz="2400" u="sng" dirty="0"/>
              <a:t>and sends each piece as a separate IP datagram. </a:t>
            </a:r>
          </a:p>
          <a:p>
            <a:r>
              <a:rPr lang="en-US" sz="2400" dirty="0"/>
              <a:t>When these datagrams arrive at a machine, they are given to TCP entity, which </a:t>
            </a:r>
            <a:r>
              <a:rPr lang="en-US" sz="2400" u="sng" dirty="0">
                <a:solidFill>
                  <a:schemeClr val="tx1">
                    <a:lumMod val="20000"/>
                    <a:lumOff val="80000"/>
                  </a:schemeClr>
                </a:solidFill>
              </a:rPr>
              <a:t>reconstructs the original byte streams. </a:t>
            </a:r>
          </a:p>
          <a:p>
            <a:r>
              <a:rPr lang="en-US" sz="2400" dirty="0"/>
              <a:t>It is up to TCP to </a:t>
            </a:r>
            <a:r>
              <a:rPr lang="en-US" sz="2400" u="sng" dirty="0">
                <a:solidFill>
                  <a:schemeClr val="tx1">
                    <a:lumMod val="20000"/>
                    <a:lumOff val="80000"/>
                  </a:schemeClr>
                </a:solidFill>
              </a:rPr>
              <a:t>time out and retransmits them as needed</a:t>
            </a:r>
            <a:r>
              <a:rPr lang="en-US" sz="2400" u="sng" dirty="0"/>
              <a:t>, also to reassemble datagrams into messages in proper sequence. </a:t>
            </a:r>
            <a:endParaRPr lang="en-IN" sz="2400" u="sng" dirty="0"/>
          </a:p>
        </p:txBody>
      </p:sp>
    </p:spTree>
    <p:extLst>
      <p:ext uri="{BB962C8B-B14F-4D97-AF65-F5344CB8AC3E}">
        <p14:creationId xmlns:p14="http://schemas.microsoft.com/office/powerpoint/2010/main" val="1794449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F4F7-20EC-7933-299A-077D737B22F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905AE2-EB47-E774-23A8-97DD011469C9}"/>
              </a:ext>
            </a:extLst>
          </p:cNvPr>
          <p:cNvSpPr>
            <a:spLocks noGrp="1"/>
          </p:cNvSpPr>
          <p:nvPr>
            <p:ph idx="1"/>
          </p:nvPr>
        </p:nvSpPr>
        <p:spPr>
          <a:xfrm>
            <a:off x="838200" y="1825624"/>
            <a:ext cx="11076992" cy="4855093"/>
          </a:xfrm>
        </p:spPr>
        <p:txBody>
          <a:bodyPr>
            <a:normAutofit fontScale="77500" lnSpcReduction="20000"/>
          </a:bodyPr>
          <a:lstStyle/>
          <a:p>
            <a:pPr marL="0" lvl="0" indent="0">
              <a:buSzPts val="1800"/>
              <a:buNone/>
            </a:pPr>
            <a:r>
              <a:rPr lang="en-US" dirty="0"/>
              <a:t>Characteristics</a:t>
            </a:r>
          </a:p>
          <a:p>
            <a:pPr marL="457200" lvl="0" indent="-342900">
              <a:lnSpc>
                <a:spcPct val="120000"/>
              </a:lnSpc>
              <a:buSzPts val="1800"/>
            </a:pPr>
            <a:r>
              <a:rPr lang="en-US" dirty="0">
                <a:solidFill>
                  <a:schemeClr val="tx1">
                    <a:lumMod val="20000"/>
                    <a:lumOff val="80000"/>
                  </a:schemeClr>
                </a:solidFill>
              </a:rPr>
              <a:t>connection oriented: </a:t>
            </a:r>
            <a:r>
              <a:rPr lang="en-US" dirty="0"/>
              <a:t>3-way handshaking</a:t>
            </a:r>
          </a:p>
          <a:p>
            <a:pPr marL="457200" lvl="0" indent="-342900">
              <a:lnSpc>
                <a:spcPct val="120000"/>
              </a:lnSpc>
              <a:spcBef>
                <a:spcPts val="0"/>
              </a:spcBef>
              <a:buSzPts val="1800"/>
            </a:pPr>
            <a:r>
              <a:rPr lang="en-US" dirty="0">
                <a:solidFill>
                  <a:schemeClr val="tx1">
                    <a:lumMod val="20000"/>
                    <a:lumOff val="80000"/>
                  </a:schemeClr>
                </a:solidFill>
              </a:rPr>
              <a:t>full duplex: </a:t>
            </a:r>
            <a:r>
              <a:rPr lang="en-US" dirty="0"/>
              <a:t>bidirectional, Full duplex means that traffic can go in both directions at the same time.</a:t>
            </a:r>
          </a:p>
          <a:p>
            <a:pPr marL="457200" lvl="0" indent="-342900">
              <a:lnSpc>
                <a:spcPct val="120000"/>
              </a:lnSpc>
              <a:spcBef>
                <a:spcPts val="0"/>
              </a:spcBef>
              <a:buSzPts val="1800"/>
            </a:pPr>
            <a:r>
              <a:rPr lang="en-US" dirty="0">
                <a:solidFill>
                  <a:schemeClr val="tx1">
                    <a:lumMod val="20000"/>
                    <a:lumOff val="80000"/>
                  </a:schemeClr>
                </a:solidFill>
              </a:rPr>
              <a:t>point-point: </a:t>
            </a:r>
            <a:r>
              <a:rPr lang="en-US" dirty="0"/>
              <a:t>Point-to-point means that each connection has exactly two endpoints. </a:t>
            </a:r>
          </a:p>
          <a:p>
            <a:pPr marL="457200" lvl="0" indent="-342900">
              <a:lnSpc>
                <a:spcPct val="120000"/>
              </a:lnSpc>
              <a:spcBef>
                <a:spcPts val="0"/>
              </a:spcBef>
              <a:buSzPts val="1800"/>
            </a:pPr>
            <a:r>
              <a:rPr lang="en-US" dirty="0"/>
              <a:t>A TCP </a:t>
            </a:r>
            <a:r>
              <a:rPr lang="en-US" dirty="0">
                <a:solidFill>
                  <a:schemeClr val="tx1">
                    <a:lumMod val="20000"/>
                    <a:lumOff val="80000"/>
                  </a:schemeClr>
                </a:solidFill>
              </a:rPr>
              <a:t>connection is a byte stream</a:t>
            </a:r>
            <a:r>
              <a:rPr lang="en-US" dirty="0"/>
              <a:t>, not a message stream.</a:t>
            </a:r>
          </a:p>
          <a:p>
            <a:pPr marL="457200" lvl="0" indent="-342900">
              <a:lnSpc>
                <a:spcPct val="120000"/>
              </a:lnSpc>
              <a:spcBef>
                <a:spcPts val="0"/>
              </a:spcBef>
              <a:buSzPts val="1800"/>
            </a:pPr>
            <a:r>
              <a:rPr lang="en-US" dirty="0">
                <a:solidFill>
                  <a:schemeClr val="tx1">
                    <a:lumMod val="20000"/>
                    <a:lumOff val="80000"/>
                  </a:schemeClr>
                </a:solidFill>
              </a:rPr>
              <a:t>piggyback: </a:t>
            </a:r>
            <a:r>
              <a:rPr lang="en-US" dirty="0" err="1"/>
              <a:t>data+ack</a:t>
            </a:r>
            <a:r>
              <a:rPr lang="en-US" dirty="0"/>
              <a:t>, go back and selective repeat</a:t>
            </a:r>
          </a:p>
          <a:p>
            <a:pPr marL="457200" lvl="0" indent="-342900">
              <a:lnSpc>
                <a:spcPct val="120000"/>
              </a:lnSpc>
              <a:spcBef>
                <a:spcPts val="0"/>
              </a:spcBef>
              <a:buSzPts val="1800"/>
            </a:pPr>
            <a:r>
              <a:rPr lang="en-US" dirty="0">
                <a:solidFill>
                  <a:schemeClr val="tx1">
                    <a:lumMod val="20000"/>
                    <a:lumOff val="80000"/>
                  </a:schemeClr>
                </a:solidFill>
              </a:rPr>
              <a:t>error control: </a:t>
            </a:r>
            <a:r>
              <a:rPr lang="en-IN" dirty="0"/>
              <a:t>Checksums (detect errors)</a:t>
            </a:r>
            <a:endParaRPr lang="en-US" dirty="0"/>
          </a:p>
          <a:p>
            <a:pPr marL="457200" lvl="0" indent="-342900">
              <a:lnSpc>
                <a:spcPct val="120000"/>
              </a:lnSpc>
              <a:spcBef>
                <a:spcPts val="0"/>
              </a:spcBef>
              <a:buSzPts val="1800"/>
            </a:pPr>
            <a:r>
              <a:rPr lang="en-US" dirty="0">
                <a:solidFill>
                  <a:schemeClr val="tx1">
                    <a:lumMod val="20000"/>
                    <a:lumOff val="80000"/>
                  </a:schemeClr>
                </a:solidFill>
              </a:rPr>
              <a:t>flow control: </a:t>
            </a:r>
            <a:r>
              <a:rPr lang="en-US" dirty="0"/>
              <a:t>TCP uses Sliding Window Protocol</a:t>
            </a:r>
          </a:p>
          <a:p>
            <a:pPr marL="457200" lvl="0" indent="-342900">
              <a:lnSpc>
                <a:spcPct val="120000"/>
              </a:lnSpc>
              <a:spcBef>
                <a:spcPts val="0"/>
              </a:spcBef>
              <a:buSzPts val="1800"/>
            </a:pPr>
            <a:r>
              <a:rPr lang="en-US" dirty="0">
                <a:solidFill>
                  <a:schemeClr val="tx1">
                    <a:lumMod val="20000"/>
                    <a:lumOff val="80000"/>
                  </a:schemeClr>
                </a:solidFill>
              </a:rPr>
              <a:t>congestion control: </a:t>
            </a:r>
            <a:r>
              <a:rPr lang="en-US" altLang="en-US" dirty="0"/>
              <a:t>Slow Start, Congestion Avoidance</a:t>
            </a:r>
          </a:p>
          <a:p>
            <a:pPr marL="457200" lvl="0" indent="-342900">
              <a:lnSpc>
                <a:spcPct val="120000"/>
              </a:lnSpc>
              <a:spcBef>
                <a:spcPts val="0"/>
              </a:spcBef>
              <a:buSzPts val="1800"/>
            </a:pPr>
            <a:r>
              <a:rPr lang="en-US" dirty="0">
                <a:sym typeface="Arial"/>
              </a:rPr>
              <a:t>Selective acknowledgements </a:t>
            </a:r>
          </a:p>
          <a:p>
            <a:pPr marL="457200" lvl="0" indent="-342900">
              <a:lnSpc>
                <a:spcPct val="120000"/>
              </a:lnSpc>
              <a:spcBef>
                <a:spcPts val="0"/>
              </a:spcBef>
              <a:buSzPts val="1800"/>
            </a:pPr>
            <a:r>
              <a:rPr lang="en-US" dirty="0">
                <a:sym typeface="Arial"/>
              </a:rPr>
              <a:t>repurposing of header fields for quality of service </a:t>
            </a:r>
          </a:p>
          <a:p>
            <a:pPr marL="457200" lvl="0" indent="-342900">
              <a:lnSpc>
                <a:spcPct val="120000"/>
              </a:lnSpc>
              <a:spcBef>
                <a:spcPts val="0"/>
              </a:spcBef>
              <a:buSzPts val="1800"/>
            </a:pPr>
            <a:r>
              <a:rPr lang="en-US" dirty="0">
                <a:sym typeface="Arial"/>
              </a:rPr>
              <a:t>improved retransmission timers </a:t>
            </a:r>
          </a:p>
          <a:p>
            <a:pPr marL="457200" lvl="0" indent="-342900">
              <a:lnSpc>
                <a:spcPct val="120000"/>
              </a:lnSpc>
              <a:spcBef>
                <a:spcPts val="0"/>
              </a:spcBef>
              <a:buSzPts val="1800"/>
            </a:pPr>
            <a:r>
              <a:rPr lang="en-US" dirty="0">
                <a:sym typeface="Arial"/>
              </a:rPr>
              <a:t>explicit congestion notification.</a:t>
            </a:r>
            <a:endParaRPr lang="en-US" altLang="en-US" dirty="0"/>
          </a:p>
          <a:p>
            <a:pPr marL="457200" lvl="0" indent="-342900">
              <a:spcBef>
                <a:spcPts val="0"/>
              </a:spcBef>
              <a:buSzPts val="1800"/>
            </a:pPr>
            <a:endParaRPr lang="en-IN" dirty="0"/>
          </a:p>
        </p:txBody>
      </p:sp>
    </p:spTree>
    <p:extLst>
      <p:ext uri="{BB962C8B-B14F-4D97-AF65-F5344CB8AC3E}">
        <p14:creationId xmlns:p14="http://schemas.microsoft.com/office/powerpoint/2010/main" val="14463475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331" y="350738"/>
            <a:ext cx="10567852" cy="576725"/>
          </a:xfrm>
        </p:spPr>
        <p:txBody>
          <a:bodyPr>
            <a:normAutofit fontScale="90000"/>
          </a:bodyPr>
          <a:lstStyle/>
          <a:p>
            <a:r>
              <a:rPr lang="en-IN" b="1" dirty="0"/>
              <a:t>The TCP Service Model </a:t>
            </a:r>
            <a:endParaRPr lang="en-IN" dirty="0"/>
          </a:p>
        </p:txBody>
      </p:sp>
      <p:sp>
        <p:nvSpPr>
          <p:cNvPr id="3" name="Content Placeholder 2"/>
          <p:cNvSpPr>
            <a:spLocks noGrp="1"/>
          </p:cNvSpPr>
          <p:nvPr>
            <p:ph idx="1"/>
          </p:nvPr>
        </p:nvSpPr>
        <p:spPr>
          <a:xfrm>
            <a:off x="692331" y="1358538"/>
            <a:ext cx="10567852" cy="5068388"/>
          </a:xfrm>
        </p:spPr>
        <p:txBody>
          <a:bodyPr/>
          <a:lstStyle/>
          <a:p>
            <a:r>
              <a:rPr lang="en-US" sz="2400" dirty="0"/>
              <a:t>TCP service is obtained by having both the </a:t>
            </a:r>
            <a:r>
              <a:rPr lang="en-US" sz="2400" u="sng" dirty="0">
                <a:solidFill>
                  <a:schemeClr val="tx1">
                    <a:lumMod val="20000"/>
                    <a:lumOff val="80000"/>
                  </a:schemeClr>
                </a:solidFill>
              </a:rPr>
              <a:t>sender and receiver create end points</a:t>
            </a:r>
            <a:r>
              <a:rPr lang="en-US" sz="2400" dirty="0">
                <a:solidFill>
                  <a:schemeClr val="tx1">
                    <a:lumMod val="20000"/>
                    <a:lumOff val="80000"/>
                  </a:schemeClr>
                </a:solidFill>
              </a:rPr>
              <a:t> called </a:t>
            </a:r>
            <a:r>
              <a:rPr lang="en-US" sz="2400" b="1" dirty="0">
                <a:solidFill>
                  <a:schemeClr val="tx1">
                    <a:lumMod val="20000"/>
                    <a:lumOff val="80000"/>
                  </a:schemeClr>
                </a:solidFill>
              </a:rPr>
              <a:t>SOCKETS</a:t>
            </a:r>
            <a:endParaRPr lang="en-US" sz="2400" dirty="0">
              <a:solidFill>
                <a:schemeClr val="tx1">
                  <a:lumMod val="20000"/>
                  <a:lumOff val="80000"/>
                </a:schemeClr>
              </a:solidFill>
            </a:endParaRPr>
          </a:p>
          <a:p>
            <a:r>
              <a:rPr lang="en-US" sz="2400" dirty="0"/>
              <a:t>Each socket has a </a:t>
            </a:r>
            <a:r>
              <a:rPr lang="en-US" sz="2400" u="sng" dirty="0">
                <a:solidFill>
                  <a:schemeClr val="tx1">
                    <a:lumMod val="20000"/>
                    <a:lumOff val="80000"/>
                  </a:schemeClr>
                </a:solidFill>
              </a:rPr>
              <a:t>socket number(address)consisting of the IP address of the host, </a:t>
            </a:r>
            <a:r>
              <a:rPr lang="en-US" sz="2400" dirty="0">
                <a:solidFill>
                  <a:schemeClr val="tx1">
                    <a:lumMod val="20000"/>
                    <a:lumOff val="80000"/>
                  </a:schemeClr>
                </a:solidFill>
              </a:rPr>
              <a:t>called a </a:t>
            </a:r>
            <a:r>
              <a:rPr lang="en-US" sz="2400" b="1" dirty="0">
                <a:solidFill>
                  <a:schemeClr val="tx1">
                    <a:lumMod val="20000"/>
                    <a:lumOff val="80000"/>
                  </a:schemeClr>
                </a:solidFill>
              </a:rPr>
              <a:t>“PORT” </a:t>
            </a:r>
            <a:r>
              <a:rPr lang="en-US" sz="2400" dirty="0">
                <a:solidFill>
                  <a:schemeClr val="tx1">
                    <a:lumMod val="20000"/>
                    <a:lumOff val="80000"/>
                  </a:schemeClr>
                </a:solidFill>
              </a:rPr>
              <a:t>( = TSAP )</a:t>
            </a:r>
          </a:p>
          <a:p>
            <a:r>
              <a:rPr lang="en-US" sz="2400" dirty="0">
                <a:solidFill>
                  <a:srgbClr val="FF0000"/>
                </a:solidFill>
              </a:rPr>
              <a:t>To obtain TCP service </a:t>
            </a:r>
            <a:r>
              <a:rPr lang="en-US" sz="2400" dirty="0"/>
              <a:t>a </a:t>
            </a:r>
            <a:r>
              <a:rPr lang="en-US" sz="2400" u="sng" dirty="0">
                <a:solidFill>
                  <a:schemeClr val="tx1">
                    <a:lumMod val="20000"/>
                    <a:lumOff val="80000"/>
                  </a:schemeClr>
                </a:solidFill>
              </a:rPr>
              <a:t>connection must be explicitly established </a:t>
            </a:r>
            <a:r>
              <a:rPr lang="en-US" sz="2400" u="sng" dirty="0"/>
              <a:t>between a socket on the sending machine and a socket on the receiving machine</a:t>
            </a:r>
          </a:p>
          <a:p>
            <a:r>
              <a:rPr lang="en-US" sz="2400" dirty="0"/>
              <a:t>All </a:t>
            </a:r>
            <a:r>
              <a:rPr lang="en-US" sz="2400" u="sng" dirty="0"/>
              <a:t>TCP connections are </a:t>
            </a:r>
            <a:r>
              <a:rPr lang="en-US" sz="2400" u="sng" dirty="0">
                <a:solidFill>
                  <a:schemeClr val="tx1">
                    <a:lumMod val="20000"/>
                    <a:lumOff val="80000"/>
                  </a:schemeClr>
                </a:solidFill>
              </a:rPr>
              <a:t>full duplex and point to point </a:t>
            </a:r>
            <a:r>
              <a:rPr lang="en-US" sz="2400" dirty="0"/>
              <a:t>i.e., multicasting or broadcasting is not supported.</a:t>
            </a:r>
          </a:p>
          <a:p>
            <a:r>
              <a:rPr lang="en-US" sz="2400" dirty="0"/>
              <a:t>A TCP connection is a </a:t>
            </a:r>
            <a:r>
              <a:rPr lang="en-US" sz="2400" u="sng" dirty="0">
                <a:solidFill>
                  <a:schemeClr val="tx1">
                    <a:lumMod val="20000"/>
                    <a:lumOff val="80000"/>
                  </a:schemeClr>
                </a:solidFill>
              </a:rPr>
              <a:t>byte stream, </a:t>
            </a:r>
            <a:r>
              <a:rPr lang="en-US" sz="2400" dirty="0"/>
              <a:t>not a message stream i.e., the </a:t>
            </a:r>
            <a:r>
              <a:rPr lang="en-US" sz="2400" u="sng" dirty="0"/>
              <a:t>data is delivered as chunks</a:t>
            </a:r>
          </a:p>
          <a:p>
            <a:endParaRPr lang="en-IN" dirty="0"/>
          </a:p>
        </p:txBody>
      </p:sp>
    </p:spTree>
    <p:extLst>
      <p:ext uri="{BB962C8B-B14F-4D97-AF65-F5344CB8AC3E}">
        <p14:creationId xmlns:p14="http://schemas.microsoft.com/office/powerpoint/2010/main" val="497734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CFB10-AA5F-831E-87A4-375B58878FB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45D4F79-10DD-55FE-DA32-BDC019F4F62D}"/>
              </a:ext>
            </a:extLst>
          </p:cNvPr>
          <p:cNvPicPr>
            <a:picLocks noGrp="1" noChangeAspect="1"/>
          </p:cNvPicPr>
          <p:nvPr>
            <p:ph idx="1"/>
          </p:nvPr>
        </p:nvPicPr>
        <p:blipFill>
          <a:blip r:embed="rId2"/>
          <a:stretch>
            <a:fillRect/>
          </a:stretch>
        </p:blipFill>
        <p:spPr>
          <a:xfrm>
            <a:off x="463420" y="962591"/>
            <a:ext cx="5510438" cy="4402511"/>
          </a:xfrm>
          <a:prstGeom prst="rect">
            <a:avLst/>
          </a:prstGeom>
        </p:spPr>
      </p:pic>
      <p:pic>
        <p:nvPicPr>
          <p:cNvPr id="6" name="Google Shape;448;g2ba9d018422_1_17">
            <a:extLst>
              <a:ext uri="{FF2B5EF4-FFF2-40B4-BE49-F238E27FC236}">
                <a16:creationId xmlns:a16="http://schemas.microsoft.com/office/drawing/2014/main" id="{3DA12E20-630D-FCAB-B3FA-1C3F8A542632}"/>
              </a:ext>
            </a:extLst>
          </p:cNvPr>
          <p:cNvPicPr preferRelativeResize="0"/>
          <p:nvPr/>
        </p:nvPicPr>
        <p:blipFill rotWithShape="1">
          <a:blip r:embed="rId3">
            <a:alphaModFix/>
          </a:blip>
          <a:srcRect/>
          <a:stretch/>
        </p:blipFill>
        <p:spPr>
          <a:xfrm>
            <a:off x="6173742" y="1101012"/>
            <a:ext cx="5554838" cy="4264090"/>
          </a:xfrm>
          <a:prstGeom prst="rect">
            <a:avLst/>
          </a:prstGeom>
          <a:noFill/>
          <a:ln>
            <a:noFill/>
          </a:ln>
        </p:spPr>
      </p:pic>
    </p:spTree>
    <p:extLst>
      <p:ext uri="{BB962C8B-B14F-4D97-AF65-F5344CB8AC3E}">
        <p14:creationId xmlns:p14="http://schemas.microsoft.com/office/powerpoint/2010/main" val="9045047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97854" y="1463040"/>
            <a:ext cx="9796291" cy="4308783"/>
          </a:xfrm>
          <a:prstGeom prst="rect">
            <a:avLst/>
          </a:prstGeom>
        </p:spPr>
      </p:pic>
    </p:spTree>
    <p:extLst>
      <p:ext uri="{BB962C8B-B14F-4D97-AF65-F5344CB8AC3E}">
        <p14:creationId xmlns:p14="http://schemas.microsoft.com/office/powerpoint/2010/main" val="4956673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331" y="350738"/>
            <a:ext cx="10567852" cy="576725"/>
          </a:xfrm>
        </p:spPr>
        <p:txBody>
          <a:bodyPr>
            <a:normAutofit fontScale="90000"/>
          </a:bodyPr>
          <a:lstStyle/>
          <a:p>
            <a:r>
              <a:rPr lang="en-IN" b="1" dirty="0"/>
              <a:t>The TCP Protocol </a:t>
            </a:r>
            <a:endParaRPr lang="en-IN" dirty="0"/>
          </a:p>
        </p:txBody>
      </p:sp>
      <p:sp>
        <p:nvSpPr>
          <p:cNvPr id="3" name="Content Placeholder 2"/>
          <p:cNvSpPr>
            <a:spLocks noGrp="1"/>
          </p:cNvSpPr>
          <p:nvPr>
            <p:ph idx="1"/>
          </p:nvPr>
        </p:nvSpPr>
        <p:spPr>
          <a:xfrm>
            <a:off x="692330" y="1358537"/>
            <a:ext cx="11101563" cy="5294189"/>
          </a:xfrm>
        </p:spPr>
        <p:txBody>
          <a:bodyPr>
            <a:normAutofit fontScale="92500" lnSpcReduction="10000"/>
          </a:bodyPr>
          <a:lstStyle/>
          <a:p>
            <a:pPr marL="0" indent="0">
              <a:buNone/>
            </a:pPr>
            <a:r>
              <a:rPr lang="en-US" sz="2400" b="1" dirty="0">
                <a:solidFill>
                  <a:schemeClr val="tx1">
                    <a:lumMod val="20000"/>
                    <a:lumOff val="80000"/>
                  </a:schemeClr>
                </a:solidFill>
              </a:rPr>
              <a:t>1. TCP assigns a unique 32-bit sequence number to every byte</a:t>
            </a:r>
          </a:p>
          <a:p>
            <a:pPr lvl="1"/>
            <a:r>
              <a:rPr lang="en-US" sz="2000" dirty="0"/>
              <a:t>TCP is designed so that </a:t>
            </a:r>
            <a:r>
              <a:rPr lang="en-US" sz="2000" b="1" dirty="0"/>
              <a:t>each byte</a:t>
            </a:r>
            <a:r>
              <a:rPr lang="en-US" sz="2000" dirty="0"/>
              <a:t> of data sent in a connection has its </a:t>
            </a:r>
            <a:r>
              <a:rPr lang="en-US" sz="2000" dirty="0">
                <a:solidFill>
                  <a:schemeClr val="tx1">
                    <a:lumMod val="20000"/>
                    <a:lumOff val="80000"/>
                  </a:schemeClr>
                </a:solidFill>
              </a:rPr>
              <a:t>own sequence number.</a:t>
            </a:r>
            <a:br>
              <a:rPr lang="en-US" sz="2000" dirty="0">
                <a:solidFill>
                  <a:schemeClr val="tx1">
                    <a:lumMod val="20000"/>
                    <a:lumOff val="80000"/>
                  </a:schemeClr>
                </a:solidFill>
              </a:rPr>
            </a:br>
            <a:r>
              <a:rPr lang="en-US" sz="2000" dirty="0"/>
              <a:t>This helps in </a:t>
            </a:r>
            <a:r>
              <a:rPr lang="en-US" sz="2000" u="sng" dirty="0"/>
              <a:t>ordering, reliability, and detecting lost or duplicate data.</a:t>
            </a:r>
          </a:p>
          <a:p>
            <a:pPr marL="0" indent="0">
              <a:buNone/>
            </a:pPr>
            <a:r>
              <a:rPr lang="en-US" sz="2400" b="1" dirty="0">
                <a:solidFill>
                  <a:schemeClr val="tx1">
                    <a:lumMod val="20000"/>
                    <a:lumOff val="80000"/>
                  </a:schemeClr>
                </a:solidFill>
              </a:rPr>
              <a:t>2. TCP data is transmitted in variable-size segments</a:t>
            </a:r>
          </a:p>
          <a:p>
            <a:pPr lvl="1"/>
            <a:r>
              <a:rPr lang="en-US" sz="2000" dirty="0"/>
              <a:t>Data is sent as </a:t>
            </a:r>
            <a:r>
              <a:rPr lang="en-US" sz="2000" b="1" dirty="0"/>
              <a:t>segments</a:t>
            </a:r>
            <a:r>
              <a:rPr lang="en-US" sz="2000" dirty="0"/>
              <a:t>, each containing:</a:t>
            </a:r>
          </a:p>
          <a:p>
            <a:pPr lvl="1"/>
            <a:r>
              <a:rPr lang="en-US" sz="2000" dirty="0"/>
              <a:t>A </a:t>
            </a:r>
            <a:r>
              <a:rPr lang="en-US" sz="2000" b="1" dirty="0"/>
              <a:t>20-byte header</a:t>
            </a:r>
            <a:r>
              <a:rPr lang="en-US" sz="2000" dirty="0"/>
              <a:t> (minimum)</a:t>
            </a:r>
          </a:p>
          <a:p>
            <a:pPr lvl="1"/>
            <a:r>
              <a:rPr lang="en-US" sz="2000" dirty="0"/>
              <a:t>Optional fields</a:t>
            </a:r>
          </a:p>
          <a:p>
            <a:pPr lvl="1"/>
            <a:r>
              <a:rPr lang="en-US" sz="2000" dirty="0"/>
              <a:t>A block of data</a:t>
            </a:r>
          </a:p>
          <a:p>
            <a:pPr lvl="1"/>
            <a:r>
              <a:rPr lang="en-US" sz="2000" dirty="0"/>
              <a:t>TCP decides how much data to put into each segment (merge or split depending on size).</a:t>
            </a:r>
          </a:p>
          <a:p>
            <a:pPr marL="0" indent="0">
              <a:buNone/>
            </a:pPr>
            <a:r>
              <a:rPr lang="en-US" sz="2400" b="1" dirty="0">
                <a:solidFill>
                  <a:schemeClr val="tx1">
                    <a:lumMod val="20000"/>
                    <a:lumOff val="80000"/>
                  </a:schemeClr>
                </a:solidFill>
              </a:rPr>
              <a:t>3. Segment size is limited by IP payload and MTU(</a:t>
            </a:r>
            <a:r>
              <a:rPr lang="en-IN" sz="2400" dirty="0">
                <a:solidFill>
                  <a:schemeClr val="tx1">
                    <a:lumMod val="20000"/>
                    <a:lumOff val="80000"/>
                  </a:schemeClr>
                </a:solidFill>
              </a:rPr>
              <a:t>Maximum Transmission Unit)</a:t>
            </a:r>
            <a:endParaRPr lang="en-US" sz="2400" b="1" dirty="0">
              <a:solidFill>
                <a:schemeClr val="tx1">
                  <a:lumMod val="20000"/>
                  <a:lumOff val="80000"/>
                </a:schemeClr>
              </a:solidFill>
            </a:endParaRPr>
          </a:p>
          <a:p>
            <a:pPr lvl="1"/>
            <a:r>
              <a:rPr lang="en-US" sz="1900" dirty="0"/>
              <a:t>Two limits determine how big a TCP segment can be:</a:t>
            </a:r>
          </a:p>
          <a:p>
            <a:pPr lvl="1"/>
            <a:r>
              <a:rPr lang="en-US" sz="1900" b="1" dirty="0"/>
              <a:t>IP payload limit → 65,515 bytes</a:t>
            </a:r>
            <a:endParaRPr lang="en-US" sz="1900" dirty="0"/>
          </a:p>
          <a:p>
            <a:pPr lvl="1"/>
            <a:r>
              <a:rPr lang="en-US" sz="1900" b="1" dirty="0"/>
              <a:t>MTU</a:t>
            </a:r>
            <a:r>
              <a:rPr lang="en-US" sz="1900" dirty="0"/>
              <a:t>  is the </a:t>
            </a:r>
            <a:r>
              <a:rPr lang="en-US" sz="1900" b="1" dirty="0"/>
              <a:t>maximum data size a network link can carry in one frame -</a:t>
            </a:r>
            <a:r>
              <a:rPr lang="en-US" sz="1900" dirty="0"/>
              <a:t>usually </a:t>
            </a:r>
            <a:r>
              <a:rPr lang="en-US" sz="1900" b="1" dirty="0"/>
              <a:t>1500 bytes</a:t>
            </a:r>
            <a:r>
              <a:rPr lang="en-US" sz="1900" dirty="0"/>
              <a:t> on Ethernet, So in practice, the MTU (1500 bytes) is the main limit.</a:t>
            </a:r>
          </a:p>
          <a:p>
            <a:pPr lvl="1"/>
            <a:r>
              <a:rPr lang="en-US" sz="1900" dirty="0"/>
              <a:t>If TCP tries to send a segment larger than the MTU:</a:t>
            </a:r>
          </a:p>
          <a:p>
            <a:pPr lvl="1"/>
            <a:r>
              <a:rPr lang="en-US" sz="1900" dirty="0"/>
              <a:t>The IP layer must </a:t>
            </a:r>
            <a:r>
              <a:rPr lang="en-US" sz="1900" b="1" dirty="0"/>
              <a:t>fragment</a:t>
            </a:r>
            <a:r>
              <a:rPr lang="en-US" sz="1900" dirty="0"/>
              <a:t> it into many smaller pieces</a:t>
            </a:r>
          </a:p>
          <a:p>
            <a:pPr lvl="1"/>
            <a:r>
              <a:rPr lang="en-US" sz="1900" dirty="0"/>
              <a:t>This is inefficient and increases the chance of packet loss</a:t>
            </a:r>
          </a:p>
          <a:p>
            <a:pPr lvl="1"/>
            <a:endParaRPr lang="en-US" sz="2000" dirty="0"/>
          </a:p>
          <a:p>
            <a:endParaRPr lang="en-IN" dirty="0"/>
          </a:p>
        </p:txBody>
      </p:sp>
    </p:spTree>
    <p:extLst>
      <p:ext uri="{BB962C8B-B14F-4D97-AF65-F5344CB8AC3E}">
        <p14:creationId xmlns:p14="http://schemas.microsoft.com/office/powerpoint/2010/main" val="4268277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E643E-D9B7-F4DC-844B-7AC900945054}"/>
              </a:ext>
            </a:extLst>
          </p:cNvPr>
          <p:cNvSpPr>
            <a:spLocks noGrp="1"/>
          </p:cNvSpPr>
          <p:nvPr>
            <p:ph type="title"/>
          </p:nvPr>
        </p:nvSpPr>
        <p:spPr>
          <a:xfrm>
            <a:off x="838200" y="365126"/>
            <a:ext cx="10515600" cy="67990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1EEA8FD3-D71F-78F1-5742-331307A76F5E}"/>
              </a:ext>
            </a:extLst>
          </p:cNvPr>
          <p:cNvSpPr>
            <a:spLocks noGrp="1"/>
          </p:cNvSpPr>
          <p:nvPr>
            <p:ph idx="1"/>
          </p:nvPr>
        </p:nvSpPr>
        <p:spPr>
          <a:xfrm>
            <a:off x="522514" y="1427583"/>
            <a:ext cx="11131422" cy="5065291"/>
          </a:xfrm>
        </p:spPr>
        <p:txBody>
          <a:bodyPr>
            <a:normAutofit fontScale="85000" lnSpcReduction="20000"/>
          </a:bodyPr>
          <a:lstStyle/>
          <a:p>
            <a:pPr marL="0" indent="0">
              <a:buNone/>
            </a:pPr>
            <a:r>
              <a:rPr lang="en-US" b="1" dirty="0">
                <a:solidFill>
                  <a:schemeClr val="tx1">
                    <a:lumMod val="20000"/>
                    <a:lumOff val="80000"/>
                  </a:schemeClr>
                </a:solidFill>
              </a:rPr>
              <a:t>4. TCP uses the sliding window protocol for reliable delivery</a:t>
            </a:r>
          </a:p>
          <a:p>
            <a:pPr lvl="1"/>
            <a:r>
              <a:rPr lang="en-US" dirty="0"/>
              <a:t>TCP sends segments and starts a </a:t>
            </a:r>
            <a:r>
              <a:rPr lang="en-US" b="1" dirty="0"/>
              <a:t>timer</a:t>
            </a:r>
            <a:r>
              <a:rPr lang="en-US" dirty="0"/>
              <a:t>.</a:t>
            </a:r>
            <a:br>
              <a:rPr lang="en-US" dirty="0"/>
            </a:br>
            <a:r>
              <a:rPr lang="en-US" dirty="0"/>
              <a:t>If an </a:t>
            </a:r>
            <a:r>
              <a:rPr lang="en-US" b="1" dirty="0"/>
              <a:t>acknowledgement (ACK)</a:t>
            </a:r>
            <a:r>
              <a:rPr lang="en-US" dirty="0"/>
              <a:t> arrives before timeout → good.</a:t>
            </a:r>
            <a:br>
              <a:rPr lang="en-US" dirty="0"/>
            </a:br>
            <a:r>
              <a:rPr lang="en-US" dirty="0"/>
              <a:t>If timeout happens → TCP </a:t>
            </a:r>
            <a:r>
              <a:rPr lang="en-US" b="1" dirty="0"/>
              <a:t>retransmits</a:t>
            </a:r>
            <a:r>
              <a:rPr lang="en-US" dirty="0"/>
              <a:t> the segment.</a:t>
            </a:r>
          </a:p>
          <a:p>
            <a:pPr marL="0" indent="0">
              <a:buNone/>
            </a:pPr>
            <a:r>
              <a:rPr lang="en-US" b="1" dirty="0">
                <a:solidFill>
                  <a:schemeClr val="tx1">
                    <a:lumMod val="20000"/>
                    <a:lumOff val="80000"/>
                  </a:schemeClr>
                </a:solidFill>
              </a:rPr>
              <a:t>5. TCP handles out-of-order, delayed, and retransmitted segments</a:t>
            </a:r>
          </a:p>
          <a:p>
            <a:pPr lvl="1"/>
            <a:r>
              <a:rPr lang="en-US" dirty="0"/>
              <a:t>Data may arrive:</a:t>
            </a:r>
          </a:p>
          <a:p>
            <a:pPr lvl="1"/>
            <a:r>
              <a:rPr lang="en-US" dirty="0"/>
              <a:t>Out of order</a:t>
            </a:r>
          </a:p>
          <a:p>
            <a:pPr lvl="1"/>
            <a:r>
              <a:rPr lang="en-US" dirty="0"/>
              <a:t>Late</a:t>
            </a:r>
          </a:p>
          <a:p>
            <a:pPr lvl="1"/>
            <a:r>
              <a:rPr lang="en-US" dirty="0"/>
              <a:t>Repeated (due to retransmission)</a:t>
            </a:r>
          </a:p>
          <a:p>
            <a:pPr lvl="1"/>
            <a:r>
              <a:rPr lang="en-US" dirty="0"/>
              <a:t>TCP must track which bytes are received correctly and reorder them based on sequence numbers.</a:t>
            </a:r>
          </a:p>
          <a:p>
            <a:pPr marL="0" indent="0">
              <a:buNone/>
            </a:pPr>
            <a:r>
              <a:rPr lang="en-US" b="1" dirty="0">
                <a:solidFill>
                  <a:schemeClr val="tx1">
                    <a:lumMod val="20000"/>
                    <a:lumOff val="80000"/>
                  </a:schemeClr>
                </a:solidFill>
              </a:rPr>
              <a:t>6. TCP includes many optimized algorithms to improve performance</a:t>
            </a:r>
          </a:p>
          <a:p>
            <a:pPr lvl="1"/>
            <a:r>
              <a:rPr lang="en-US" dirty="0"/>
              <a:t>Over time, TCP has been enhanced with techniques for:</a:t>
            </a:r>
          </a:p>
          <a:p>
            <a:pPr lvl="1"/>
            <a:r>
              <a:rPr lang="en-US" dirty="0"/>
              <a:t>Faster recovery</a:t>
            </a:r>
          </a:p>
          <a:p>
            <a:pPr lvl="1"/>
            <a:r>
              <a:rPr lang="en-US" dirty="0"/>
              <a:t>Efficient retransmission</a:t>
            </a:r>
          </a:p>
          <a:p>
            <a:pPr lvl="1"/>
            <a:r>
              <a:rPr lang="en-US" dirty="0"/>
              <a:t>Better congestion handling</a:t>
            </a:r>
          </a:p>
          <a:p>
            <a:pPr lvl="1"/>
            <a:r>
              <a:rPr lang="en-US" dirty="0"/>
              <a:t>These help TCP remain reliable even on problematic networks.</a:t>
            </a:r>
          </a:p>
          <a:p>
            <a:endParaRPr lang="en-IN" dirty="0"/>
          </a:p>
        </p:txBody>
      </p:sp>
    </p:spTree>
    <p:extLst>
      <p:ext uri="{BB962C8B-B14F-4D97-AF65-F5344CB8AC3E}">
        <p14:creationId xmlns:p14="http://schemas.microsoft.com/office/powerpoint/2010/main" val="2389611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331" y="350738"/>
            <a:ext cx="10567852" cy="576725"/>
          </a:xfrm>
        </p:spPr>
        <p:txBody>
          <a:bodyPr>
            <a:normAutofit fontScale="90000"/>
          </a:bodyPr>
          <a:lstStyle/>
          <a:p>
            <a:r>
              <a:rPr lang="en-IN" b="1" dirty="0"/>
              <a:t>The TCP Segment Header </a:t>
            </a:r>
            <a:endParaRPr lang="en-IN" dirty="0"/>
          </a:p>
        </p:txBody>
      </p:sp>
      <p:sp>
        <p:nvSpPr>
          <p:cNvPr id="3" name="Content Placeholder 2"/>
          <p:cNvSpPr>
            <a:spLocks noGrp="1"/>
          </p:cNvSpPr>
          <p:nvPr>
            <p:ph idx="1"/>
          </p:nvPr>
        </p:nvSpPr>
        <p:spPr>
          <a:xfrm>
            <a:off x="692331" y="1201784"/>
            <a:ext cx="10567852" cy="4297679"/>
          </a:xfrm>
        </p:spPr>
        <p:txBody>
          <a:bodyPr>
            <a:noAutofit/>
          </a:bodyPr>
          <a:lstStyle/>
          <a:p>
            <a:r>
              <a:rPr lang="en-US" sz="2400" dirty="0"/>
              <a:t>Every segment begins with a </a:t>
            </a:r>
            <a:r>
              <a:rPr lang="en-US" sz="2400" dirty="0">
                <a:solidFill>
                  <a:schemeClr val="tx1">
                    <a:lumMod val="20000"/>
                    <a:lumOff val="80000"/>
                  </a:schemeClr>
                </a:solidFill>
              </a:rPr>
              <a:t>fixed-format, </a:t>
            </a:r>
            <a:r>
              <a:rPr lang="en-US" sz="2400" u="sng" dirty="0">
                <a:solidFill>
                  <a:schemeClr val="tx1">
                    <a:lumMod val="20000"/>
                    <a:lumOff val="80000"/>
                  </a:schemeClr>
                </a:solidFill>
              </a:rPr>
              <a:t>20-byte header. </a:t>
            </a:r>
          </a:p>
          <a:p>
            <a:r>
              <a:rPr lang="en-US" sz="2400" dirty="0"/>
              <a:t>The fixed header may be followed by header options. </a:t>
            </a:r>
          </a:p>
          <a:p>
            <a:r>
              <a:rPr lang="en-US" sz="2400" dirty="0"/>
              <a:t>After the options, if any, up to 65,535 - 20 - 20 = </a:t>
            </a:r>
            <a:r>
              <a:rPr lang="en-US" sz="2400" u="sng" dirty="0"/>
              <a:t>65,495 data bytes </a:t>
            </a:r>
            <a:r>
              <a:rPr lang="en-US" sz="2400" dirty="0"/>
              <a:t>may follow, where the </a:t>
            </a:r>
            <a:r>
              <a:rPr lang="en-US" sz="2400" u="sng" dirty="0"/>
              <a:t>first 20 refer to the IP header </a:t>
            </a:r>
            <a:r>
              <a:rPr lang="en-US" sz="2400" dirty="0"/>
              <a:t>and the </a:t>
            </a:r>
            <a:r>
              <a:rPr lang="en-US" sz="2400" u="sng" dirty="0"/>
              <a:t>second to the TCP header. </a:t>
            </a:r>
          </a:p>
          <a:p>
            <a:r>
              <a:rPr lang="en-US" sz="2400" dirty="0">
                <a:solidFill>
                  <a:schemeClr val="tx1">
                    <a:lumMod val="20000"/>
                    <a:lumOff val="80000"/>
                  </a:schemeClr>
                </a:solidFill>
              </a:rPr>
              <a:t>Segments without any data are legal </a:t>
            </a:r>
            <a:r>
              <a:rPr lang="en-US" sz="2400" dirty="0"/>
              <a:t>and are commonly used for </a:t>
            </a:r>
            <a:r>
              <a:rPr lang="en-US" sz="2400" u="sng" dirty="0"/>
              <a:t>acknowledgements and control messages.</a:t>
            </a:r>
            <a:endParaRPr lang="en-IN" sz="2400" u="sng" dirty="0"/>
          </a:p>
        </p:txBody>
      </p:sp>
    </p:spTree>
    <p:extLst>
      <p:ext uri="{BB962C8B-B14F-4D97-AF65-F5344CB8AC3E}">
        <p14:creationId xmlns:p14="http://schemas.microsoft.com/office/powerpoint/2010/main" val="2607695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849086" y="269433"/>
            <a:ext cx="10593977" cy="6209744"/>
          </a:xfrm>
          <a:prstGeom prst="rect">
            <a:avLst/>
          </a:prstGeom>
        </p:spPr>
      </p:pic>
    </p:spTree>
    <p:extLst>
      <p:ext uri="{BB962C8B-B14F-4D97-AF65-F5344CB8AC3E}">
        <p14:creationId xmlns:p14="http://schemas.microsoft.com/office/powerpoint/2010/main" val="14020992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042" y="130629"/>
            <a:ext cx="10567852" cy="576725"/>
          </a:xfrm>
        </p:spPr>
        <p:txBody>
          <a:bodyPr>
            <a:normAutofit fontScale="90000"/>
          </a:bodyPr>
          <a:lstStyle/>
          <a:p>
            <a:endParaRPr lang="en-IN" dirty="0"/>
          </a:p>
        </p:txBody>
      </p:sp>
      <p:sp>
        <p:nvSpPr>
          <p:cNvPr id="3" name="Content Placeholder 2"/>
          <p:cNvSpPr>
            <a:spLocks noGrp="1"/>
          </p:cNvSpPr>
          <p:nvPr>
            <p:ph idx="1"/>
          </p:nvPr>
        </p:nvSpPr>
        <p:spPr>
          <a:xfrm>
            <a:off x="363894" y="830424"/>
            <a:ext cx="11420669" cy="5896947"/>
          </a:xfrm>
        </p:spPr>
        <p:txBody>
          <a:bodyPr>
            <a:noAutofit/>
          </a:bodyPr>
          <a:lstStyle/>
          <a:p>
            <a:pPr>
              <a:spcBef>
                <a:spcPts val="600"/>
              </a:spcBef>
            </a:pPr>
            <a:r>
              <a:rPr lang="en-US" sz="2400" b="1" dirty="0">
                <a:solidFill>
                  <a:schemeClr val="tx1">
                    <a:lumMod val="20000"/>
                    <a:lumOff val="80000"/>
                  </a:schemeClr>
                </a:solidFill>
              </a:rPr>
              <a:t>Source Port, Destination Port : </a:t>
            </a:r>
            <a:r>
              <a:rPr lang="en-US" sz="2400" dirty="0"/>
              <a:t>Identify local </a:t>
            </a:r>
            <a:r>
              <a:rPr lang="en-US" sz="2400" u="sng" dirty="0"/>
              <a:t>end points </a:t>
            </a:r>
            <a:r>
              <a:rPr lang="en-US" sz="2400" dirty="0"/>
              <a:t>of the connections </a:t>
            </a:r>
          </a:p>
          <a:p>
            <a:pPr>
              <a:spcBef>
                <a:spcPts val="600"/>
              </a:spcBef>
            </a:pPr>
            <a:r>
              <a:rPr lang="en-US" sz="2400" b="1" dirty="0">
                <a:solidFill>
                  <a:schemeClr val="tx1">
                    <a:lumMod val="20000"/>
                    <a:lumOff val="80000"/>
                  </a:schemeClr>
                </a:solidFill>
              </a:rPr>
              <a:t>Sequence number: </a:t>
            </a:r>
            <a:r>
              <a:rPr lang="en-US" sz="2400" dirty="0"/>
              <a:t>Specifies the sequence number of the segment </a:t>
            </a:r>
          </a:p>
          <a:p>
            <a:pPr>
              <a:spcBef>
                <a:spcPts val="600"/>
              </a:spcBef>
            </a:pPr>
            <a:r>
              <a:rPr lang="en-US" sz="2400" b="1" dirty="0">
                <a:solidFill>
                  <a:schemeClr val="tx1">
                    <a:lumMod val="20000"/>
                    <a:lumOff val="80000"/>
                  </a:schemeClr>
                </a:solidFill>
              </a:rPr>
              <a:t>Acknowledgement Number: </a:t>
            </a:r>
            <a:r>
              <a:rPr lang="en-US" sz="2400" dirty="0"/>
              <a:t>Specifies the </a:t>
            </a:r>
            <a:r>
              <a:rPr lang="en-US" sz="2400" u="sng" dirty="0"/>
              <a:t>next byte expected. </a:t>
            </a:r>
          </a:p>
          <a:p>
            <a:pPr>
              <a:spcBef>
                <a:spcPts val="600"/>
              </a:spcBef>
            </a:pPr>
            <a:r>
              <a:rPr lang="en-US" sz="2400" b="1" dirty="0">
                <a:solidFill>
                  <a:schemeClr val="tx1">
                    <a:lumMod val="20000"/>
                    <a:lumOff val="80000"/>
                  </a:schemeClr>
                </a:solidFill>
              </a:rPr>
              <a:t>TCP header length: </a:t>
            </a:r>
            <a:r>
              <a:rPr lang="en-US" sz="2400" dirty="0"/>
              <a:t>Tells </a:t>
            </a:r>
            <a:r>
              <a:rPr lang="en-US" sz="2400" u="sng" dirty="0"/>
              <a:t>how many 32-bit words are contained </a:t>
            </a:r>
            <a:r>
              <a:rPr lang="en-US" sz="2400" dirty="0"/>
              <a:t>in TCP header </a:t>
            </a:r>
          </a:p>
          <a:p>
            <a:pPr>
              <a:spcBef>
                <a:spcPts val="600"/>
              </a:spcBef>
            </a:pPr>
            <a:r>
              <a:rPr lang="en-US" sz="2400" b="1" dirty="0">
                <a:solidFill>
                  <a:schemeClr val="tx1">
                    <a:lumMod val="20000"/>
                    <a:lumOff val="80000"/>
                  </a:schemeClr>
                </a:solidFill>
              </a:rPr>
              <a:t>URG: </a:t>
            </a:r>
            <a:r>
              <a:rPr lang="en-US" sz="2400" b="1" dirty="0"/>
              <a:t>I</a:t>
            </a:r>
            <a:r>
              <a:rPr lang="en-US" sz="2400" dirty="0"/>
              <a:t>t is set to 1 if </a:t>
            </a:r>
            <a:r>
              <a:rPr lang="en-US" sz="2400" b="1" dirty="0"/>
              <a:t>URGENT pointer </a:t>
            </a:r>
            <a:r>
              <a:rPr lang="en-US" sz="2400" dirty="0"/>
              <a:t>is in use, which indicates </a:t>
            </a:r>
            <a:r>
              <a:rPr lang="en-US" sz="2400" u="sng" dirty="0"/>
              <a:t>start of urgent data</a:t>
            </a:r>
            <a:r>
              <a:rPr lang="en-US" sz="2400" dirty="0"/>
              <a:t>. </a:t>
            </a:r>
          </a:p>
          <a:p>
            <a:pPr>
              <a:spcBef>
                <a:spcPts val="600"/>
              </a:spcBef>
            </a:pPr>
            <a:r>
              <a:rPr lang="en-US" sz="2400" b="1" dirty="0">
                <a:solidFill>
                  <a:schemeClr val="tx1">
                    <a:lumMod val="20000"/>
                    <a:lumOff val="80000"/>
                  </a:schemeClr>
                </a:solidFill>
              </a:rPr>
              <a:t>ACK: </a:t>
            </a:r>
            <a:r>
              <a:rPr lang="en-US" sz="2400" dirty="0"/>
              <a:t>It is set to 1 to indicate that the </a:t>
            </a:r>
            <a:r>
              <a:rPr lang="en-US" sz="2400" u="sng" dirty="0"/>
              <a:t>acknowledgement number is valid</a:t>
            </a:r>
            <a:r>
              <a:rPr lang="en-US" sz="2400" dirty="0"/>
              <a:t>. </a:t>
            </a:r>
          </a:p>
          <a:p>
            <a:pPr>
              <a:spcBef>
                <a:spcPts val="600"/>
              </a:spcBef>
            </a:pPr>
            <a:r>
              <a:rPr lang="en-IN" sz="2400" b="1" dirty="0">
                <a:solidFill>
                  <a:schemeClr val="tx1">
                    <a:lumMod val="20000"/>
                    <a:lumOff val="80000"/>
                  </a:schemeClr>
                </a:solidFill>
              </a:rPr>
              <a:t>PSH: </a:t>
            </a:r>
            <a:r>
              <a:rPr lang="en-IN" sz="2400" dirty="0"/>
              <a:t>Indicates </a:t>
            </a:r>
            <a:r>
              <a:rPr lang="en-IN" sz="2400" u="sng" dirty="0"/>
              <a:t>pushed data </a:t>
            </a:r>
          </a:p>
          <a:p>
            <a:pPr>
              <a:spcBef>
                <a:spcPts val="600"/>
              </a:spcBef>
            </a:pPr>
            <a:r>
              <a:rPr lang="en-US" sz="2400" b="1" dirty="0">
                <a:solidFill>
                  <a:schemeClr val="tx1">
                    <a:lumMod val="20000"/>
                    <a:lumOff val="80000"/>
                  </a:schemeClr>
                </a:solidFill>
              </a:rPr>
              <a:t>RST: </a:t>
            </a:r>
            <a:r>
              <a:rPr lang="en-US" sz="2400" dirty="0"/>
              <a:t>It is used to </a:t>
            </a:r>
            <a:r>
              <a:rPr lang="en-US" sz="2400" u="sng" dirty="0"/>
              <a:t>reset a connection </a:t>
            </a:r>
            <a:r>
              <a:rPr lang="en-US" sz="2400" dirty="0"/>
              <a:t>that has become confused due to </a:t>
            </a:r>
            <a:r>
              <a:rPr lang="en-US" sz="2400" u="sng" dirty="0"/>
              <a:t>reject an invalid segment </a:t>
            </a:r>
          </a:p>
          <a:p>
            <a:pPr>
              <a:spcBef>
                <a:spcPts val="600"/>
              </a:spcBef>
            </a:pPr>
            <a:r>
              <a:rPr lang="en-US" sz="2400" b="1" dirty="0">
                <a:solidFill>
                  <a:schemeClr val="tx1">
                    <a:lumMod val="20000"/>
                    <a:lumOff val="80000"/>
                  </a:schemeClr>
                </a:solidFill>
              </a:rPr>
              <a:t>FIN: </a:t>
            </a:r>
            <a:r>
              <a:rPr lang="en-US" sz="2400" dirty="0"/>
              <a:t>Used to </a:t>
            </a:r>
            <a:r>
              <a:rPr lang="en-US" sz="2400" u="sng" dirty="0"/>
              <a:t>release a connection. </a:t>
            </a:r>
          </a:p>
          <a:p>
            <a:pPr>
              <a:spcBef>
                <a:spcPts val="600"/>
              </a:spcBef>
            </a:pPr>
            <a:r>
              <a:rPr lang="en-US" sz="2400" b="1" dirty="0">
                <a:solidFill>
                  <a:schemeClr val="tx1">
                    <a:lumMod val="20000"/>
                    <a:lumOff val="80000"/>
                  </a:schemeClr>
                </a:solidFill>
              </a:rPr>
              <a:t>SYN: </a:t>
            </a:r>
            <a:r>
              <a:rPr lang="en-US" sz="2400" dirty="0"/>
              <a:t>Used to </a:t>
            </a:r>
            <a:r>
              <a:rPr lang="en-US" sz="2400" u="sng" dirty="0"/>
              <a:t>establish connections. </a:t>
            </a:r>
          </a:p>
          <a:p>
            <a:pPr>
              <a:spcBef>
                <a:spcPts val="600"/>
              </a:spcBef>
            </a:pPr>
            <a:r>
              <a:rPr lang="en-US" sz="2400" b="1" dirty="0">
                <a:solidFill>
                  <a:schemeClr val="tx1">
                    <a:lumMod val="20000"/>
                    <a:lumOff val="80000"/>
                  </a:schemeClr>
                </a:solidFill>
              </a:rPr>
              <a:t>Window size: </a:t>
            </a:r>
            <a:r>
              <a:rPr lang="en-US" sz="2400" dirty="0"/>
              <a:t>field tells </a:t>
            </a:r>
            <a:r>
              <a:rPr lang="en-US" sz="2400" u="sng" dirty="0"/>
              <a:t>how many bytes may be sent starting at the byte acknowledged.</a:t>
            </a:r>
            <a:endParaRPr lang="en-US" u="sng" dirty="0"/>
          </a:p>
          <a:p>
            <a:pPr>
              <a:spcBef>
                <a:spcPts val="600"/>
              </a:spcBef>
            </a:pPr>
            <a:r>
              <a:rPr lang="en-US" sz="2400" b="1" dirty="0">
                <a:solidFill>
                  <a:schemeClr val="tx1">
                    <a:lumMod val="20000"/>
                    <a:lumOff val="80000"/>
                  </a:schemeClr>
                </a:solidFill>
              </a:rPr>
              <a:t>Checksum: </a:t>
            </a:r>
            <a:r>
              <a:rPr lang="en-US" sz="2400" dirty="0"/>
              <a:t>is also provided for extra reliability.</a:t>
            </a:r>
          </a:p>
          <a:p>
            <a:pPr>
              <a:spcBef>
                <a:spcPts val="600"/>
              </a:spcBef>
            </a:pPr>
            <a:r>
              <a:rPr lang="en-US" sz="2400" b="1" dirty="0">
                <a:solidFill>
                  <a:schemeClr val="tx1">
                    <a:lumMod val="20000"/>
                    <a:lumOff val="80000"/>
                  </a:schemeClr>
                </a:solidFill>
              </a:rPr>
              <a:t>Options:</a:t>
            </a:r>
            <a:r>
              <a:rPr lang="en-US" sz="3200" i="1" dirty="0">
                <a:solidFill>
                  <a:schemeClr val="tx1">
                    <a:lumMod val="20000"/>
                    <a:lumOff val="80000"/>
                  </a:schemeClr>
                </a:solidFill>
              </a:rPr>
              <a:t> </a:t>
            </a:r>
            <a:r>
              <a:rPr lang="en-US" sz="2400" dirty="0"/>
              <a:t>field provides a way to add extra facilities</a:t>
            </a:r>
            <a:endParaRPr lang="en-IN" sz="3600" u="sng" dirty="0"/>
          </a:p>
        </p:txBody>
      </p:sp>
    </p:spTree>
    <p:extLst>
      <p:ext uri="{BB962C8B-B14F-4D97-AF65-F5344CB8AC3E}">
        <p14:creationId xmlns:p14="http://schemas.microsoft.com/office/powerpoint/2010/main" val="7526487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331" y="350738"/>
            <a:ext cx="10567852" cy="576725"/>
          </a:xfrm>
        </p:spPr>
        <p:txBody>
          <a:bodyPr>
            <a:normAutofit fontScale="90000"/>
          </a:bodyPr>
          <a:lstStyle/>
          <a:p>
            <a:r>
              <a:rPr lang="en-IN" b="1" dirty="0"/>
              <a:t>TCP Connection Establishment </a:t>
            </a:r>
            <a:endParaRPr lang="en-IN" dirty="0"/>
          </a:p>
        </p:txBody>
      </p:sp>
      <p:sp>
        <p:nvSpPr>
          <p:cNvPr id="3" name="Content Placeholder 2"/>
          <p:cNvSpPr>
            <a:spLocks noGrp="1"/>
          </p:cNvSpPr>
          <p:nvPr>
            <p:ph idx="1"/>
          </p:nvPr>
        </p:nvSpPr>
        <p:spPr>
          <a:xfrm>
            <a:off x="692330" y="1358537"/>
            <a:ext cx="11138885" cy="5387495"/>
          </a:xfrm>
        </p:spPr>
        <p:txBody>
          <a:bodyPr>
            <a:normAutofit/>
          </a:bodyPr>
          <a:lstStyle/>
          <a:p>
            <a:r>
              <a:rPr lang="en-US" sz="2400" dirty="0">
                <a:solidFill>
                  <a:schemeClr val="tx1">
                    <a:lumMod val="20000"/>
                    <a:lumOff val="80000"/>
                  </a:schemeClr>
                </a:solidFill>
              </a:rPr>
              <a:t>To establish a connection, one side</a:t>
            </a:r>
            <a:r>
              <a:rPr lang="en-US" sz="2400" dirty="0"/>
              <a:t>, the server, passively </a:t>
            </a:r>
            <a:r>
              <a:rPr lang="en-US" sz="2400" u="sng" dirty="0"/>
              <a:t>waits for an incoming connection by executing the LISTEN and ACCEPT primitives, </a:t>
            </a:r>
            <a:r>
              <a:rPr lang="en-US" sz="2400" dirty="0"/>
              <a:t>either specifying a specific source or nobody in particular. </a:t>
            </a:r>
          </a:p>
          <a:p>
            <a:r>
              <a:rPr lang="en-US" sz="2400" dirty="0">
                <a:solidFill>
                  <a:schemeClr val="tx1">
                    <a:lumMod val="20000"/>
                    <a:lumOff val="80000"/>
                  </a:schemeClr>
                </a:solidFill>
              </a:rPr>
              <a:t>The other side, </a:t>
            </a:r>
            <a:r>
              <a:rPr lang="en-US" sz="2400" dirty="0"/>
              <a:t>say, the client, </a:t>
            </a:r>
            <a:r>
              <a:rPr lang="en-US" sz="2400" u="sng" dirty="0"/>
              <a:t>executes a CONNECT primitive, specifying the IP address and port to which it wants to connect</a:t>
            </a:r>
            <a:endParaRPr lang="en-US" sz="2400" dirty="0"/>
          </a:p>
          <a:p>
            <a:r>
              <a:rPr lang="en-US" sz="2400" dirty="0"/>
              <a:t>The CONNECT primitive sends a TCP segment with the </a:t>
            </a:r>
            <a:r>
              <a:rPr lang="en-US" sz="2400" i="1" dirty="0">
                <a:solidFill>
                  <a:schemeClr val="tx1">
                    <a:lumMod val="20000"/>
                    <a:lumOff val="80000"/>
                  </a:schemeClr>
                </a:solidFill>
              </a:rPr>
              <a:t>SYN </a:t>
            </a:r>
            <a:r>
              <a:rPr lang="en-US" sz="2400" dirty="0">
                <a:solidFill>
                  <a:schemeClr val="tx1">
                    <a:lumMod val="20000"/>
                    <a:lumOff val="80000"/>
                  </a:schemeClr>
                </a:solidFill>
              </a:rPr>
              <a:t>bit on and </a:t>
            </a:r>
            <a:r>
              <a:rPr lang="en-US" sz="2400" i="1" dirty="0">
                <a:solidFill>
                  <a:schemeClr val="tx1">
                    <a:lumMod val="20000"/>
                    <a:lumOff val="80000"/>
                  </a:schemeClr>
                </a:solidFill>
              </a:rPr>
              <a:t>ACK </a:t>
            </a:r>
            <a:r>
              <a:rPr lang="en-US" sz="2400" dirty="0">
                <a:solidFill>
                  <a:schemeClr val="tx1">
                    <a:lumMod val="20000"/>
                    <a:lumOff val="80000"/>
                  </a:schemeClr>
                </a:solidFill>
              </a:rPr>
              <a:t>bit off </a:t>
            </a:r>
            <a:r>
              <a:rPr lang="en-US" sz="2400" dirty="0"/>
              <a:t>and waits for a response.</a:t>
            </a:r>
          </a:p>
          <a:p>
            <a:endParaRPr lang="en-US" sz="2000" dirty="0"/>
          </a:p>
          <a:p>
            <a:r>
              <a:rPr lang="en-US" sz="2000" dirty="0">
                <a:solidFill>
                  <a:schemeClr val="tx1">
                    <a:lumMod val="20000"/>
                    <a:lumOff val="80000"/>
                  </a:schemeClr>
                </a:solidFill>
              </a:rPr>
              <a:t>The connection establishment in TCP is called three-way handshaking which is explained before in Elements of Transport Layer. </a:t>
            </a:r>
            <a:r>
              <a:rPr lang="en-US" sz="2000" dirty="0"/>
              <a:t>An application program, called the client, wants to make a connection with another application program, called the server, using TCP as the transport-layer protocol. The process starts with the server. The server program tells its TCP that it is ready to accept a connection. This request is called a passive open. Although the server TCP is ready to accept a connection from any machine in the world, it cannot make the connection itself. The client program issues a request for an active open. A client that wishes to connect to an open server tells its TCP to connect to a particular server. TCP can now start the three-way handshaking process.</a:t>
            </a:r>
          </a:p>
        </p:txBody>
      </p:sp>
    </p:spTree>
    <p:extLst>
      <p:ext uri="{BB962C8B-B14F-4D97-AF65-F5344CB8AC3E}">
        <p14:creationId xmlns:p14="http://schemas.microsoft.com/office/powerpoint/2010/main" val="9639559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95" y="274320"/>
            <a:ext cx="11103428" cy="1031966"/>
          </a:xfrm>
        </p:spPr>
        <p:txBody>
          <a:bodyPr>
            <a:normAutofit fontScale="90000"/>
          </a:bodyPr>
          <a:lstStyle/>
          <a:p>
            <a:r>
              <a:rPr lang="en-US" b="1" i="1" dirty="0"/>
              <a:t>a) TCP Connection establishment in the normal case b) Call Collision </a:t>
            </a:r>
            <a:endParaRPr lang="en-IN" dirty="0"/>
          </a:p>
        </p:txBody>
      </p:sp>
      <p:pic>
        <p:nvPicPr>
          <p:cNvPr id="4" name="Content Placeholder 3"/>
          <p:cNvPicPr>
            <a:picLocks noGrp="1" noChangeAspect="1"/>
          </p:cNvPicPr>
          <p:nvPr>
            <p:ph idx="1"/>
          </p:nvPr>
        </p:nvPicPr>
        <p:blipFill>
          <a:blip r:embed="rId2"/>
          <a:stretch>
            <a:fillRect/>
          </a:stretch>
        </p:blipFill>
        <p:spPr>
          <a:xfrm>
            <a:off x="1297178" y="1423851"/>
            <a:ext cx="9675621" cy="4936990"/>
          </a:xfrm>
          <a:prstGeom prst="rect">
            <a:avLst/>
          </a:prstGeom>
        </p:spPr>
      </p:pic>
    </p:spTree>
    <p:extLst>
      <p:ext uri="{BB962C8B-B14F-4D97-AF65-F5344CB8AC3E}">
        <p14:creationId xmlns:p14="http://schemas.microsoft.com/office/powerpoint/2010/main" val="36388416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4217" y="350737"/>
            <a:ext cx="9914709" cy="472222"/>
          </a:xfrm>
        </p:spPr>
        <p:txBody>
          <a:bodyPr>
            <a:normAutofit fontScale="90000"/>
          </a:bodyPr>
          <a:lstStyle/>
          <a:p>
            <a:r>
              <a:rPr lang="en-IN" b="1" dirty="0"/>
              <a:t>TCP Connection Release </a:t>
            </a:r>
            <a:endParaRPr lang="en-IN" dirty="0"/>
          </a:p>
        </p:txBody>
      </p:sp>
      <p:sp>
        <p:nvSpPr>
          <p:cNvPr id="3" name="Content Placeholder 2"/>
          <p:cNvSpPr>
            <a:spLocks noGrp="1"/>
          </p:cNvSpPr>
          <p:nvPr>
            <p:ph idx="1"/>
          </p:nvPr>
        </p:nvSpPr>
        <p:spPr>
          <a:xfrm>
            <a:off x="354563" y="1018904"/>
            <a:ext cx="10644363" cy="5307251"/>
          </a:xfrm>
        </p:spPr>
        <p:txBody>
          <a:bodyPr>
            <a:normAutofit/>
          </a:bodyPr>
          <a:lstStyle/>
          <a:p>
            <a:r>
              <a:rPr lang="en-US" sz="2400" dirty="0"/>
              <a:t>Although TCP connections are full duplex, to understand how connections are </a:t>
            </a:r>
            <a:r>
              <a:rPr lang="en-US" sz="2400" u="sng" dirty="0"/>
              <a:t>released it is best to think of them as a pair of simplex connections.</a:t>
            </a:r>
          </a:p>
          <a:p>
            <a:r>
              <a:rPr lang="en-US" sz="2400" dirty="0"/>
              <a:t>Each simplex connection is released independently of its sibling. To release a connection, either party can send </a:t>
            </a:r>
            <a:r>
              <a:rPr lang="en-US" sz="2400" u="sng" dirty="0"/>
              <a:t>a </a:t>
            </a:r>
            <a:r>
              <a:rPr lang="en-US" sz="2400" u="sng" dirty="0">
                <a:solidFill>
                  <a:schemeClr val="tx1">
                    <a:lumMod val="20000"/>
                    <a:lumOff val="80000"/>
                  </a:schemeClr>
                </a:solidFill>
              </a:rPr>
              <a:t>TCP segment with the </a:t>
            </a:r>
            <a:r>
              <a:rPr lang="en-US" sz="2400" i="1" u="sng" dirty="0">
                <a:solidFill>
                  <a:schemeClr val="tx1">
                    <a:lumMod val="20000"/>
                    <a:lumOff val="80000"/>
                  </a:schemeClr>
                </a:solidFill>
              </a:rPr>
              <a:t>FIN </a:t>
            </a:r>
            <a:r>
              <a:rPr lang="en-US" sz="2400" u="sng" dirty="0">
                <a:solidFill>
                  <a:schemeClr val="tx1">
                    <a:lumMod val="20000"/>
                    <a:lumOff val="80000"/>
                  </a:schemeClr>
                </a:solidFill>
              </a:rPr>
              <a:t>bit set, which means that it has no more data to transmit.</a:t>
            </a:r>
          </a:p>
          <a:p>
            <a:r>
              <a:rPr lang="en-US" sz="2400" u="sng" dirty="0"/>
              <a:t>When the </a:t>
            </a:r>
            <a:r>
              <a:rPr lang="en-US" sz="2400" i="1" u="sng" dirty="0"/>
              <a:t>FIN </a:t>
            </a:r>
            <a:r>
              <a:rPr lang="en-US" sz="2400" u="sng" dirty="0"/>
              <a:t>is acknowledged, that direction is shut down for new data. </a:t>
            </a:r>
            <a:r>
              <a:rPr lang="en-US" sz="2400" dirty="0"/>
              <a:t>Data may continue to flow indefinitely in the other direction, however.</a:t>
            </a:r>
          </a:p>
          <a:p>
            <a:r>
              <a:rPr lang="en-US" sz="2400" u="sng" dirty="0">
                <a:solidFill>
                  <a:schemeClr val="tx1">
                    <a:lumMod val="20000"/>
                    <a:lumOff val="80000"/>
                  </a:schemeClr>
                </a:solidFill>
              </a:rPr>
              <a:t>When both directions have been shut down, the connection is released.</a:t>
            </a:r>
          </a:p>
          <a:p>
            <a:r>
              <a:rPr lang="en-US" sz="2400" dirty="0"/>
              <a:t>Normally, four TCP segments are needed to release a connection, </a:t>
            </a:r>
            <a:r>
              <a:rPr lang="en-US" sz="2400" u="sng" dirty="0"/>
              <a:t>one </a:t>
            </a:r>
            <a:r>
              <a:rPr lang="en-US" sz="2400" i="1" u="sng" dirty="0"/>
              <a:t>FIN </a:t>
            </a:r>
            <a:r>
              <a:rPr lang="en-US" sz="2400" u="sng" dirty="0"/>
              <a:t>and one </a:t>
            </a:r>
            <a:r>
              <a:rPr lang="en-US" sz="2400" i="1" u="sng" dirty="0"/>
              <a:t>ACK </a:t>
            </a:r>
            <a:r>
              <a:rPr lang="en-US" sz="2400" u="sng" dirty="0"/>
              <a:t>for each direction. </a:t>
            </a:r>
            <a:r>
              <a:rPr lang="en-US" sz="2400" dirty="0"/>
              <a:t>However, it is possible for the </a:t>
            </a:r>
            <a:r>
              <a:rPr lang="en-US" sz="2400" dirty="0">
                <a:solidFill>
                  <a:schemeClr val="tx1">
                    <a:lumMod val="20000"/>
                    <a:lumOff val="80000"/>
                  </a:schemeClr>
                </a:solidFill>
              </a:rPr>
              <a:t>first </a:t>
            </a:r>
            <a:r>
              <a:rPr lang="en-US" sz="2400" i="1" dirty="0">
                <a:solidFill>
                  <a:schemeClr val="tx1">
                    <a:lumMod val="20000"/>
                    <a:lumOff val="80000"/>
                  </a:schemeClr>
                </a:solidFill>
              </a:rPr>
              <a:t>ACK </a:t>
            </a:r>
            <a:r>
              <a:rPr lang="en-US" sz="2400" dirty="0">
                <a:solidFill>
                  <a:schemeClr val="tx1">
                    <a:lumMod val="20000"/>
                    <a:lumOff val="80000"/>
                  </a:schemeClr>
                </a:solidFill>
              </a:rPr>
              <a:t>and the second </a:t>
            </a:r>
            <a:r>
              <a:rPr lang="en-US" sz="2400" i="1" dirty="0">
                <a:solidFill>
                  <a:schemeClr val="tx1">
                    <a:lumMod val="20000"/>
                    <a:lumOff val="80000"/>
                  </a:schemeClr>
                </a:solidFill>
              </a:rPr>
              <a:t>FIN</a:t>
            </a:r>
            <a:r>
              <a:rPr lang="en-US" sz="2400" i="1" dirty="0"/>
              <a:t> </a:t>
            </a:r>
            <a:r>
              <a:rPr lang="en-US" sz="2400" dirty="0">
                <a:solidFill>
                  <a:schemeClr val="tx1">
                    <a:lumMod val="20000"/>
                    <a:lumOff val="80000"/>
                  </a:schemeClr>
                </a:solidFill>
              </a:rPr>
              <a:t>to be contained in the same segment</a:t>
            </a:r>
            <a:r>
              <a:rPr lang="en-US" sz="2400" dirty="0"/>
              <a:t>, reducing the total count to three.</a:t>
            </a:r>
          </a:p>
          <a:p>
            <a:endParaRPr lang="en-IN" dirty="0"/>
          </a:p>
        </p:txBody>
      </p:sp>
    </p:spTree>
    <p:extLst>
      <p:ext uri="{BB962C8B-B14F-4D97-AF65-F5344CB8AC3E}">
        <p14:creationId xmlns:p14="http://schemas.microsoft.com/office/powerpoint/2010/main" val="33550702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7321" y="394849"/>
            <a:ext cx="10827026" cy="665325"/>
          </a:xfrm>
        </p:spPr>
        <p:txBody>
          <a:bodyPr>
            <a:normAutofit fontScale="90000"/>
          </a:bodyPr>
          <a:lstStyle/>
          <a:p>
            <a:r>
              <a:rPr lang="en-IN" b="1" dirty="0"/>
              <a:t>Sliding Window Protocol</a:t>
            </a:r>
            <a:endParaRPr lang="en-IN" dirty="0"/>
          </a:p>
        </p:txBody>
      </p:sp>
      <p:sp>
        <p:nvSpPr>
          <p:cNvPr id="3" name="Content Placeholder 2"/>
          <p:cNvSpPr>
            <a:spLocks noGrp="1"/>
          </p:cNvSpPr>
          <p:nvPr>
            <p:ph idx="1"/>
          </p:nvPr>
        </p:nvSpPr>
        <p:spPr>
          <a:xfrm>
            <a:off x="437321" y="1311965"/>
            <a:ext cx="11423375" cy="5314122"/>
          </a:xfrm>
        </p:spPr>
        <p:txBody>
          <a:bodyPr>
            <a:noAutofit/>
          </a:bodyPr>
          <a:lstStyle/>
          <a:p>
            <a:pPr lvl="0"/>
            <a:r>
              <a:rPr lang="en-IN" sz="2200" dirty="0"/>
              <a:t>This protocol allows </a:t>
            </a:r>
            <a:r>
              <a:rPr lang="en-IN" sz="2200" u="sng" dirty="0">
                <a:solidFill>
                  <a:schemeClr val="tx1">
                    <a:lumMod val="20000"/>
                    <a:lumOff val="80000"/>
                  </a:schemeClr>
                </a:solidFill>
              </a:rPr>
              <a:t>sharing multiple data frames from the sender </a:t>
            </a:r>
            <a:r>
              <a:rPr lang="en-IN" sz="2200" dirty="0">
                <a:solidFill>
                  <a:schemeClr val="tx1">
                    <a:lumMod val="20000"/>
                    <a:lumOff val="80000"/>
                  </a:schemeClr>
                </a:solidFill>
              </a:rPr>
              <a:t>before receiving any acknowledgment </a:t>
            </a:r>
            <a:r>
              <a:rPr lang="en-IN" sz="2200" dirty="0"/>
              <a:t>from the receiver side.</a:t>
            </a:r>
          </a:p>
          <a:p>
            <a:pPr lvl="0"/>
            <a:r>
              <a:rPr lang="en-IN" sz="2200" dirty="0"/>
              <a:t>The </a:t>
            </a:r>
            <a:r>
              <a:rPr lang="en-IN" sz="2200" u="sng" dirty="0">
                <a:solidFill>
                  <a:schemeClr val="tx1">
                    <a:lumMod val="20000"/>
                    <a:lumOff val="80000"/>
                  </a:schemeClr>
                </a:solidFill>
              </a:rPr>
              <a:t>data frames shared in the channel are defined by the window size</a:t>
            </a:r>
            <a:r>
              <a:rPr lang="en-IN" sz="2200" dirty="0">
                <a:solidFill>
                  <a:schemeClr val="tx1">
                    <a:lumMod val="20000"/>
                    <a:lumOff val="80000"/>
                  </a:schemeClr>
                </a:solidFill>
              </a:rPr>
              <a:t> </a:t>
            </a:r>
            <a:r>
              <a:rPr lang="en-IN" sz="2200" dirty="0"/>
              <a:t>mentioned in the network model, which defines the </a:t>
            </a:r>
            <a:r>
              <a:rPr lang="en-IN" sz="2200" u="sng" dirty="0">
                <a:solidFill>
                  <a:schemeClr val="tx1">
                    <a:lumMod val="20000"/>
                    <a:lumOff val="80000"/>
                  </a:schemeClr>
                </a:solidFill>
              </a:rPr>
              <a:t>maximum number of frames that can be transmitted at a time </a:t>
            </a:r>
            <a:r>
              <a:rPr lang="en-IN" sz="2200" dirty="0"/>
              <a:t>from the sender to the receiver side before expecting any acknowledgment.</a:t>
            </a:r>
          </a:p>
          <a:p>
            <a:pPr lvl="0"/>
            <a:r>
              <a:rPr lang="en-IN" sz="2200" dirty="0"/>
              <a:t>Each of the frames in the network model is </a:t>
            </a:r>
            <a:r>
              <a:rPr lang="en-IN" sz="2200" u="sng" dirty="0">
                <a:solidFill>
                  <a:schemeClr val="tx1">
                    <a:lumMod val="20000"/>
                    <a:lumOff val="80000"/>
                  </a:schemeClr>
                </a:solidFill>
              </a:rPr>
              <a:t>assigned a sequence number </a:t>
            </a:r>
            <a:r>
              <a:rPr lang="en-IN" sz="2200" dirty="0"/>
              <a:t>to increase the transmission efficiency.</a:t>
            </a:r>
          </a:p>
          <a:p>
            <a:pPr lvl="0"/>
            <a:r>
              <a:rPr lang="en-IN" sz="2200" dirty="0"/>
              <a:t>The </a:t>
            </a:r>
            <a:r>
              <a:rPr lang="en-IN" sz="2200" u="sng" dirty="0"/>
              <a:t>data frames shared </a:t>
            </a:r>
            <a:r>
              <a:rPr lang="en-IN" sz="2200" dirty="0"/>
              <a:t>from the sender to the receiver side are </a:t>
            </a:r>
            <a:r>
              <a:rPr lang="en-IN" sz="2200" u="sng" dirty="0">
                <a:solidFill>
                  <a:schemeClr val="tx1">
                    <a:lumMod val="20000"/>
                    <a:lumOff val="80000"/>
                  </a:schemeClr>
                </a:solidFill>
              </a:rPr>
              <a:t>enclosed within a virtual sliding window</a:t>
            </a:r>
            <a:r>
              <a:rPr lang="en-IN" sz="2200" dirty="0">
                <a:solidFill>
                  <a:schemeClr val="tx1">
                    <a:lumMod val="20000"/>
                    <a:lumOff val="80000"/>
                  </a:schemeClr>
                </a:solidFill>
              </a:rPr>
              <a:t>, </a:t>
            </a:r>
            <a:r>
              <a:rPr lang="en-IN" sz="2200" dirty="0"/>
              <a:t>which represents that these are </a:t>
            </a:r>
            <a:r>
              <a:rPr lang="en-IN" sz="2200" u="sng" dirty="0"/>
              <a:t>awaiting acknowledgment</a:t>
            </a:r>
            <a:r>
              <a:rPr lang="en-IN" sz="2200" dirty="0"/>
              <a:t> from the receiver side. Requirements are:</a:t>
            </a:r>
          </a:p>
          <a:p>
            <a:pPr lvl="0"/>
            <a:r>
              <a:rPr lang="en-IN" sz="2000" dirty="0"/>
              <a:t>Sender and the receiver side</a:t>
            </a:r>
          </a:p>
          <a:p>
            <a:pPr lvl="0"/>
            <a:r>
              <a:rPr lang="en-IN" sz="2000" dirty="0"/>
              <a:t>Window Size</a:t>
            </a:r>
          </a:p>
          <a:p>
            <a:pPr lvl="0"/>
            <a:r>
              <a:rPr lang="en-IN" sz="2000" dirty="0"/>
              <a:t>The total data frames to be transmitted</a:t>
            </a:r>
          </a:p>
          <a:p>
            <a:pPr lvl="0"/>
            <a:r>
              <a:rPr lang="en-IN" sz="2000" dirty="0"/>
              <a:t>Proper sequencing of the frames</a:t>
            </a:r>
          </a:p>
          <a:p>
            <a:endParaRPr lang="en-IN" sz="2000" dirty="0"/>
          </a:p>
        </p:txBody>
      </p:sp>
    </p:spTree>
    <p:extLst>
      <p:ext uri="{BB962C8B-B14F-4D97-AF65-F5344CB8AC3E}">
        <p14:creationId xmlns:p14="http://schemas.microsoft.com/office/powerpoint/2010/main" val="25505241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p:cNvPicPr>
          <p:nvPr>
            <p:ph idx="1"/>
          </p:nvPr>
        </p:nvPicPr>
        <p:blipFill>
          <a:blip r:embed="rId2"/>
          <a:stretch>
            <a:fillRect/>
          </a:stretch>
        </p:blipFill>
        <p:spPr>
          <a:xfrm>
            <a:off x="848139" y="821634"/>
            <a:ext cx="10296939" cy="4651513"/>
          </a:xfrm>
          <a:prstGeom prst="rect">
            <a:avLst/>
          </a:prstGeom>
        </p:spPr>
      </p:pic>
    </p:spTree>
    <p:extLst>
      <p:ext uri="{BB962C8B-B14F-4D97-AF65-F5344CB8AC3E}">
        <p14:creationId xmlns:p14="http://schemas.microsoft.com/office/powerpoint/2010/main" val="17572251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095" y="371061"/>
            <a:ext cx="11108161" cy="2577411"/>
          </a:xfrm>
        </p:spPr>
        <p:txBody>
          <a:bodyPr>
            <a:normAutofit lnSpcReduction="10000"/>
          </a:bodyPr>
          <a:lstStyle/>
          <a:p>
            <a:r>
              <a:rPr lang="en-IN" sz="2400" b="1" dirty="0"/>
              <a:t>Steps for the Sender Side</a:t>
            </a:r>
          </a:p>
          <a:p>
            <a:pPr lvl="0"/>
            <a:r>
              <a:rPr lang="en-IN" sz="2400" dirty="0"/>
              <a:t>To begin with, the </a:t>
            </a:r>
            <a:r>
              <a:rPr lang="en-IN" sz="2400" dirty="0">
                <a:solidFill>
                  <a:schemeClr val="tx1">
                    <a:lumMod val="20000"/>
                    <a:lumOff val="80000"/>
                  </a:schemeClr>
                </a:solidFill>
              </a:rPr>
              <a:t>sender side will </a:t>
            </a:r>
            <a:r>
              <a:rPr lang="en-IN" sz="2400" u="sng" dirty="0">
                <a:solidFill>
                  <a:schemeClr val="tx1">
                    <a:lumMod val="20000"/>
                    <a:lumOff val="80000"/>
                  </a:schemeClr>
                </a:solidFill>
              </a:rPr>
              <a:t>share data frames with the receiver </a:t>
            </a:r>
            <a:r>
              <a:rPr lang="en-IN" sz="2400" dirty="0">
                <a:solidFill>
                  <a:schemeClr val="tx1">
                    <a:lumMod val="20000"/>
                    <a:lumOff val="80000"/>
                  </a:schemeClr>
                </a:solidFill>
              </a:rPr>
              <a:t>side </a:t>
            </a:r>
            <a:r>
              <a:rPr lang="en-IN" sz="2400" dirty="0"/>
              <a:t>per the window size assigned to the model.</a:t>
            </a:r>
          </a:p>
          <a:p>
            <a:pPr lvl="0"/>
            <a:r>
              <a:rPr lang="en-IN" sz="2400" dirty="0"/>
              <a:t>The </a:t>
            </a:r>
            <a:r>
              <a:rPr lang="en-IN" sz="2400" u="sng" dirty="0">
                <a:solidFill>
                  <a:schemeClr val="tx1">
                    <a:lumMod val="20000"/>
                    <a:lumOff val="80000"/>
                  </a:schemeClr>
                </a:solidFill>
              </a:rPr>
              <a:t>sliding window will appear on the frames </a:t>
            </a:r>
            <a:r>
              <a:rPr lang="en-IN" sz="2400" dirty="0"/>
              <a:t>transmitted over to the receiver side.</a:t>
            </a:r>
          </a:p>
          <a:p>
            <a:pPr lvl="0"/>
            <a:r>
              <a:rPr lang="en-IN" sz="2400" dirty="0"/>
              <a:t>Then the sender will wait for an acknowledgment from the receiver side for the shared frames, as mentioned in figure1.</a:t>
            </a:r>
          </a:p>
          <a:p>
            <a:endParaRPr lang="en-IN" sz="2400" dirty="0"/>
          </a:p>
          <a:p>
            <a:endParaRPr lang="en-IN" sz="2400" dirty="0"/>
          </a:p>
        </p:txBody>
      </p:sp>
      <p:pic>
        <p:nvPicPr>
          <p:cNvPr id="4" name="Picture 3"/>
          <p:cNvPicPr/>
          <p:nvPr/>
        </p:nvPicPr>
        <p:blipFill>
          <a:blip r:embed="rId2"/>
          <a:stretch>
            <a:fillRect/>
          </a:stretch>
        </p:blipFill>
        <p:spPr>
          <a:xfrm>
            <a:off x="4948567" y="3359427"/>
            <a:ext cx="7159458" cy="3412738"/>
          </a:xfrm>
          <a:prstGeom prst="rect">
            <a:avLst/>
          </a:prstGeom>
        </p:spPr>
      </p:pic>
    </p:spTree>
    <p:extLst>
      <p:ext uri="{BB962C8B-B14F-4D97-AF65-F5344CB8AC3E}">
        <p14:creationId xmlns:p14="http://schemas.microsoft.com/office/powerpoint/2010/main" val="2649811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052" y="391616"/>
            <a:ext cx="11728174" cy="2803753"/>
          </a:xfrm>
        </p:spPr>
        <p:txBody>
          <a:bodyPr>
            <a:normAutofit/>
          </a:bodyPr>
          <a:lstStyle/>
          <a:p>
            <a:r>
              <a:rPr lang="en-IN" sz="2400" b="1" dirty="0"/>
              <a:t>Steps for the Receiver Side</a:t>
            </a:r>
          </a:p>
          <a:p>
            <a:pPr lvl="0"/>
            <a:r>
              <a:rPr lang="en-IN" sz="2400" dirty="0"/>
              <a:t>On receiving the data frames from the sender side, the receiver will use the frames in the network model.</a:t>
            </a:r>
          </a:p>
          <a:p>
            <a:pPr lvl="0"/>
            <a:r>
              <a:rPr lang="en-IN" sz="2400" dirty="0"/>
              <a:t>After the receiver uses the frame, </a:t>
            </a:r>
            <a:r>
              <a:rPr lang="en-IN" sz="2400" u="sng" dirty="0"/>
              <a:t>it will transmit the acknowledgement to the sender side </a:t>
            </a:r>
            <a:r>
              <a:rPr lang="en-IN" sz="2400" dirty="0"/>
              <a:t>for that data frame.</a:t>
            </a:r>
          </a:p>
          <a:p>
            <a:pPr lvl="0"/>
            <a:r>
              <a:rPr lang="en-IN" sz="2400" dirty="0"/>
              <a:t>Then, the receiver side will receive the next data frame from the sender side, as mentioned in figure2.</a:t>
            </a:r>
          </a:p>
          <a:p>
            <a:endParaRPr lang="en-IN" sz="2400" dirty="0"/>
          </a:p>
        </p:txBody>
      </p:sp>
      <p:pic>
        <p:nvPicPr>
          <p:cNvPr id="4" name="Picture 3"/>
          <p:cNvPicPr/>
          <p:nvPr/>
        </p:nvPicPr>
        <p:blipFill>
          <a:blip r:embed="rId2"/>
          <a:stretch>
            <a:fillRect/>
          </a:stretch>
        </p:blipFill>
        <p:spPr>
          <a:xfrm>
            <a:off x="5590032" y="3307336"/>
            <a:ext cx="6456194" cy="3398264"/>
          </a:xfrm>
          <a:prstGeom prst="rect">
            <a:avLst/>
          </a:prstGeom>
        </p:spPr>
      </p:pic>
    </p:spTree>
    <p:extLst>
      <p:ext uri="{BB962C8B-B14F-4D97-AF65-F5344CB8AC3E}">
        <p14:creationId xmlns:p14="http://schemas.microsoft.com/office/powerpoint/2010/main" val="38954674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290"/>
            <a:ext cx="11091933" cy="735496"/>
          </a:xfrm>
        </p:spPr>
        <p:txBody>
          <a:bodyPr>
            <a:normAutofit/>
          </a:bodyPr>
          <a:lstStyle/>
          <a:p>
            <a:r>
              <a:rPr lang="en-IN" sz="3200" b="1" dirty="0"/>
              <a:t>Advantages and Disadvantages of Sliding Window Protocol</a:t>
            </a:r>
            <a:endParaRPr lang="en-IN" sz="3200" dirty="0"/>
          </a:p>
        </p:txBody>
      </p:sp>
      <p:sp>
        <p:nvSpPr>
          <p:cNvPr id="3" name="Content Placeholder 2"/>
          <p:cNvSpPr>
            <a:spLocks noGrp="1"/>
          </p:cNvSpPr>
          <p:nvPr>
            <p:ph idx="1"/>
          </p:nvPr>
        </p:nvSpPr>
        <p:spPr>
          <a:xfrm>
            <a:off x="158620" y="953344"/>
            <a:ext cx="11952515" cy="5755365"/>
          </a:xfrm>
        </p:spPr>
        <p:txBody>
          <a:bodyPr>
            <a:normAutofit fontScale="92500" lnSpcReduction="20000"/>
          </a:bodyPr>
          <a:lstStyle/>
          <a:p>
            <a:r>
              <a:rPr lang="en-US" sz="2400" b="1" dirty="0"/>
              <a:t>Advantages</a:t>
            </a:r>
          </a:p>
          <a:p>
            <a:r>
              <a:rPr lang="en-US" sz="2400" b="1" dirty="0"/>
              <a:t>Higher efficiency:</a:t>
            </a:r>
            <a:r>
              <a:rPr lang="en-US" sz="2400" dirty="0"/>
              <a:t> The </a:t>
            </a:r>
            <a:r>
              <a:rPr lang="en-US" sz="2400" dirty="0">
                <a:solidFill>
                  <a:schemeClr val="tx1">
                    <a:lumMod val="20000"/>
                    <a:lumOff val="80000"/>
                  </a:schemeClr>
                </a:solidFill>
              </a:rPr>
              <a:t>sender can transmit multiple frames </a:t>
            </a:r>
            <a:r>
              <a:rPr lang="en-US" sz="2400" dirty="0"/>
              <a:t>before waiting for an acknowledgment, which increases channel utilization.</a:t>
            </a:r>
          </a:p>
          <a:p>
            <a:r>
              <a:rPr lang="en-US" sz="2400" b="1" dirty="0"/>
              <a:t>Reduced waiting time:</a:t>
            </a:r>
            <a:r>
              <a:rPr lang="en-US" sz="2400" dirty="0"/>
              <a:t> Since multiple frames are sent consecutively, the </a:t>
            </a:r>
            <a:r>
              <a:rPr lang="en-US" sz="2400" dirty="0">
                <a:solidFill>
                  <a:schemeClr val="tx1">
                    <a:lumMod val="20000"/>
                    <a:lumOff val="80000"/>
                  </a:schemeClr>
                </a:solidFill>
              </a:rPr>
              <a:t>overall time delay is lower </a:t>
            </a:r>
            <a:r>
              <a:rPr lang="en-US" sz="2400" dirty="0"/>
              <a:t>compared to stop-and-wait systems.</a:t>
            </a:r>
          </a:p>
          <a:p>
            <a:r>
              <a:rPr lang="en-US" sz="2400" b="1" dirty="0"/>
              <a:t>Supports full-duplex communication:</a:t>
            </a:r>
            <a:r>
              <a:rPr lang="en-US" sz="2400" dirty="0"/>
              <a:t> Both </a:t>
            </a:r>
            <a:r>
              <a:rPr lang="en-US" sz="2400" dirty="0">
                <a:solidFill>
                  <a:schemeClr val="tx1">
                    <a:lumMod val="20000"/>
                    <a:lumOff val="80000"/>
                  </a:schemeClr>
                </a:solidFill>
              </a:rPr>
              <a:t>sender and receiver can simultaneously</a:t>
            </a:r>
            <a:r>
              <a:rPr lang="en-US" sz="2400" dirty="0"/>
              <a:t> send and receive frames, improving throughput.</a:t>
            </a:r>
          </a:p>
          <a:p>
            <a:r>
              <a:rPr lang="en-US" sz="2400" b="1" dirty="0"/>
              <a:t>Frame management:</a:t>
            </a:r>
            <a:r>
              <a:rPr lang="en-US" sz="2400" dirty="0"/>
              <a:t> Requires </a:t>
            </a:r>
            <a:r>
              <a:rPr lang="en-US" sz="2400" dirty="0">
                <a:solidFill>
                  <a:schemeClr val="tx1">
                    <a:lumMod val="20000"/>
                    <a:lumOff val="80000"/>
                  </a:schemeClr>
                </a:solidFill>
              </a:rPr>
              <a:t>frame sorting and sequencing at the receiver</a:t>
            </a:r>
            <a:r>
              <a:rPr lang="en-US" sz="2400" dirty="0"/>
              <a:t>, which improves reliability and orderly processing.</a:t>
            </a:r>
          </a:p>
          <a:p>
            <a:endParaRPr lang="en-IN" sz="2400" dirty="0"/>
          </a:p>
          <a:p>
            <a:r>
              <a:rPr lang="en-US" sz="2400" b="1" dirty="0"/>
              <a:t>Disadvantages</a:t>
            </a:r>
          </a:p>
          <a:p>
            <a:r>
              <a:rPr lang="en-US" sz="2400" b="1" dirty="0"/>
              <a:t>Inefficiency during lost acknowledgments:</a:t>
            </a:r>
            <a:r>
              <a:rPr lang="en-US" sz="2400" dirty="0"/>
              <a:t> If the sender does not receive an acknowledgment, it may </a:t>
            </a:r>
            <a:r>
              <a:rPr lang="en-US" sz="2400" dirty="0">
                <a:solidFill>
                  <a:schemeClr val="tx1">
                    <a:lumMod val="20000"/>
                    <a:lumOff val="80000"/>
                  </a:schemeClr>
                </a:solidFill>
              </a:rPr>
              <a:t>retransmit many frames, reducing performance.</a:t>
            </a:r>
          </a:p>
          <a:p>
            <a:r>
              <a:rPr lang="en-US" sz="2400" b="1" dirty="0"/>
              <a:t>Bandwidth wastage:</a:t>
            </a:r>
            <a:r>
              <a:rPr lang="en-US" sz="2400" dirty="0"/>
              <a:t> </a:t>
            </a:r>
            <a:r>
              <a:rPr lang="en-US" sz="2400" dirty="0">
                <a:solidFill>
                  <a:schemeClr val="tx1">
                    <a:lumMod val="20000"/>
                    <a:lumOff val="80000"/>
                  </a:schemeClr>
                </a:solidFill>
              </a:rPr>
              <a:t>Loss of any frame results in retransmission of multiple frames, leading to bandwidth wastage.</a:t>
            </a:r>
          </a:p>
          <a:p>
            <a:r>
              <a:rPr lang="en-US" sz="2400" b="1" dirty="0"/>
              <a:t>Higher complexity:</a:t>
            </a:r>
            <a:r>
              <a:rPr lang="en-US" sz="2400" dirty="0"/>
              <a:t> </a:t>
            </a:r>
            <a:r>
              <a:rPr lang="en-US" sz="2400" dirty="0">
                <a:solidFill>
                  <a:schemeClr val="tx1">
                    <a:lumMod val="20000"/>
                    <a:lumOff val="80000"/>
                  </a:schemeClr>
                </a:solidFill>
              </a:rPr>
              <a:t>Maintaining sequence numbers, buffers, and sorting mechanisms </a:t>
            </a:r>
            <a:r>
              <a:rPr lang="en-US" sz="2400" dirty="0"/>
              <a:t>increases system complexity compared to simple protocols.</a:t>
            </a:r>
          </a:p>
        </p:txBody>
      </p:sp>
    </p:spTree>
    <p:extLst>
      <p:ext uri="{BB962C8B-B14F-4D97-AF65-F5344CB8AC3E}">
        <p14:creationId xmlns:p14="http://schemas.microsoft.com/office/powerpoint/2010/main" val="18011245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197C-5CDE-CC31-7CCD-AF0810EC6E54}"/>
              </a:ext>
            </a:extLst>
          </p:cNvPr>
          <p:cNvSpPr>
            <a:spLocks noGrp="1"/>
          </p:cNvSpPr>
          <p:nvPr>
            <p:ph type="title"/>
          </p:nvPr>
        </p:nvSpPr>
        <p:spPr>
          <a:xfrm>
            <a:off x="110413" y="243211"/>
            <a:ext cx="10515600" cy="896355"/>
          </a:xfrm>
        </p:spPr>
        <p:txBody>
          <a:bodyPr>
            <a:normAutofit fontScale="90000"/>
          </a:bodyPr>
          <a:lstStyle/>
          <a:p>
            <a:r>
              <a:rPr lang="en-US" b="1" dirty="0"/>
              <a:t>Transmission policy</a:t>
            </a:r>
            <a:br>
              <a:rPr lang="en-US" b="1" dirty="0"/>
            </a:br>
            <a:r>
              <a:rPr lang="en-US" b="1" dirty="0"/>
              <a:t>(Window Management)</a:t>
            </a:r>
            <a:endParaRPr lang="en-IN" dirty="0"/>
          </a:p>
        </p:txBody>
      </p:sp>
      <p:sp>
        <p:nvSpPr>
          <p:cNvPr id="3" name="Content Placeholder 2">
            <a:extLst>
              <a:ext uri="{FF2B5EF4-FFF2-40B4-BE49-F238E27FC236}">
                <a16:creationId xmlns:a16="http://schemas.microsoft.com/office/drawing/2014/main" id="{87E07D29-4F19-91E5-252B-4ACF946E1EF6}"/>
              </a:ext>
            </a:extLst>
          </p:cNvPr>
          <p:cNvSpPr>
            <a:spLocks noGrp="1"/>
          </p:cNvSpPr>
          <p:nvPr>
            <p:ph idx="1"/>
          </p:nvPr>
        </p:nvSpPr>
        <p:spPr>
          <a:xfrm>
            <a:off x="301690" y="1461731"/>
            <a:ext cx="7162799" cy="5396269"/>
          </a:xfrm>
        </p:spPr>
        <p:txBody>
          <a:bodyPr>
            <a:normAutofit fontScale="85000" lnSpcReduction="10000"/>
          </a:bodyPr>
          <a:lstStyle/>
          <a:p>
            <a:pPr marL="0" lvl="0" indent="0" eaLnBrk="0" fontAlgn="base" hangingPunct="0">
              <a:lnSpc>
                <a:spcPct val="100000"/>
              </a:lnSpc>
              <a:spcBef>
                <a:spcPct val="0"/>
              </a:spcBef>
              <a:spcAft>
                <a:spcPct val="0"/>
              </a:spcAft>
              <a:buFontTx/>
              <a:buChar char="•"/>
            </a:pPr>
            <a:r>
              <a:rPr lang="en-US" altLang="en-US" dirty="0"/>
              <a:t>Receiver has a 4096-byte buffer, so TCP uses a sliding window to avoid overflow.</a:t>
            </a:r>
          </a:p>
          <a:p>
            <a:pPr marL="0" lvl="0" indent="0" eaLnBrk="0" fontAlgn="base" hangingPunct="0">
              <a:lnSpc>
                <a:spcPct val="100000"/>
              </a:lnSpc>
              <a:spcBef>
                <a:spcPct val="0"/>
              </a:spcBef>
              <a:spcAft>
                <a:spcPct val="0"/>
              </a:spcAft>
              <a:buFontTx/>
              <a:buChar char="•"/>
            </a:pPr>
            <a:r>
              <a:rPr lang="en-US" altLang="en-US" dirty="0"/>
              <a:t>Sender first sends 2048 bytes; receiver ACKs and advertises remaining 2048 bytes.</a:t>
            </a:r>
          </a:p>
          <a:p>
            <a:pPr marL="0" lvl="0" indent="0" eaLnBrk="0" fontAlgn="base" hangingPunct="0">
              <a:lnSpc>
                <a:spcPct val="100000"/>
              </a:lnSpc>
              <a:spcBef>
                <a:spcPct val="0"/>
              </a:spcBef>
              <a:spcAft>
                <a:spcPct val="0"/>
              </a:spcAft>
              <a:buFontTx/>
              <a:buChar char="•"/>
            </a:pPr>
            <a:r>
              <a:rPr lang="en-US" altLang="en-US" dirty="0"/>
              <a:t>Sender sends the next 2048 bytes; buffer becomes full and receiver advertises a window of 0.</a:t>
            </a:r>
          </a:p>
          <a:p>
            <a:pPr marL="0" lvl="0" indent="0" eaLnBrk="0" fontAlgn="base" hangingPunct="0">
              <a:lnSpc>
                <a:spcPct val="100000"/>
              </a:lnSpc>
              <a:spcBef>
                <a:spcPct val="0"/>
              </a:spcBef>
              <a:spcAft>
                <a:spcPct val="0"/>
              </a:spcAft>
              <a:buFontTx/>
              <a:buChar char="•"/>
            </a:pPr>
            <a:r>
              <a:rPr lang="en-US" altLang="en-US" dirty="0"/>
              <a:t>When window = 0, the sender must stop sending more data.</a:t>
            </a:r>
          </a:p>
          <a:p>
            <a:pPr marL="0" lvl="0" indent="0" eaLnBrk="0" fontAlgn="base" hangingPunct="0">
              <a:lnSpc>
                <a:spcPct val="100000"/>
              </a:lnSpc>
              <a:spcBef>
                <a:spcPct val="0"/>
              </a:spcBef>
              <a:spcAft>
                <a:spcPct val="0"/>
              </a:spcAft>
              <a:buFontTx/>
              <a:buChar char="•"/>
            </a:pPr>
            <a:r>
              <a:rPr lang="en-US" altLang="en-US" dirty="0"/>
              <a:t>Receiver frees space when the application reads data, so later it can advertise a larger window again.</a:t>
            </a:r>
          </a:p>
          <a:p>
            <a:pPr marL="0" lvl="0" indent="0" eaLnBrk="0" fontAlgn="base" hangingPunct="0">
              <a:lnSpc>
                <a:spcPct val="100000"/>
              </a:lnSpc>
              <a:spcBef>
                <a:spcPct val="0"/>
              </a:spcBef>
              <a:spcAft>
                <a:spcPct val="0"/>
              </a:spcAft>
              <a:buFontTx/>
              <a:buChar char="•"/>
            </a:pPr>
            <a:r>
              <a:rPr lang="en-US" altLang="en-US" dirty="0"/>
              <a:t>To avoid deadlock when window = 0, sender can send urgent data or a 1-byte probe to make receiver announce updated window.</a:t>
            </a:r>
          </a:p>
          <a:p>
            <a:pPr marL="0" lvl="0" indent="0" eaLnBrk="0" fontAlgn="base" hangingPunct="0">
              <a:lnSpc>
                <a:spcPct val="100000"/>
              </a:lnSpc>
              <a:spcBef>
                <a:spcPct val="0"/>
              </a:spcBef>
              <a:spcAft>
                <a:spcPct val="0"/>
              </a:spcAft>
              <a:buFontTx/>
              <a:buChar char="•"/>
            </a:pPr>
            <a:r>
              <a:rPr lang="en-US" altLang="en-US" dirty="0"/>
              <a:t>TCP allows both sender and receiver to delay sending data/ACKs to create larger, more efficient segments.</a:t>
            </a:r>
          </a:p>
          <a:p>
            <a:endParaRPr lang="en-IN" dirty="0"/>
          </a:p>
        </p:txBody>
      </p:sp>
      <p:sp>
        <p:nvSpPr>
          <p:cNvPr id="7" name="AutoShape 5" descr="Uploaded image">
            <a:extLst>
              <a:ext uri="{FF2B5EF4-FFF2-40B4-BE49-F238E27FC236}">
                <a16:creationId xmlns:a16="http://schemas.microsoft.com/office/drawing/2014/main" id="{6F428EED-F397-609B-6E22-9084EC80A650}"/>
              </a:ext>
            </a:extLst>
          </p:cNvPr>
          <p:cNvSpPr>
            <a:spLocks noChangeAspect="1" noChangeArrowheads="1"/>
          </p:cNvSpPr>
          <p:nvPr/>
        </p:nvSpPr>
        <p:spPr bwMode="auto">
          <a:xfrm>
            <a:off x="5943600" y="3276600"/>
            <a:ext cx="3135086" cy="313508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05168A4C-D0C0-E915-8E22-755CADFE4E8F}"/>
              </a:ext>
            </a:extLst>
          </p:cNvPr>
          <p:cNvPicPr>
            <a:picLocks noChangeAspect="1"/>
          </p:cNvPicPr>
          <p:nvPr/>
        </p:nvPicPr>
        <p:blipFill>
          <a:blip r:embed="rId2"/>
          <a:stretch>
            <a:fillRect/>
          </a:stretch>
        </p:blipFill>
        <p:spPr>
          <a:xfrm>
            <a:off x="7464490" y="0"/>
            <a:ext cx="4754724" cy="6858000"/>
          </a:xfrm>
          <a:prstGeom prst="rect">
            <a:avLst/>
          </a:prstGeom>
        </p:spPr>
      </p:pic>
    </p:spTree>
    <p:extLst>
      <p:ext uri="{BB962C8B-B14F-4D97-AF65-F5344CB8AC3E}">
        <p14:creationId xmlns:p14="http://schemas.microsoft.com/office/powerpoint/2010/main" val="16628391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6E0A0E1-6E4B-E9E4-13FA-DA9AEA6BF824}"/>
              </a:ext>
            </a:extLst>
          </p:cNvPr>
          <p:cNvSpPr>
            <a:spLocks noGrp="1"/>
          </p:cNvSpPr>
          <p:nvPr>
            <p:ph idx="1"/>
          </p:nvPr>
        </p:nvSpPr>
        <p:spPr>
          <a:xfrm>
            <a:off x="159320" y="252695"/>
            <a:ext cx="7803579" cy="6605305"/>
          </a:xfrm>
        </p:spPr>
        <p:txBody>
          <a:bodyPr>
            <a:normAutofit fontScale="85000" lnSpcReduction="20000"/>
          </a:bodyPr>
          <a:lstStyle/>
          <a:p>
            <a:pPr marL="0" lvl="0" indent="0" eaLnBrk="0" fontAlgn="base" hangingPunct="0">
              <a:lnSpc>
                <a:spcPct val="100000"/>
              </a:lnSpc>
              <a:spcBef>
                <a:spcPct val="0"/>
              </a:spcBef>
              <a:spcAft>
                <a:spcPct val="0"/>
              </a:spcAft>
              <a:buFontTx/>
              <a:buChar char="•"/>
            </a:pPr>
            <a:r>
              <a:rPr lang="en-US" altLang="en-US" dirty="0"/>
              <a:t>When the receiver’s buffer becomes full, it advertises a window size of 0, so the sender must stop sending data.</a:t>
            </a:r>
          </a:p>
          <a:p>
            <a:pPr marL="0" lvl="0" indent="0" eaLnBrk="0" fontAlgn="base" hangingPunct="0">
              <a:lnSpc>
                <a:spcPct val="100000"/>
              </a:lnSpc>
              <a:spcBef>
                <a:spcPct val="0"/>
              </a:spcBef>
              <a:spcAft>
                <a:spcPct val="0"/>
              </a:spcAft>
              <a:buFontTx/>
              <a:buChar char="•"/>
            </a:pPr>
            <a:r>
              <a:rPr lang="en-US" altLang="en-US" dirty="0"/>
              <a:t>The receiver’s application reads only 1 byte, so the receiver now has just 1 byte of free space and advertises a 1-byte window.</a:t>
            </a:r>
          </a:p>
          <a:p>
            <a:pPr marL="0" lvl="0" indent="0" eaLnBrk="0" fontAlgn="base" hangingPunct="0">
              <a:lnSpc>
                <a:spcPct val="100000"/>
              </a:lnSpc>
              <a:spcBef>
                <a:spcPct val="0"/>
              </a:spcBef>
              <a:spcAft>
                <a:spcPct val="0"/>
              </a:spcAft>
              <a:buFontTx/>
              <a:buChar char="•"/>
            </a:pPr>
            <a:r>
              <a:rPr lang="en-US" altLang="en-US" dirty="0"/>
              <a:t>The sender sends a packet carrying only 1 byte of data with full TCP/IP headers, which is highly inefficient.</a:t>
            </a:r>
          </a:p>
          <a:p>
            <a:pPr marL="0" lvl="0" indent="0" eaLnBrk="0" fontAlgn="base" hangingPunct="0">
              <a:lnSpc>
                <a:spcPct val="100000"/>
              </a:lnSpc>
              <a:spcBef>
                <a:spcPct val="0"/>
              </a:spcBef>
              <a:spcAft>
                <a:spcPct val="0"/>
              </a:spcAft>
              <a:buFontTx/>
              <a:buChar char="•"/>
            </a:pPr>
            <a:r>
              <a:rPr lang="en-US" altLang="en-US" dirty="0"/>
              <a:t>After receiving that 1 byte, the receiver’s buffer becomes full again, and the same cycle repeats, which is exactly what the figure shows.</a:t>
            </a:r>
          </a:p>
          <a:p>
            <a:pPr marL="0" lvl="0" indent="0" eaLnBrk="0" fontAlgn="base" hangingPunct="0">
              <a:lnSpc>
                <a:spcPct val="100000"/>
              </a:lnSpc>
              <a:spcBef>
                <a:spcPct val="0"/>
              </a:spcBef>
              <a:spcAft>
                <a:spcPct val="0"/>
              </a:spcAft>
              <a:buFontTx/>
              <a:buChar char="•"/>
            </a:pPr>
            <a:endParaRPr lang="en-US" altLang="en-US" dirty="0"/>
          </a:p>
          <a:p>
            <a:pPr marL="0" lvl="0" indent="0" eaLnBrk="0" fontAlgn="base" hangingPunct="0">
              <a:lnSpc>
                <a:spcPct val="100000"/>
              </a:lnSpc>
              <a:spcBef>
                <a:spcPct val="0"/>
              </a:spcBef>
              <a:spcAft>
                <a:spcPct val="0"/>
              </a:spcAft>
              <a:buFontTx/>
              <a:buChar char="•"/>
            </a:pPr>
            <a:r>
              <a:rPr lang="en-US" altLang="en-US" dirty="0"/>
              <a:t>Interactive applications may send many tiny packets, causing bandwidth wastage.</a:t>
            </a:r>
          </a:p>
          <a:p>
            <a:pPr marL="0" lvl="0" indent="0" eaLnBrk="0" fontAlgn="base" hangingPunct="0">
              <a:lnSpc>
                <a:spcPct val="100000"/>
              </a:lnSpc>
              <a:spcBef>
                <a:spcPct val="0"/>
              </a:spcBef>
              <a:spcAft>
                <a:spcPct val="0"/>
              </a:spcAft>
              <a:buFontTx/>
              <a:buChar char="•"/>
            </a:pPr>
            <a:r>
              <a:rPr lang="en-US" altLang="en-US" dirty="0"/>
              <a:t>TCP may delay ACKs for about 500 </a:t>
            </a:r>
            <a:r>
              <a:rPr lang="en-US" altLang="en-US" dirty="0" err="1"/>
              <a:t>ms</a:t>
            </a:r>
            <a:r>
              <a:rPr lang="en-US" altLang="en-US" dirty="0"/>
              <a:t> to combine ACK/window updates with outgoing data.</a:t>
            </a:r>
          </a:p>
          <a:p>
            <a:pPr marL="0" lvl="0" indent="0" eaLnBrk="0" fontAlgn="base" hangingPunct="0">
              <a:lnSpc>
                <a:spcPct val="100000"/>
              </a:lnSpc>
              <a:spcBef>
                <a:spcPct val="0"/>
              </a:spcBef>
              <a:spcAft>
                <a:spcPct val="0"/>
              </a:spcAft>
              <a:buFontTx/>
              <a:buChar char="•"/>
            </a:pPr>
            <a:r>
              <a:rPr lang="en-US" altLang="en-US" dirty="0"/>
              <a:t>Nagle’s algorithm sends one byte immediately and buffers the rest until the previous data is acknowledged to avoid tiny packets.</a:t>
            </a:r>
          </a:p>
          <a:p>
            <a:pPr marL="0" lvl="0" indent="0" eaLnBrk="0" fontAlgn="base" hangingPunct="0">
              <a:lnSpc>
                <a:spcPct val="100000"/>
              </a:lnSpc>
              <a:spcBef>
                <a:spcPct val="0"/>
              </a:spcBef>
              <a:spcAft>
                <a:spcPct val="0"/>
              </a:spcAft>
              <a:buFontTx/>
              <a:buChar char="•"/>
            </a:pPr>
            <a:r>
              <a:rPr lang="en-US" altLang="en-US" dirty="0"/>
              <a:t>Silly Window Syndrome is prevented by making the receiver advertise a larger window (MSS or half buffer) instead of 1 byte, improving efficiency.</a:t>
            </a:r>
          </a:p>
          <a:p>
            <a:pPr marL="0" lvl="0" indent="0" eaLnBrk="0" fontAlgn="base" hangingPunct="0">
              <a:lnSpc>
                <a:spcPct val="100000"/>
              </a:lnSpc>
              <a:spcBef>
                <a:spcPct val="0"/>
              </a:spcBef>
              <a:spcAft>
                <a:spcPct val="0"/>
              </a:spcAft>
              <a:buFontTx/>
              <a:buChar char="•"/>
            </a:pPr>
            <a:endParaRPr lang="en-US" altLang="en-US" dirty="0"/>
          </a:p>
          <a:p>
            <a:pPr marL="0" lvl="0" indent="0" eaLnBrk="0" fontAlgn="base" hangingPunct="0">
              <a:lnSpc>
                <a:spcPct val="100000"/>
              </a:lnSpc>
              <a:spcBef>
                <a:spcPct val="0"/>
              </a:spcBef>
              <a:spcAft>
                <a:spcPct val="0"/>
              </a:spcAft>
              <a:buFontTx/>
              <a:buChar char="•"/>
            </a:pPr>
            <a:endParaRPr lang="en-US" altLang="en-US" dirty="0"/>
          </a:p>
          <a:p>
            <a:endParaRPr lang="en-IN" dirty="0"/>
          </a:p>
        </p:txBody>
      </p:sp>
      <p:pic>
        <p:nvPicPr>
          <p:cNvPr id="7" name="Google Shape;626;g2bd1299f24d_0_33">
            <a:extLst>
              <a:ext uri="{FF2B5EF4-FFF2-40B4-BE49-F238E27FC236}">
                <a16:creationId xmlns:a16="http://schemas.microsoft.com/office/drawing/2014/main" id="{E75C35A5-5260-39CD-BE95-E39330B858F3}"/>
              </a:ext>
            </a:extLst>
          </p:cNvPr>
          <p:cNvPicPr preferRelativeResize="0"/>
          <p:nvPr/>
        </p:nvPicPr>
        <p:blipFill rotWithShape="1">
          <a:blip r:embed="rId2">
            <a:alphaModFix/>
          </a:blip>
          <a:srcRect/>
          <a:stretch/>
        </p:blipFill>
        <p:spPr>
          <a:xfrm>
            <a:off x="7962900" y="167951"/>
            <a:ext cx="4145124" cy="6352608"/>
          </a:xfrm>
          <a:prstGeom prst="rect">
            <a:avLst/>
          </a:prstGeom>
          <a:noFill/>
          <a:ln>
            <a:noFill/>
          </a:ln>
        </p:spPr>
      </p:pic>
    </p:spTree>
    <p:extLst>
      <p:ext uri="{BB962C8B-B14F-4D97-AF65-F5344CB8AC3E}">
        <p14:creationId xmlns:p14="http://schemas.microsoft.com/office/powerpoint/2010/main" val="17640946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9920" y="533618"/>
            <a:ext cx="8256472" cy="707353"/>
          </a:xfrm>
        </p:spPr>
        <p:txBody>
          <a:bodyPr>
            <a:normAutofit/>
          </a:bodyPr>
          <a:lstStyle/>
          <a:p>
            <a:r>
              <a:rPr lang="en-IN" b="1" dirty="0"/>
              <a:t>TCP CONGESTION CONTROL</a:t>
            </a:r>
            <a:endParaRPr lang="en-IN" dirty="0"/>
          </a:p>
        </p:txBody>
      </p:sp>
      <p:sp>
        <p:nvSpPr>
          <p:cNvPr id="5" name="Rectangle 2">
            <a:extLst>
              <a:ext uri="{FF2B5EF4-FFF2-40B4-BE49-F238E27FC236}">
                <a16:creationId xmlns:a16="http://schemas.microsoft.com/office/drawing/2014/main" id="{AC9301F6-FEC2-98C4-94F2-20F36464E1A3}"/>
              </a:ext>
            </a:extLst>
          </p:cNvPr>
          <p:cNvSpPr>
            <a:spLocks noGrp="1" noChangeArrowheads="1"/>
          </p:cNvSpPr>
          <p:nvPr>
            <p:ph idx="1"/>
          </p:nvPr>
        </p:nvSpPr>
        <p:spPr bwMode="auto">
          <a:xfrm>
            <a:off x="419877" y="1646483"/>
            <a:ext cx="1103947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Congestion occurs in a network when the amount of data sent is more than what the network can handle, causing packets to be delayed or lost.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TCP deals with congestion mainly by slowing down the data transmission rate, because reducing speed is the only way to avoid overwhelming the routers.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TCP follows the idea similar to “conservation of packets,” meaning the </a:t>
            </a:r>
            <a:r>
              <a:rPr lang="en-US" altLang="en-US" sz="2400" dirty="0">
                <a:solidFill>
                  <a:schemeClr val="tx1">
                    <a:lumMod val="20000"/>
                    <a:lumOff val="80000"/>
                  </a:schemeClr>
                </a:solidFill>
              </a:rPr>
              <a:t>sender should inject a new packet into the network only after an old packet has successfully left, helping avoid overload.</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t>Timeouts are used as a signal of congestion. Since modern links rarely lose packets due to noise, TCP assumes most timeouts indicate congestion in the network.</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solidFill>
                  <a:schemeClr val="tx1">
                    <a:lumMod val="20000"/>
                    <a:lumOff val="80000"/>
                  </a:schemeClr>
                </a:solidFill>
              </a:rPr>
              <a:t>Each TCP sender maintains two limits: one from the receiver (receiver window) and one based on network conditions (congestion window). </a:t>
            </a:r>
            <a:r>
              <a:rPr lang="en-US" altLang="en-US" sz="2400" dirty="0"/>
              <a:t>The actual amount sent is the minimum of these two windows</a:t>
            </a:r>
          </a:p>
        </p:txBody>
      </p:sp>
    </p:spTree>
    <p:extLst>
      <p:ext uri="{BB962C8B-B14F-4D97-AF65-F5344CB8AC3E}">
        <p14:creationId xmlns:p14="http://schemas.microsoft.com/office/powerpoint/2010/main" val="16921637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A3DDD-8EFF-D5C2-0DCA-F3A995CBB2F9}"/>
              </a:ext>
            </a:extLst>
          </p:cNvPr>
          <p:cNvSpPr>
            <a:spLocks noGrp="1"/>
          </p:cNvSpPr>
          <p:nvPr>
            <p:ph type="title"/>
          </p:nvPr>
        </p:nvSpPr>
        <p:spPr>
          <a:xfrm>
            <a:off x="838200" y="365125"/>
            <a:ext cx="10515600" cy="642581"/>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7B08128F-AE30-3B0D-7D5E-CA4E2A018C0D}"/>
              </a:ext>
            </a:extLst>
          </p:cNvPr>
          <p:cNvSpPr>
            <a:spLocks noGrp="1"/>
          </p:cNvSpPr>
          <p:nvPr>
            <p:ph idx="1"/>
          </p:nvPr>
        </p:nvSpPr>
        <p:spPr>
          <a:xfrm>
            <a:off x="475861" y="1156996"/>
            <a:ext cx="11243387" cy="5589037"/>
          </a:xfrm>
        </p:spPr>
        <p:txBody>
          <a:bodyPr>
            <a:normAutofit/>
          </a:bodyPr>
          <a:lstStyle/>
          <a:p>
            <a:pPr marL="0" lvl="0" indent="0" eaLnBrk="0" fontAlgn="base" hangingPunct="0">
              <a:lnSpc>
                <a:spcPct val="100000"/>
              </a:lnSpc>
              <a:spcBef>
                <a:spcPct val="0"/>
              </a:spcBef>
              <a:spcAft>
                <a:spcPct val="0"/>
              </a:spcAft>
              <a:buNone/>
            </a:pPr>
            <a:r>
              <a:rPr lang="en-US" sz="2400" dirty="0">
                <a:sym typeface="Times New Roman"/>
              </a:rPr>
              <a:t>•</a:t>
            </a:r>
            <a:r>
              <a:rPr lang="en-US" altLang="en-US" sz="2400" dirty="0"/>
              <a:t>A connection begins with the congestion window set to one MSS (maximum segment size). If ACKs arrive successfully, the congestion window grows exponentially by adding one MSS for each ACK—this is the slow start phase.</a:t>
            </a:r>
          </a:p>
          <a:p>
            <a:pPr marL="0" lvl="0" indent="0" eaLnBrk="0" fontAlgn="base" hangingPunct="0">
              <a:lnSpc>
                <a:spcPct val="100000"/>
              </a:lnSpc>
              <a:spcBef>
                <a:spcPct val="0"/>
              </a:spcBef>
              <a:spcAft>
                <a:spcPct val="0"/>
              </a:spcAft>
              <a:buFontTx/>
              <a:buChar char="•"/>
            </a:pPr>
            <a:r>
              <a:rPr lang="en-US" altLang="en-US" sz="2400" dirty="0"/>
              <a:t>The sender keeps doubling its congestion window as long as packets are acknowledged, until either a timeout happens or it reaches the receiver’s allowed window.</a:t>
            </a:r>
          </a:p>
          <a:p>
            <a:pPr marL="0" lvl="0" indent="0" eaLnBrk="0" fontAlgn="base" hangingPunct="0">
              <a:lnSpc>
                <a:spcPct val="100000"/>
              </a:lnSpc>
              <a:spcBef>
                <a:spcPct val="0"/>
              </a:spcBef>
              <a:spcAft>
                <a:spcPct val="0"/>
              </a:spcAft>
              <a:buFontTx/>
              <a:buChar char="•"/>
            </a:pPr>
            <a:r>
              <a:rPr lang="en-US" altLang="en-US" sz="2400" dirty="0"/>
              <a:t>When a timeout occurs, TCP assumes the network is congested, cuts the congestion window to one MSS, and reduces a threshold value to half of the previous congestion window.</a:t>
            </a:r>
          </a:p>
          <a:p>
            <a:pPr marL="0" lvl="0" indent="0" eaLnBrk="0" fontAlgn="base" hangingPunct="0">
              <a:lnSpc>
                <a:spcPct val="100000"/>
              </a:lnSpc>
              <a:spcBef>
                <a:spcPct val="0"/>
              </a:spcBef>
              <a:spcAft>
                <a:spcPct val="0"/>
              </a:spcAft>
              <a:buFontTx/>
              <a:buChar char="•"/>
            </a:pPr>
            <a:r>
              <a:rPr lang="en-US" altLang="en-US" sz="2400" dirty="0"/>
              <a:t>After a timeout, TCP again increases the congestion window using slow start until it reaches the threshold; beyond the threshold, it increases the window linearly, one MSS per round, allowing smooth growth without overloading the network again.</a:t>
            </a:r>
          </a:p>
          <a:p>
            <a:pPr marL="0" lvl="0" indent="0" eaLnBrk="0" fontAlgn="base" hangingPunct="0">
              <a:lnSpc>
                <a:spcPct val="100000"/>
              </a:lnSpc>
              <a:spcBef>
                <a:spcPct val="0"/>
              </a:spcBef>
              <a:spcAft>
                <a:spcPct val="0"/>
              </a:spcAft>
              <a:buNone/>
            </a:pPr>
            <a:endParaRPr lang="en-IN" sz="2400" dirty="0"/>
          </a:p>
        </p:txBody>
      </p:sp>
    </p:spTree>
    <p:extLst>
      <p:ext uri="{BB962C8B-B14F-4D97-AF65-F5344CB8AC3E}">
        <p14:creationId xmlns:p14="http://schemas.microsoft.com/office/powerpoint/2010/main" val="9467050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293096" y="138934"/>
            <a:ext cx="8420072" cy="4966052"/>
          </a:xfrm>
          <a:prstGeom prst="rect">
            <a:avLst/>
          </a:prstGeom>
        </p:spPr>
      </p:pic>
      <p:sp>
        <p:nvSpPr>
          <p:cNvPr id="3" name="Content Placeholder 2">
            <a:extLst>
              <a:ext uri="{FF2B5EF4-FFF2-40B4-BE49-F238E27FC236}">
                <a16:creationId xmlns:a16="http://schemas.microsoft.com/office/drawing/2014/main" id="{1022E67E-8FF9-6E14-52FF-9451B431B64C}"/>
              </a:ext>
            </a:extLst>
          </p:cNvPr>
          <p:cNvSpPr txBox="1">
            <a:spLocks/>
          </p:cNvSpPr>
          <p:nvPr/>
        </p:nvSpPr>
        <p:spPr>
          <a:xfrm>
            <a:off x="270588" y="5483600"/>
            <a:ext cx="11831216" cy="123546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fig (a): We see a thick pipe leading to a small- capacity receiver. As long as the sender does not send more water than the bucket can contain, no water will be lost. </a:t>
            </a:r>
          </a:p>
          <a:p>
            <a:r>
              <a:rPr lang="en-US" dirty="0"/>
              <a:t>In fig (b): The limiting factor is not the bucket capacity, but the internal carrying capacity of the n/w. if too much water comes in too fast, it will backup and some will be lost. </a:t>
            </a:r>
            <a:endParaRPr lang="en-IN" dirty="0"/>
          </a:p>
        </p:txBody>
      </p:sp>
    </p:spTree>
    <p:extLst>
      <p:ext uri="{BB962C8B-B14F-4D97-AF65-F5344CB8AC3E}">
        <p14:creationId xmlns:p14="http://schemas.microsoft.com/office/powerpoint/2010/main" val="1384396350"/>
      </p:ext>
    </p:extLst>
  </p:cSld>
  <p:clrMapOvr>
    <a:masterClrMapping/>
  </p:clrMapOvr>
</p:sld>
</file>

<file path=ppt/theme/theme1.xml><?xml version="1.0" encoding="utf-8"?>
<a:theme xmlns:a="http://schemas.openxmlformats.org/drawingml/2006/main" name="yellow1">
  <a:themeElements>
    <a:clrScheme name="Custom 10">
      <a:dk1>
        <a:srgbClr val="FFC000"/>
      </a:dk1>
      <a:lt1>
        <a:srgbClr val="000000"/>
      </a:lt1>
      <a:dk2>
        <a:srgbClr val="000000"/>
      </a:dk2>
      <a:lt2>
        <a:srgbClr val="FF0000"/>
      </a:lt2>
      <a:accent1>
        <a:srgbClr val="FFC000"/>
      </a:accent1>
      <a:accent2>
        <a:srgbClr val="FFC000"/>
      </a:accent2>
      <a:accent3>
        <a:srgbClr val="FFC000"/>
      </a:accent3>
      <a:accent4>
        <a:srgbClr val="FFC000"/>
      </a:accent4>
      <a:accent5>
        <a:srgbClr val="FFC000"/>
      </a:accent5>
      <a:accent6>
        <a:srgbClr val="FFC000"/>
      </a:accent6>
      <a:hlink>
        <a:srgbClr val="FFC000"/>
      </a:hlink>
      <a:folHlink>
        <a:srgbClr val="FFC000"/>
      </a:folHlink>
    </a:clrScheme>
    <a:fontScheme name="Custom 1">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yellow1" id="{32DFD3F3-502A-44FD-8EE1-1667FF207D98}" vid="{76D31E06-B53A-4D6E-8DAA-321D3E82B682}"/>
    </a:ext>
  </a:extLst>
</a:theme>
</file>

<file path=docProps/app.xml><?xml version="1.0" encoding="utf-8"?>
<Properties xmlns="http://schemas.openxmlformats.org/officeDocument/2006/extended-properties" xmlns:vt="http://schemas.openxmlformats.org/officeDocument/2006/docPropsVTypes">
  <Template>yellow1</Template>
  <TotalTime>3885</TotalTime>
  <Words>6552</Words>
  <Application>Microsoft Office PowerPoint</Application>
  <PresentationFormat>Widescreen</PresentationFormat>
  <Paragraphs>347</Paragraphs>
  <Slides>65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Cambria</vt:lpstr>
      <vt:lpstr>Times New Roman</vt:lpstr>
      <vt:lpstr>yellow1</vt:lpstr>
      <vt:lpstr>Module 4 The Transport Layer</vt:lpstr>
      <vt:lpstr>PowerPoint Presentation</vt:lpstr>
      <vt:lpstr>Transport Service-Services Provided to the Upper Layers </vt:lpstr>
      <vt:lpstr>Transport Service-Services Provided to the Upper Layers </vt:lpstr>
      <vt:lpstr>PowerPoint Presentation</vt:lpstr>
      <vt:lpstr>Transport Service Primitives</vt:lpstr>
      <vt:lpstr>PowerPoint Presentation</vt:lpstr>
      <vt:lpstr>PowerPoint Presentation</vt:lpstr>
      <vt:lpstr>Berkeley Sockets</vt:lpstr>
      <vt:lpstr>Berkeley Sockets</vt:lpstr>
      <vt:lpstr>Server side</vt:lpstr>
      <vt:lpstr>PowerPoint Presentation</vt:lpstr>
      <vt:lpstr>Client side</vt:lpstr>
      <vt:lpstr>An example for socket programming(lab program)</vt:lpstr>
      <vt:lpstr>PowerPoint Presentation</vt:lpstr>
      <vt:lpstr>Elements of Transport Protocols</vt:lpstr>
      <vt:lpstr>(a) Environment of the data link layer.  (b) Environment of the transport layer.</vt:lpstr>
      <vt:lpstr>PowerPoint Presentation</vt:lpstr>
      <vt:lpstr>Elements of Transport Protocols</vt:lpstr>
      <vt:lpstr>1.Connection Establishment</vt:lpstr>
      <vt:lpstr>PowerPoint Presentation</vt:lpstr>
      <vt:lpstr>PowerPoint Presentation</vt:lpstr>
      <vt:lpstr>2.Connection Release</vt:lpstr>
      <vt:lpstr>PowerPoint Presentation</vt:lpstr>
      <vt:lpstr>PowerPoint Presentation</vt:lpstr>
      <vt:lpstr>3.Addressing</vt:lpstr>
      <vt:lpstr>PowerPoint Presentation</vt:lpstr>
      <vt:lpstr>4.Flow Control and Buffering</vt:lpstr>
      <vt:lpstr>Flow Control Concept</vt:lpstr>
      <vt:lpstr>Buffering in the Transport Layer</vt:lpstr>
      <vt:lpstr>PowerPoint Presentation</vt:lpstr>
      <vt:lpstr>PowerPoint Presentation</vt:lpstr>
      <vt:lpstr>5.Multiplexing</vt:lpstr>
      <vt:lpstr>6.Crash Recovery</vt:lpstr>
      <vt:lpstr>The Internet Transport Protocols </vt:lpstr>
      <vt:lpstr> UDP </vt:lpstr>
      <vt:lpstr>PowerPoint Presentation</vt:lpstr>
      <vt:lpstr>REMOTE PROCEDURE CALL </vt:lpstr>
      <vt:lpstr>PowerPoint Presentation</vt:lpstr>
      <vt:lpstr>PowerPoint Presentation</vt:lpstr>
      <vt:lpstr>PowerPoint Presentation</vt:lpstr>
      <vt:lpstr>UDP Applications </vt:lpstr>
      <vt:lpstr>TCP </vt:lpstr>
      <vt:lpstr>PowerPoint Presentation</vt:lpstr>
      <vt:lpstr>The TCP Service Model </vt:lpstr>
      <vt:lpstr>PowerPoint Presentation</vt:lpstr>
      <vt:lpstr>PowerPoint Presentation</vt:lpstr>
      <vt:lpstr>The TCP Protocol </vt:lpstr>
      <vt:lpstr>PowerPoint Presentation</vt:lpstr>
      <vt:lpstr>The TCP Segment Header </vt:lpstr>
      <vt:lpstr>PowerPoint Presentation</vt:lpstr>
      <vt:lpstr>PowerPoint Presentation</vt:lpstr>
      <vt:lpstr>TCP Connection Establishment </vt:lpstr>
      <vt:lpstr>a) TCP Connection establishment in the normal case b) Call Collision </vt:lpstr>
      <vt:lpstr>TCP Connection Release </vt:lpstr>
      <vt:lpstr>Sliding Window Protocol</vt:lpstr>
      <vt:lpstr>PowerPoint Presentation</vt:lpstr>
      <vt:lpstr>PowerPoint Presentation</vt:lpstr>
      <vt:lpstr>PowerPoint Presentation</vt:lpstr>
      <vt:lpstr>Advantages and Disadvantages of Sliding Window Protocol</vt:lpstr>
      <vt:lpstr>Transmission policy (Window Management)</vt:lpstr>
      <vt:lpstr>PowerPoint Presentation</vt:lpstr>
      <vt:lpstr>TCP CONGESTION CONTROL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4-The Transport Layer</dc:title>
  <dc:creator>User</dc:creator>
  <cp:lastModifiedBy>vanisha santhmayor</cp:lastModifiedBy>
  <cp:revision>47</cp:revision>
  <dcterms:created xsi:type="dcterms:W3CDTF">2024-02-14T05:20:28Z</dcterms:created>
  <dcterms:modified xsi:type="dcterms:W3CDTF">2025-11-20T08:16:12Z</dcterms:modified>
</cp:coreProperties>
</file>