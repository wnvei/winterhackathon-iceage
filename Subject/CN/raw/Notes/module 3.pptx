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501" r:id="rId3"/>
    <p:sldId id="257" r:id="rId4"/>
    <p:sldId id="259" r:id="rId5"/>
    <p:sldId id="499" r:id="rId6"/>
    <p:sldId id="260" r:id="rId7"/>
    <p:sldId id="500" r:id="rId8"/>
    <p:sldId id="496" r:id="rId9"/>
    <p:sldId id="261" r:id="rId10"/>
    <p:sldId id="497" r:id="rId11"/>
    <p:sldId id="262" r:id="rId12"/>
    <p:sldId id="498" r:id="rId13"/>
    <p:sldId id="263" r:id="rId14"/>
    <p:sldId id="264" r:id="rId15"/>
    <p:sldId id="265" r:id="rId16"/>
    <p:sldId id="266" r:id="rId17"/>
    <p:sldId id="267" r:id="rId18"/>
    <p:sldId id="279" r:id="rId19"/>
    <p:sldId id="280" r:id="rId20"/>
    <p:sldId id="289" r:id="rId21"/>
    <p:sldId id="288" r:id="rId22"/>
    <p:sldId id="290" r:id="rId23"/>
    <p:sldId id="502" r:id="rId24"/>
    <p:sldId id="281" r:id="rId25"/>
    <p:sldId id="284" r:id="rId26"/>
    <p:sldId id="285" r:id="rId27"/>
    <p:sldId id="286" r:id="rId28"/>
    <p:sldId id="287" r:id="rId29"/>
    <p:sldId id="294" r:id="rId30"/>
    <p:sldId id="295" r:id="rId31"/>
    <p:sldId id="296" r:id="rId32"/>
    <p:sldId id="513" r:id="rId33"/>
    <p:sldId id="297" r:id="rId34"/>
    <p:sldId id="514" r:id="rId35"/>
    <p:sldId id="298" r:id="rId36"/>
    <p:sldId id="528" r:id="rId37"/>
    <p:sldId id="529" r:id="rId38"/>
    <p:sldId id="530" r:id="rId39"/>
    <p:sldId id="531" r:id="rId40"/>
    <p:sldId id="532" r:id="rId41"/>
    <p:sldId id="533" r:id="rId42"/>
    <p:sldId id="299" r:id="rId43"/>
    <p:sldId id="300" r:id="rId44"/>
    <p:sldId id="301" r:id="rId45"/>
    <p:sldId id="302" r:id="rId46"/>
    <p:sldId id="516" r:id="rId47"/>
    <p:sldId id="482" r:id="rId48"/>
    <p:sldId id="488" r:id="rId49"/>
    <p:sldId id="483" r:id="rId50"/>
    <p:sldId id="484" r:id="rId51"/>
    <p:sldId id="515" r:id="rId52"/>
    <p:sldId id="517" r:id="rId53"/>
    <p:sldId id="518" r:id="rId54"/>
    <p:sldId id="519" r:id="rId55"/>
    <p:sldId id="446" r:id="rId56"/>
    <p:sldId id="448" r:id="rId57"/>
    <p:sldId id="305" r:id="rId58"/>
    <p:sldId id="449" r:id="rId59"/>
    <p:sldId id="308" r:id="rId60"/>
    <p:sldId id="521" r:id="rId61"/>
    <p:sldId id="503" r:id="rId62"/>
    <p:sldId id="506" r:id="rId63"/>
    <p:sldId id="504" r:id="rId64"/>
    <p:sldId id="522" r:id="rId65"/>
    <p:sldId id="456" r:id="rId66"/>
    <p:sldId id="457" r:id="rId67"/>
    <p:sldId id="316" r:id="rId68"/>
    <p:sldId id="317" r:id="rId69"/>
    <p:sldId id="460" r:id="rId70"/>
    <p:sldId id="463" r:id="rId71"/>
    <p:sldId id="464" r:id="rId72"/>
    <p:sldId id="461" r:id="rId73"/>
    <p:sldId id="462" r:id="rId74"/>
    <p:sldId id="465" r:id="rId75"/>
    <p:sldId id="466" r:id="rId76"/>
    <p:sldId id="523" r:id="rId77"/>
    <p:sldId id="524" r:id="rId78"/>
    <p:sldId id="472" r:id="rId79"/>
    <p:sldId id="473" r:id="rId80"/>
    <p:sldId id="474" r:id="rId81"/>
    <p:sldId id="525" r:id="rId82"/>
    <p:sldId id="471" r:id="rId83"/>
    <p:sldId id="475" r:id="rId84"/>
    <p:sldId id="476" r:id="rId85"/>
    <p:sldId id="527" r:id="rId86"/>
    <p:sldId id="477" r:id="rId87"/>
    <p:sldId id="478" r:id="rId88"/>
    <p:sldId id="479" r:id="rId89"/>
    <p:sldId id="480" r:id="rId90"/>
    <p:sldId id="481" r:id="rId91"/>
    <p:sldId id="489" r:id="rId92"/>
    <p:sldId id="490" r:id="rId93"/>
    <p:sldId id="507" r:id="rId94"/>
    <p:sldId id="508" r:id="rId95"/>
    <p:sldId id="509" r:id="rId96"/>
    <p:sldId id="510" r:id="rId97"/>
    <p:sldId id="511"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36" autoAdjust="0"/>
    <p:restoredTop sz="94660"/>
  </p:normalViewPr>
  <p:slideViewPr>
    <p:cSldViewPr snapToGrid="0">
      <p:cViewPr varScale="1">
        <p:scale>
          <a:sx n="82" d="100"/>
          <a:sy n="82" d="100"/>
        </p:scale>
        <p:origin x="941"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4CFF455-57F4-47D2-86D8-F55A2ED53A65}"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2763991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4CFF455-57F4-47D2-86D8-F55A2ED53A65}"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10390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CFF455-57F4-47D2-86D8-F55A2ED53A65}"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957477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4CFF455-57F4-47D2-86D8-F55A2ED53A65}"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3531219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4CFF455-57F4-47D2-86D8-F55A2ED53A65}" type="datetimeFigureOut">
              <a:rPr lang="en-IN" smtClean="0"/>
              <a:t>07-11-2025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4287420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4CFF455-57F4-47D2-86D8-F55A2ED53A65}" type="datetimeFigureOut">
              <a:rPr lang="en-IN" smtClean="0"/>
              <a:t>07-11-2025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1445750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FF455-57F4-47D2-86D8-F55A2ED53A65}" type="datetimeFigureOut">
              <a:rPr lang="en-IN" smtClean="0"/>
              <a:t>07-11-2025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3221036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CFF455-57F4-47D2-86D8-F55A2ED53A65}"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1304392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CFF455-57F4-47D2-86D8-F55A2ED53A65}"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3946999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4CFF455-57F4-47D2-86D8-F55A2ED53A65}"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1316888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4CFF455-57F4-47D2-86D8-F55A2ED53A65}"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EEC4D4-1079-4430-962E-0710576781C4}" type="slidenum">
              <a:rPr lang="en-IN" smtClean="0"/>
              <a:t>‹#›</a:t>
            </a:fld>
            <a:endParaRPr lang="en-IN"/>
          </a:p>
        </p:txBody>
      </p:sp>
    </p:spTree>
    <p:extLst>
      <p:ext uri="{BB962C8B-B14F-4D97-AF65-F5344CB8AC3E}">
        <p14:creationId xmlns:p14="http://schemas.microsoft.com/office/powerpoint/2010/main" val="599857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FF455-57F4-47D2-86D8-F55A2ED53A65}" type="datetimeFigureOut">
              <a:rPr lang="en-IN" smtClean="0"/>
              <a:t>07-11-2025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EEC4D4-1079-4430-962E-0710576781C4}" type="slidenum">
              <a:rPr lang="en-IN" smtClean="0"/>
              <a:t>‹#›</a:t>
            </a:fld>
            <a:endParaRPr lang="en-IN"/>
          </a:p>
        </p:txBody>
      </p:sp>
    </p:spTree>
    <p:extLst>
      <p:ext uri="{BB962C8B-B14F-4D97-AF65-F5344CB8AC3E}">
        <p14:creationId xmlns:p14="http://schemas.microsoft.com/office/powerpoint/2010/main" val="26952002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Module 3-Network Layer</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130041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b="1" dirty="0"/>
              <a:t>Quality of Service: </a:t>
            </a:r>
            <a:r>
              <a:rPr lang="en-US" dirty="0"/>
              <a:t>Application Requirements, Traffic Shaping, Packet Scheduling, Admission Control. </a:t>
            </a:r>
          </a:p>
          <a:p>
            <a:r>
              <a:rPr lang="en-IN" b="1" dirty="0"/>
              <a:t>Internetworking: </a:t>
            </a:r>
            <a:r>
              <a:rPr lang="en-IN" dirty="0"/>
              <a:t>How networks differ, How Networks Can Be Connected, </a:t>
            </a:r>
            <a:r>
              <a:rPr lang="en-IN" dirty="0" err="1"/>
              <a:t>Tunneling</a:t>
            </a:r>
            <a:r>
              <a:rPr lang="en-IN" dirty="0"/>
              <a:t>, Internetwork Routing, Fragmentation</a:t>
            </a:r>
            <a:r>
              <a:rPr lang="en-IN" b="1" dirty="0"/>
              <a:t>; </a:t>
            </a:r>
            <a:r>
              <a:rPr lang="en-IN" dirty="0"/>
              <a:t>The Network Layer in the Internet: The IPv4 Protocol, IP Addresses, IPv6, Internet Control Protocols. 	</a:t>
            </a:r>
          </a:p>
          <a:p>
            <a:r>
              <a:rPr lang="en-IN" b="1" dirty="0"/>
              <a:t>Chapter 5: 5.4, 5.5, 5.6: 5.6.1-5.6.4, 5.6.6-5.6.8 </a:t>
            </a:r>
            <a:r>
              <a:rPr lang="en-IN" dirty="0"/>
              <a:t>	</a:t>
            </a:r>
          </a:p>
          <a:p>
            <a:endParaRPr lang="en-IN" dirty="0"/>
          </a:p>
        </p:txBody>
      </p:sp>
    </p:spTree>
    <p:extLst>
      <p:ext uri="{BB962C8B-B14F-4D97-AF65-F5344CB8AC3E}">
        <p14:creationId xmlns:p14="http://schemas.microsoft.com/office/powerpoint/2010/main" val="1008899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Quality of Service</a:t>
            </a:r>
            <a:endParaRPr lang="en-IN" dirty="0"/>
          </a:p>
        </p:txBody>
      </p:sp>
      <p:sp>
        <p:nvSpPr>
          <p:cNvPr id="3" name="Content Placeholder 2"/>
          <p:cNvSpPr>
            <a:spLocks noGrp="1"/>
          </p:cNvSpPr>
          <p:nvPr>
            <p:ph idx="1"/>
          </p:nvPr>
        </p:nvSpPr>
        <p:spPr/>
        <p:txBody>
          <a:bodyPr>
            <a:normAutofit/>
          </a:bodyPr>
          <a:lstStyle/>
          <a:p>
            <a:r>
              <a:rPr lang="en-IN" b="1" dirty="0"/>
              <a:t>Requirements:</a:t>
            </a:r>
          </a:p>
          <a:p>
            <a:r>
              <a:rPr lang="en-US" dirty="0"/>
              <a:t>A stream of packets from a source to a destination is called a </a:t>
            </a:r>
            <a:r>
              <a:rPr lang="en-US" b="1" dirty="0"/>
              <a:t>flow</a:t>
            </a:r>
            <a:r>
              <a:rPr lang="en-US" dirty="0"/>
              <a:t>.</a:t>
            </a:r>
          </a:p>
          <a:p>
            <a:r>
              <a:rPr lang="en-US" dirty="0"/>
              <a:t>In a connection-oriented network, all the packets belonging to a flow follow the same route; in a connectionless network, they may follow different routes. </a:t>
            </a:r>
          </a:p>
          <a:p>
            <a:r>
              <a:rPr lang="en-US" dirty="0"/>
              <a:t>The needs of each flow can be characterized by four primary parameters: reliability, delay, jitter, and bandwidth. Together these determine the </a:t>
            </a:r>
            <a:r>
              <a:rPr lang="en-US" b="1" dirty="0" err="1"/>
              <a:t>QoS</a:t>
            </a:r>
            <a:r>
              <a:rPr lang="en-US" b="1" dirty="0"/>
              <a:t> </a:t>
            </a:r>
            <a:r>
              <a:rPr lang="en-US" dirty="0"/>
              <a:t>(</a:t>
            </a:r>
            <a:r>
              <a:rPr lang="en-US" b="1" dirty="0"/>
              <a:t>Quality of Service</a:t>
            </a:r>
            <a:r>
              <a:rPr lang="en-US" dirty="0"/>
              <a:t>) the flow requires.</a:t>
            </a:r>
            <a:endParaRPr lang="en-IN" dirty="0"/>
          </a:p>
        </p:txBody>
      </p:sp>
    </p:spTree>
    <p:extLst>
      <p:ext uri="{BB962C8B-B14F-4D97-AF65-F5344CB8AC3E}">
        <p14:creationId xmlns:p14="http://schemas.microsoft.com/office/powerpoint/2010/main" val="267942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Techniques for Achieving Good Quality of Service</a:t>
            </a:r>
            <a:endParaRPr lang="en-IN" dirty="0"/>
          </a:p>
        </p:txBody>
      </p:sp>
      <p:sp>
        <p:nvSpPr>
          <p:cNvPr id="3" name="Content Placeholder 2"/>
          <p:cNvSpPr>
            <a:spLocks noGrp="1"/>
          </p:cNvSpPr>
          <p:nvPr>
            <p:ph idx="1"/>
          </p:nvPr>
        </p:nvSpPr>
        <p:spPr/>
        <p:txBody>
          <a:bodyPr>
            <a:normAutofit/>
          </a:bodyPr>
          <a:lstStyle/>
          <a:p>
            <a:r>
              <a:rPr lang="en-IN" sz="4000" b="1" i="1" dirty="0"/>
              <a:t>Overprovisioning</a:t>
            </a:r>
          </a:p>
          <a:p>
            <a:r>
              <a:rPr lang="en-US" dirty="0"/>
              <a:t>An easy solution is to provide </a:t>
            </a:r>
            <a:r>
              <a:rPr lang="en-US" u="sng" dirty="0"/>
              <a:t>so much router capacity, buffer space, and bandwidth</a:t>
            </a:r>
            <a:r>
              <a:rPr lang="en-US" dirty="0"/>
              <a:t> that the packets just fly through easily. The trouble with this solution is that </a:t>
            </a:r>
            <a:r>
              <a:rPr lang="en-US" u="sng" dirty="0"/>
              <a:t>it is expensive. </a:t>
            </a:r>
          </a:p>
          <a:p>
            <a:r>
              <a:rPr lang="en-IN" sz="4000" b="1" i="1" dirty="0"/>
              <a:t>Buffering</a:t>
            </a:r>
          </a:p>
          <a:p>
            <a:r>
              <a:rPr lang="en-US" u="sng" dirty="0"/>
              <a:t>Flows can be buffered on the receiving side </a:t>
            </a:r>
            <a:r>
              <a:rPr lang="en-US" dirty="0"/>
              <a:t>before being delivered. Buffering them does not affect the reliability or bandwidth, and increases the delay, but it smooths out the jitter. </a:t>
            </a:r>
            <a:endParaRPr lang="en-IN" dirty="0"/>
          </a:p>
        </p:txBody>
      </p:sp>
    </p:spTree>
    <p:extLst>
      <p:ext uri="{BB962C8B-B14F-4D97-AF65-F5344CB8AC3E}">
        <p14:creationId xmlns:p14="http://schemas.microsoft.com/office/powerpoint/2010/main" val="3230264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264" y="3663137"/>
            <a:ext cx="11437665" cy="2777420"/>
          </a:xfrm>
        </p:spPr>
        <p:txBody>
          <a:bodyPr>
            <a:noAutofit/>
          </a:bodyPr>
          <a:lstStyle/>
          <a:p>
            <a:r>
              <a:rPr lang="en-US" sz="2400" dirty="0"/>
              <a:t>At </a:t>
            </a:r>
            <a:r>
              <a:rPr lang="en-US" sz="2400" i="1" dirty="0"/>
              <a:t>t </a:t>
            </a:r>
            <a:r>
              <a:rPr lang="en-US" sz="2400" dirty="0"/>
              <a:t>= 10 sec, playback begins. At this time, packets 1 through 6 have been buffered so that they can be removed from the buffer at uniform intervals for smooth play. Unfortunately, packet 8 has been delayed so much that it is not available when its play slot comes up, so playback must stop until it arrives, creating an annoying gap in the music or movie. </a:t>
            </a:r>
            <a:br>
              <a:rPr lang="en-US" sz="2400" dirty="0"/>
            </a:br>
            <a:r>
              <a:rPr lang="en-US" sz="2400" dirty="0"/>
              <a:t>This problem can be alleviated by delaying the starting time even more, although doing so also requires a larger buffer. Commercial Web sites that contain streaming audio or video all use players that buffer for about 10 seconds before starting to play.</a:t>
            </a:r>
            <a:endParaRPr lang="en-IN" sz="2400" dirty="0"/>
          </a:p>
        </p:txBody>
      </p:sp>
      <p:pic>
        <p:nvPicPr>
          <p:cNvPr id="4" name="Content Placeholder 3"/>
          <p:cNvPicPr>
            <a:picLocks noGrp="1" noChangeAspect="1"/>
          </p:cNvPicPr>
          <p:nvPr>
            <p:ph idx="1"/>
          </p:nvPr>
        </p:nvPicPr>
        <p:blipFill>
          <a:blip r:embed="rId2"/>
          <a:stretch>
            <a:fillRect/>
          </a:stretch>
        </p:blipFill>
        <p:spPr>
          <a:xfrm>
            <a:off x="1514062" y="193929"/>
            <a:ext cx="8875642" cy="3344401"/>
          </a:xfrm>
          <a:prstGeom prst="rect">
            <a:avLst/>
          </a:prstGeom>
        </p:spPr>
      </p:pic>
    </p:spTree>
    <p:extLst>
      <p:ext uri="{BB962C8B-B14F-4D97-AF65-F5344CB8AC3E}">
        <p14:creationId xmlns:p14="http://schemas.microsoft.com/office/powerpoint/2010/main" val="251788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8301"/>
          </a:xfrm>
        </p:spPr>
        <p:txBody>
          <a:bodyPr/>
          <a:lstStyle/>
          <a:p>
            <a:endParaRPr lang="en-IN" dirty="0"/>
          </a:p>
        </p:txBody>
      </p:sp>
      <p:sp>
        <p:nvSpPr>
          <p:cNvPr id="3" name="Content Placeholder 2"/>
          <p:cNvSpPr>
            <a:spLocks noGrp="1"/>
          </p:cNvSpPr>
          <p:nvPr>
            <p:ph idx="1"/>
          </p:nvPr>
        </p:nvSpPr>
        <p:spPr>
          <a:xfrm>
            <a:off x="838200" y="1073426"/>
            <a:ext cx="10515600" cy="5618922"/>
          </a:xfrm>
        </p:spPr>
        <p:txBody>
          <a:bodyPr>
            <a:normAutofit fontScale="92500" lnSpcReduction="10000"/>
          </a:bodyPr>
          <a:lstStyle/>
          <a:p>
            <a:r>
              <a:rPr lang="en-IN" sz="4300" b="1" i="1" dirty="0"/>
              <a:t>Traffic Shaping</a:t>
            </a:r>
          </a:p>
          <a:p>
            <a:r>
              <a:rPr lang="en-IN" dirty="0"/>
              <a:t>1. </a:t>
            </a:r>
            <a:r>
              <a:rPr lang="en-US" dirty="0"/>
              <a:t>Another method of congestion control is to “shape” the traffic before it enters the </a:t>
            </a:r>
            <a:r>
              <a:rPr lang="en-IN" dirty="0"/>
              <a:t>network. </a:t>
            </a:r>
            <a:r>
              <a:rPr lang="en-US" b="1" dirty="0"/>
              <a:t>traffic shaping</a:t>
            </a:r>
            <a:r>
              <a:rPr lang="en-US" dirty="0"/>
              <a:t>, which </a:t>
            </a:r>
            <a:r>
              <a:rPr lang="en-US" u="sng" dirty="0"/>
              <a:t>smooths out the traffic on the server side, rather than on </a:t>
            </a:r>
            <a:r>
              <a:rPr lang="en-IN" u="sng" dirty="0"/>
              <a:t>the client side.</a:t>
            </a:r>
            <a:endParaRPr lang="en-IN" dirty="0"/>
          </a:p>
          <a:p>
            <a:r>
              <a:rPr lang="en-IN" dirty="0"/>
              <a:t>2. </a:t>
            </a:r>
            <a:r>
              <a:rPr lang="en-US" dirty="0"/>
              <a:t>Traffic shaping is about </a:t>
            </a:r>
            <a:r>
              <a:rPr lang="en-US" u="sng" dirty="0"/>
              <a:t>regulating the average </a:t>
            </a:r>
            <a:r>
              <a:rPr lang="en-US" i="1" u="sng" dirty="0"/>
              <a:t>rate </a:t>
            </a:r>
            <a:r>
              <a:rPr lang="en-US" dirty="0"/>
              <a:t>(and </a:t>
            </a:r>
            <a:r>
              <a:rPr lang="en-US" dirty="0" err="1"/>
              <a:t>burstiness</a:t>
            </a:r>
            <a:r>
              <a:rPr lang="en-US" dirty="0"/>
              <a:t>) of data transmission. Used in ATM and Integrated Services networks. </a:t>
            </a:r>
          </a:p>
          <a:p>
            <a:r>
              <a:rPr lang="en-IN" dirty="0"/>
              <a:t>3. At connection set-</a:t>
            </a:r>
            <a:r>
              <a:rPr lang="en-US" dirty="0"/>
              <a:t>up time, the sender and carrier negotiate a traffic pattern (shape). </a:t>
            </a:r>
            <a:endParaRPr lang="en-US" b="1" dirty="0"/>
          </a:p>
          <a:p>
            <a:r>
              <a:rPr lang="en-US" dirty="0"/>
              <a:t>Monitoring a traffic flow is called </a:t>
            </a:r>
            <a:r>
              <a:rPr lang="en-US" b="1" dirty="0"/>
              <a:t>traffic policing</a:t>
            </a:r>
            <a:r>
              <a:rPr lang="en-US" dirty="0"/>
              <a:t>.</a:t>
            </a:r>
          </a:p>
          <a:p>
            <a:endParaRPr lang="en-US" dirty="0"/>
          </a:p>
          <a:p>
            <a:r>
              <a:rPr lang="en-US" dirty="0"/>
              <a:t>Two traffic shaping algorithms are: </a:t>
            </a:r>
          </a:p>
          <a:p>
            <a:r>
              <a:rPr lang="en-IN" dirty="0"/>
              <a:t>Leaky Bucket </a:t>
            </a:r>
          </a:p>
          <a:p>
            <a:r>
              <a:rPr lang="en-IN" dirty="0"/>
              <a:t>Token Bucket </a:t>
            </a:r>
          </a:p>
        </p:txBody>
      </p:sp>
    </p:spTree>
    <p:extLst>
      <p:ext uri="{BB962C8B-B14F-4D97-AF65-F5344CB8AC3E}">
        <p14:creationId xmlns:p14="http://schemas.microsoft.com/office/powerpoint/2010/main" val="1571701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The Leaky Bucket(LB) Algorithm</a:t>
            </a:r>
            <a:endParaRPr lang="en-IN" dirty="0"/>
          </a:p>
        </p:txBody>
      </p:sp>
      <p:sp>
        <p:nvSpPr>
          <p:cNvPr id="3" name="Content Placeholder 2"/>
          <p:cNvSpPr>
            <a:spLocks noGrp="1"/>
          </p:cNvSpPr>
          <p:nvPr>
            <p:ph idx="1"/>
          </p:nvPr>
        </p:nvSpPr>
        <p:spPr/>
        <p:txBody>
          <a:bodyPr/>
          <a:lstStyle/>
          <a:p>
            <a:r>
              <a:rPr lang="en-US" dirty="0"/>
              <a:t>Imagine a </a:t>
            </a:r>
            <a:r>
              <a:rPr lang="en-US" u="sng" dirty="0"/>
              <a:t>bucket with a small hole </a:t>
            </a:r>
            <a:r>
              <a:rPr lang="en-US" dirty="0"/>
              <a:t>in the bottom. </a:t>
            </a:r>
          </a:p>
          <a:p>
            <a:r>
              <a:rPr lang="en-US" dirty="0"/>
              <a:t>No matter at what rate water enters the bucket, the </a:t>
            </a:r>
            <a:r>
              <a:rPr lang="en-US" u="sng" dirty="0"/>
              <a:t>outflow is at a constant rate</a:t>
            </a:r>
            <a:r>
              <a:rPr lang="en-US" dirty="0"/>
              <a:t> when there is any water in the bucket, and zero when the bucket is empty. </a:t>
            </a:r>
          </a:p>
          <a:p>
            <a:r>
              <a:rPr lang="en-US" dirty="0"/>
              <a:t>Also, once the bucket is full, any </a:t>
            </a:r>
            <a:r>
              <a:rPr lang="en-US" u="sng" dirty="0"/>
              <a:t>additional water entering it spills </a:t>
            </a:r>
            <a:r>
              <a:rPr lang="en-US" dirty="0"/>
              <a:t>over the sides</a:t>
            </a:r>
            <a:r>
              <a:rPr lang="en-IN" dirty="0"/>
              <a:t>and is lost.</a:t>
            </a:r>
          </a:p>
        </p:txBody>
      </p:sp>
    </p:spTree>
    <p:extLst>
      <p:ext uri="{BB962C8B-B14F-4D97-AF65-F5344CB8AC3E}">
        <p14:creationId xmlns:p14="http://schemas.microsoft.com/office/powerpoint/2010/main" val="1158224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2284"/>
          </a:xfrm>
        </p:spPr>
        <p:txBody>
          <a:bodyPr>
            <a:normAutofit fontScale="90000"/>
          </a:bodyPr>
          <a:lstStyle/>
          <a:p>
            <a:endParaRPr lang="en-IN" dirty="0"/>
          </a:p>
        </p:txBody>
      </p:sp>
      <p:sp>
        <p:nvSpPr>
          <p:cNvPr id="3" name="Content Placeholder 2"/>
          <p:cNvSpPr>
            <a:spLocks noGrp="1"/>
          </p:cNvSpPr>
          <p:nvPr>
            <p:ph idx="1"/>
          </p:nvPr>
        </p:nvSpPr>
        <p:spPr>
          <a:xfrm>
            <a:off x="511628" y="1235738"/>
            <a:ext cx="11496869" cy="5407658"/>
          </a:xfrm>
        </p:spPr>
        <p:txBody>
          <a:bodyPr>
            <a:normAutofit/>
          </a:bodyPr>
          <a:lstStyle/>
          <a:p>
            <a:r>
              <a:rPr lang="en-US" altLang="en-US" dirty="0"/>
              <a:t>The </a:t>
            </a:r>
            <a:r>
              <a:rPr lang="en-US" altLang="en-US" b="1" dirty="0"/>
              <a:t>Leaky Bucket Algorithm</a:t>
            </a:r>
            <a:r>
              <a:rPr lang="en-US" altLang="en-US" dirty="0"/>
              <a:t> used to control rate in a network. It is implemented as a </a:t>
            </a:r>
            <a:r>
              <a:rPr lang="en-US" altLang="en-US" u="sng" dirty="0"/>
              <a:t>single-server queue with constant service time</a:t>
            </a:r>
            <a:r>
              <a:rPr lang="en-US" altLang="en-US" dirty="0"/>
              <a:t>. If the bucket (buffer) overflows then packets are discarded.</a:t>
            </a:r>
          </a:p>
          <a:p>
            <a:r>
              <a:rPr lang="en-US" altLang="en-US" dirty="0"/>
              <a:t>The leaky bucket enforces a constant output rate  (average rate) regardless of the </a:t>
            </a:r>
            <a:r>
              <a:rPr lang="en-US" altLang="en-US" dirty="0" err="1"/>
              <a:t>burstiness</a:t>
            </a:r>
            <a:r>
              <a:rPr lang="en-US" altLang="en-US" dirty="0"/>
              <a:t> of the input. Does nothing when input is idle.</a:t>
            </a:r>
          </a:p>
          <a:p>
            <a:r>
              <a:rPr lang="en-US" altLang="en-US" dirty="0"/>
              <a:t> The </a:t>
            </a:r>
            <a:r>
              <a:rPr lang="en-US" altLang="en-US" u="sng" dirty="0"/>
              <a:t>host injects one packet per clock tick </a:t>
            </a:r>
            <a:r>
              <a:rPr lang="en-US" altLang="en-US" dirty="0"/>
              <a:t>onto the network. This results in a </a:t>
            </a:r>
            <a:r>
              <a:rPr lang="en-US" altLang="en-US" u="sng" dirty="0"/>
              <a:t>uniform flow of packets</a:t>
            </a:r>
            <a:r>
              <a:rPr lang="en-US" altLang="en-US" dirty="0"/>
              <a:t>, smoothing out bursts and reducing congestion.</a:t>
            </a:r>
          </a:p>
          <a:p>
            <a:r>
              <a:rPr lang="en-US" altLang="en-US" dirty="0"/>
              <a:t>When packets are the same size , the one packet per tick is okay. For variable length packets though, it is better to allow </a:t>
            </a:r>
            <a:r>
              <a:rPr lang="en-US" altLang="en-US" u="sng" dirty="0"/>
              <a:t>a fixed number of bytes per tick</a:t>
            </a:r>
            <a:r>
              <a:rPr lang="en-US" altLang="en-US" dirty="0"/>
              <a:t>. E.g. 1024 bytes per tick will allow one 1024-byte packet or two 512-byte packets or four 256-byte packets on 1 tick. </a:t>
            </a:r>
          </a:p>
          <a:p>
            <a:endParaRPr lang="en-IN" dirty="0"/>
          </a:p>
        </p:txBody>
      </p:sp>
    </p:spTree>
    <p:extLst>
      <p:ext uri="{BB962C8B-B14F-4D97-AF65-F5344CB8AC3E}">
        <p14:creationId xmlns:p14="http://schemas.microsoft.com/office/powerpoint/2010/main" val="3276291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The Leaky Bucket(LB) Algorithm</a:t>
            </a:r>
            <a:endParaRPr lang="en-IN" dirty="0"/>
          </a:p>
        </p:txBody>
      </p:sp>
      <p:pic>
        <p:nvPicPr>
          <p:cNvPr id="4" name="Content Placeholder 3"/>
          <p:cNvPicPr>
            <a:picLocks noGrp="1" noChangeAspect="1"/>
          </p:cNvPicPr>
          <p:nvPr>
            <p:ph idx="1"/>
          </p:nvPr>
        </p:nvPicPr>
        <p:blipFill>
          <a:blip r:embed="rId2"/>
          <a:stretch>
            <a:fillRect/>
          </a:stretch>
        </p:blipFill>
        <p:spPr>
          <a:xfrm>
            <a:off x="2285999" y="1690688"/>
            <a:ext cx="6884125" cy="4484502"/>
          </a:xfrm>
          <a:prstGeom prst="rect">
            <a:avLst/>
          </a:prstGeom>
        </p:spPr>
      </p:pic>
    </p:spTree>
    <p:extLst>
      <p:ext uri="{BB962C8B-B14F-4D97-AF65-F5344CB8AC3E}">
        <p14:creationId xmlns:p14="http://schemas.microsoft.com/office/powerpoint/2010/main" val="2492556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The Token Bucket(TB) Algorithm</a:t>
            </a:r>
            <a:endParaRPr lang="en-IN" dirty="0"/>
          </a:p>
        </p:txBody>
      </p:sp>
      <p:sp>
        <p:nvSpPr>
          <p:cNvPr id="3" name="Content Placeholder 2"/>
          <p:cNvSpPr>
            <a:spLocks noGrp="1"/>
          </p:cNvSpPr>
          <p:nvPr>
            <p:ph idx="1"/>
          </p:nvPr>
        </p:nvSpPr>
        <p:spPr/>
        <p:txBody>
          <a:bodyPr/>
          <a:lstStyle/>
          <a:p>
            <a:pPr algn="just"/>
            <a:r>
              <a:rPr lang="en-US" altLang="en-US" dirty="0"/>
              <a:t>In contrast to the LB, the Token Bucket Algorithm, allows the </a:t>
            </a:r>
            <a:r>
              <a:rPr lang="en-US" altLang="en-US" u="sng" dirty="0"/>
              <a:t>output rate to vary, depending on the size of the burst</a:t>
            </a:r>
            <a:r>
              <a:rPr lang="en-US" altLang="en-US" dirty="0"/>
              <a:t>. </a:t>
            </a:r>
          </a:p>
          <a:p>
            <a:pPr algn="just"/>
            <a:r>
              <a:rPr lang="en-US" altLang="en-US" dirty="0"/>
              <a:t>In the TB algorithm, the bucket holds tokens.  </a:t>
            </a:r>
            <a:r>
              <a:rPr lang="en-US" altLang="en-US" u="sng" dirty="0"/>
              <a:t>To transmit a packet, the host must capture and destroy one token</a:t>
            </a:r>
            <a:r>
              <a:rPr lang="en-US" altLang="en-US" dirty="0"/>
              <a:t>.</a:t>
            </a:r>
          </a:p>
          <a:p>
            <a:pPr algn="just"/>
            <a:r>
              <a:rPr lang="en-US" altLang="en-US" u="sng" dirty="0"/>
              <a:t>Tokens are generated by a clock </a:t>
            </a:r>
            <a:r>
              <a:rPr lang="en-US" altLang="en-US" dirty="0"/>
              <a:t>at the rate of one token every </a:t>
            </a:r>
            <a:r>
              <a:rPr lang="en-US" altLang="en-US" dirty="0">
                <a:sym typeface="Symbol" panose="05050102010706020507" pitchFamily="18" charset="2"/>
              </a:rPr>
              <a:t></a:t>
            </a:r>
            <a:r>
              <a:rPr lang="en-US" altLang="en-US" dirty="0"/>
              <a:t>t sec.</a:t>
            </a:r>
          </a:p>
          <a:p>
            <a:pPr algn="just"/>
            <a:r>
              <a:rPr lang="en-US" altLang="en-US" u="sng" dirty="0"/>
              <a:t>Idle hosts can capture and save up tokens </a:t>
            </a:r>
            <a:r>
              <a:rPr lang="en-US" altLang="en-US" dirty="0"/>
              <a:t>(up to the max size of the bucket) in order to send larger bursts later.</a:t>
            </a:r>
          </a:p>
          <a:p>
            <a:endParaRPr lang="en-IN" dirty="0"/>
          </a:p>
        </p:txBody>
      </p:sp>
    </p:spTree>
    <p:extLst>
      <p:ext uri="{BB962C8B-B14F-4D97-AF65-F5344CB8AC3E}">
        <p14:creationId xmlns:p14="http://schemas.microsoft.com/office/powerpoint/2010/main" val="324639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The Token Bucket(TB) Algorithm</a:t>
            </a:r>
            <a:endParaRPr lang="en-IN" dirty="0"/>
          </a:p>
        </p:txBody>
      </p:sp>
      <p:pic>
        <p:nvPicPr>
          <p:cNvPr id="4" name="Content Placeholder 3"/>
          <p:cNvPicPr>
            <a:picLocks noGrp="1" noChangeAspect="1"/>
          </p:cNvPicPr>
          <p:nvPr>
            <p:ph idx="1"/>
          </p:nvPr>
        </p:nvPicPr>
        <p:blipFill>
          <a:blip r:embed="rId2"/>
          <a:stretch>
            <a:fillRect/>
          </a:stretch>
        </p:blipFill>
        <p:spPr>
          <a:xfrm>
            <a:off x="2155373" y="1690688"/>
            <a:ext cx="6635930" cy="5081449"/>
          </a:xfrm>
          <a:prstGeom prst="rect">
            <a:avLst/>
          </a:prstGeom>
        </p:spPr>
      </p:pic>
    </p:spTree>
    <p:extLst>
      <p:ext uri="{BB962C8B-B14F-4D97-AF65-F5344CB8AC3E}">
        <p14:creationId xmlns:p14="http://schemas.microsoft.com/office/powerpoint/2010/main" val="1238427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i="1" dirty="0">
                <a:solidFill>
                  <a:schemeClr val="tx2"/>
                </a:solidFill>
              </a:rPr>
              <a:t>Leaky Bucket vs Token Bucket</a:t>
            </a:r>
            <a:endParaRPr lang="en-IN" i="1" dirty="0"/>
          </a:p>
        </p:txBody>
      </p:sp>
      <p:sp>
        <p:nvSpPr>
          <p:cNvPr id="3" name="Content Placeholder 2"/>
          <p:cNvSpPr>
            <a:spLocks noGrp="1"/>
          </p:cNvSpPr>
          <p:nvPr>
            <p:ph idx="1"/>
          </p:nvPr>
        </p:nvSpPr>
        <p:spPr/>
        <p:txBody>
          <a:bodyPr/>
          <a:lstStyle/>
          <a:p>
            <a:pPr algn="just"/>
            <a:r>
              <a:rPr lang="en-US" altLang="en-US" dirty="0"/>
              <a:t>LB discards packets; TB does not. TB discards tokens.</a:t>
            </a:r>
          </a:p>
          <a:p>
            <a:pPr algn="just"/>
            <a:r>
              <a:rPr lang="en-US" altLang="en-US" dirty="0"/>
              <a:t>With TB, a packet can only be transmitted if there are enough tokens to cover its length in bytes.</a:t>
            </a:r>
          </a:p>
          <a:p>
            <a:pPr algn="just"/>
            <a:r>
              <a:rPr lang="en-US" altLang="en-US" dirty="0"/>
              <a:t>LB sends packets at an </a:t>
            </a:r>
            <a:r>
              <a:rPr lang="en-US" altLang="en-US" u="sng" dirty="0"/>
              <a:t>average rate</a:t>
            </a:r>
            <a:r>
              <a:rPr lang="en-US" altLang="en-US" dirty="0"/>
              <a:t>. TB allows for </a:t>
            </a:r>
            <a:r>
              <a:rPr lang="en-US" altLang="en-US" u="sng" dirty="0"/>
              <a:t>large bursts </a:t>
            </a:r>
            <a:r>
              <a:rPr lang="en-US" altLang="en-US" dirty="0"/>
              <a:t>to be sent faster by speeding up the output.</a:t>
            </a:r>
          </a:p>
          <a:p>
            <a:pPr algn="just"/>
            <a:r>
              <a:rPr lang="en-US" altLang="en-US" dirty="0"/>
              <a:t>TB </a:t>
            </a:r>
            <a:r>
              <a:rPr lang="en-US" altLang="en-US" u="sng" dirty="0"/>
              <a:t>allows saving up tokens </a:t>
            </a:r>
            <a:r>
              <a:rPr lang="en-US" altLang="en-US" dirty="0"/>
              <a:t>(permissions) to send large bursts. LB </a:t>
            </a:r>
            <a:r>
              <a:rPr lang="en-US" altLang="en-US" u="sng" dirty="0"/>
              <a:t>does not allow saving.</a:t>
            </a:r>
            <a:endParaRPr lang="en-US" altLang="en-US" sz="3600" u="sng" dirty="0"/>
          </a:p>
          <a:p>
            <a:endParaRPr lang="en-IN" dirty="0"/>
          </a:p>
        </p:txBody>
      </p:sp>
    </p:spTree>
    <p:extLst>
      <p:ext uri="{BB962C8B-B14F-4D97-AF65-F5344CB8AC3E}">
        <p14:creationId xmlns:p14="http://schemas.microsoft.com/office/powerpoint/2010/main" val="919919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Resource Reservation</a:t>
            </a:r>
            <a:endParaRPr lang="en-IN" dirty="0"/>
          </a:p>
        </p:txBody>
      </p:sp>
      <p:sp>
        <p:nvSpPr>
          <p:cNvPr id="3" name="Content Placeholder 2"/>
          <p:cNvSpPr>
            <a:spLocks noGrp="1"/>
          </p:cNvSpPr>
          <p:nvPr>
            <p:ph idx="1"/>
          </p:nvPr>
        </p:nvSpPr>
        <p:spPr>
          <a:xfrm>
            <a:off x="838200" y="1550504"/>
            <a:ext cx="10515600" cy="4626459"/>
          </a:xfrm>
        </p:spPr>
        <p:txBody>
          <a:bodyPr>
            <a:normAutofit fontScale="92500" lnSpcReduction="10000"/>
          </a:bodyPr>
          <a:lstStyle/>
          <a:p>
            <a:pPr algn="just"/>
            <a:r>
              <a:rPr lang="en-US" dirty="0"/>
              <a:t>Once we have a specific route for a flow, it becomes </a:t>
            </a:r>
            <a:r>
              <a:rPr lang="en-US" u="sng" dirty="0"/>
              <a:t>possible to reserve resources along that route </a:t>
            </a:r>
            <a:r>
              <a:rPr lang="en-US" dirty="0"/>
              <a:t>to make sure the needed capacity is available. Three different kinds of resources can </a:t>
            </a:r>
            <a:r>
              <a:rPr lang="en-IN" dirty="0"/>
              <a:t>potentially be reserved:</a:t>
            </a:r>
          </a:p>
          <a:p>
            <a:pPr algn="just"/>
            <a:r>
              <a:rPr lang="en-IN" dirty="0"/>
              <a:t>1. Bandwidth.</a:t>
            </a:r>
          </a:p>
          <a:p>
            <a:pPr algn="just"/>
            <a:r>
              <a:rPr lang="en-IN" dirty="0"/>
              <a:t>2. Buffer space.</a:t>
            </a:r>
          </a:p>
          <a:p>
            <a:pPr algn="just"/>
            <a:r>
              <a:rPr lang="en-IN" dirty="0"/>
              <a:t>3. CPU cycles.</a:t>
            </a:r>
          </a:p>
          <a:p>
            <a:pPr algn="just"/>
            <a:r>
              <a:rPr lang="en-US" dirty="0"/>
              <a:t>CPU cycles are also a scarce resource. It takes router CPU time to process a packet, so a </a:t>
            </a:r>
            <a:r>
              <a:rPr lang="en-US" u="sng" dirty="0"/>
              <a:t>router can process only a certain number of packets per second</a:t>
            </a:r>
            <a:r>
              <a:rPr lang="en-US" dirty="0"/>
              <a:t>. </a:t>
            </a:r>
          </a:p>
          <a:p>
            <a:pPr algn="just"/>
            <a:r>
              <a:rPr lang="en-US" dirty="0"/>
              <a:t>Making sure that the CPU is not overloaded is needed to ensure timely processing of each packet.</a:t>
            </a:r>
            <a:endParaRPr lang="en-IN" dirty="0"/>
          </a:p>
        </p:txBody>
      </p:sp>
    </p:spTree>
    <p:extLst>
      <p:ext uri="{BB962C8B-B14F-4D97-AF65-F5344CB8AC3E}">
        <p14:creationId xmlns:p14="http://schemas.microsoft.com/office/powerpoint/2010/main" val="2901731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Admission Control</a:t>
            </a:r>
            <a:br>
              <a:rPr lang="en-IN" b="1" i="1" dirty="0"/>
            </a:br>
            <a:endParaRPr lang="en-IN" dirty="0"/>
          </a:p>
        </p:txBody>
      </p:sp>
      <p:sp>
        <p:nvSpPr>
          <p:cNvPr id="3" name="Content Placeholder 2"/>
          <p:cNvSpPr>
            <a:spLocks noGrp="1"/>
          </p:cNvSpPr>
          <p:nvPr>
            <p:ph idx="1"/>
          </p:nvPr>
        </p:nvSpPr>
        <p:spPr>
          <a:xfrm>
            <a:off x="838200" y="1470991"/>
            <a:ext cx="10515600" cy="3231638"/>
          </a:xfrm>
        </p:spPr>
        <p:txBody>
          <a:bodyPr>
            <a:normAutofit lnSpcReduction="10000"/>
          </a:bodyPr>
          <a:lstStyle/>
          <a:p>
            <a:pPr algn="just"/>
            <a:r>
              <a:rPr lang="en-US" dirty="0"/>
              <a:t>When a flow is offered to a router, it has to decide, based on its capacity and how many commitments it has already made for other flows, </a:t>
            </a:r>
            <a:r>
              <a:rPr lang="en-US" u="sng" dirty="0"/>
              <a:t>whether to admit or reject </a:t>
            </a:r>
            <a:r>
              <a:rPr lang="en-IN" u="sng" dirty="0"/>
              <a:t>the flow.</a:t>
            </a:r>
            <a:endParaRPr lang="en-US" u="sng" dirty="0"/>
          </a:p>
          <a:p>
            <a:pPr algn="just"/>
            <a:r>
              <a:rPr lang="en-US" dirty="0"/>
              <a:t>Because many parties may be involved in the flow negotiation (the sender, the receiver, and all the routers along the path between them), </a:t>
            </a:r>
            <a:r>
              <a:rPr lang="en-US" u="sng" dirty="0"/>
              <a:t>flows must be described accurately in terms of specific parameters </a:t>
            </a:r>
            <a:r>
              <a:rPr lang="en-US" dirty="0"/>
              <a:t>that can be negotiated. A set of such parameters is called a </a:t>
            </a:r>
            <a:r>
              <a:rPr lang="en-US" b="1" dirty="0"/>
              <a:t>flow </a:t>
            </a:r>
            <a:r>
              <a:rPr lang="en-IN" b="1" dirty="0"/>
              <a:t>specification</a:t>
            </a:r>
            <a:r>
              <a:rPr lang="en-IN" dirty="0"/>
              <a:t>.</a:t>
            </a:r>
          </a:p>
        </p:txBody>
      </p:sp>
      <p:pic>
        <p:nvPicPr>
          <p:cNvPr id="4" name="Picture 3"/>
          <p:cNvPicPr>
            <a:picLocks noChangeAspect="1"/>
          </p:cNvPicPr>
          <p:nvPr/>
        </p:nvPicPr>
        <p:blipFill>
          <a:blip r:embed="rId2"/>
          <a:stretch>
            <a:fillRect/>
          </a:stretch>
        </p:blipFill>
        <p:spPr>
          <a:xfrm>
            <a:off x="7042821" y="4187688"/>
            <a:ext cx="4310980" cy="2517964"/>
          </a:xfrm>
          <a:prstGeom prst="rect">
            <a:avLst/>
          </a:prstGeom>
        </p:spPr>
      </p:pic>
    </p:spTree>
    <p:extLst>
      <p:ext uri="{BB962C8B-B14F-4D97-AF65-F5344CB8AC3E}">
        <p14:creationId xmlns:p14="http://schemas.microsoft.com/office/powerpoint/2010/main" val="3694604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Proportional Routing</a:t>
            </a:r>
            <a:endParaRPr lang="en-IN" dirty="0"/>
          </a:p>
        </p:txBody>
      </p:sp>
      <p:sp>
        <p:nvSpPr>
          <p:cNvPr id="3" name="Content Placeholder 2"/>
          <p:cNvSpPr>
            <a:spLocks noGrp="1"/>
          </p:cNvSpPr>
          <p:nvPr>
            <p:ph idx="1"/>
          </p:nvPr>
        </p:nvSpPr>
        <p:spPr/>
        <p:txBody>
          <a:bodyPr/>
          <a:lstStyle/>
          <a:p>
            <a:r>
              <a:rPr lang="en-US" dirty="0"/>
              <a:t>A different approach that has been proposed to provide a higher quality of service is to </a:t>
            </a:r>
            <a:r>
              <a:rPr lang="en-US" u="sng" dirty="0"/>
              <a:t>split the traffic for each destination over multiple paths.</a:t>
            </a:r>
            <a:endParaRPr lang="en-IN" u="sng" dirty="0"/>
          </a:p>
          <a:p>
            <a:r>
              <a:rPr lang="en-IN" dirty="0"/>
              <a:t>A simple method </a:t>
            </a:r>
            <a:r>
              <a:rPr lang="en-US" dirty="0"/>
              <a:t>is to </a:t>
            </a:r>
            <a:r>
              <a:rPr lang="en-US" u="sng" dirty="0"/>
              <a:t>divide the traffic equally or in proportion to the capacity of the outgoing links.</a:t>
            </a:r>
            <a:endParaRPr lang="en-IN" u="sng" dirty="0"/>
          </a:p>
        </p:txBody>
      </p:sp>
    </p:spTree>
    <p:extLst>
      <p:ext uri="{BB962C8B-B14F-4D97-AF65-F5344CB8AC3E}">
        <p14:creationId xmlns:p14="http://schemas.microsoft.com/office/powerpoint/2010/main" val="865769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Packet Scheduling</a:t>
            </a:r>
            <a:endParaRPr lang="en-IN" dirty="0"/>
          </a:p>
        </p:txBody>
      </p:sp>
      <p:sp>
        <p:nvSpPr>
          <p:cNvPr id="3" name="Content Placeholder 2"/>
          <p:cNvSpPr>
            <a:spLocks noGrp="1"/>
          </p:cNvSpPr>
          <p:nvPr>
            <p:ph idx="1"/>
          </p:nvPr>
        </p:nvSpPr>
        <p:spPr/>
        <p:txBody>
          <a:bodyPr>
            <a:normAutofit/>
          </a:bodyPr>
          <a:lstStyle/>
          <a:p>
            <a:pPr marL="0" indent="0">
              <a:buNone/>
            </a:pPr>
            <a:r>
              <a:rPr lang="en-US" b="1" dirty="0"/>
              <a:t>Fair queueing </a:t>
            </a:r>
            <a:r>
              <a:rPr lang="en-US" dirty="0"/>
              <a:t>algorithm: </a:t>
            </a:r>
          </a:p>
          <a:p>
            <a:r>
              <a:rPr lang="en-US" dirty="0"/>
              <a:t>The essence of the algorithm is that </a:t>
            </a:r>
            <a:r>
              <a:rPr lang="en-US" u="sng" dirty="0"/>
              <a:t>routers have separate queues for each output line</a:t>
            </a:r>
            <a:r>
              <a:rPr lang="en-US" dirty="0"/>
              <a:t>, one for each flow. </a:t>
            </a:r>
          </a:p>
          <a:p>
            <a:r>
              <a:rPr lang="en-US" dirty="0"/>
              <a:t>When a </a:t>
            </a:r>
            <a:r>
              <a:rPr lang="en-US" u="sng" dirty="0"/>
              <a:t>line becomes idle</a:t>
            </a:r>
            <a:r>
              <a:rPr lang="en-US" dirty="0"/>
              <a:t>, the router scans the queues round robin, taking the first packet on the next queue. </a:t>
            </a:r>
          </a:p>
          <a:p>
            <a:r>
              <a:rPr lang="en-US" dirty="0"/>
              <a:t>In this way, with </a:t>
            </a:r>
            <a:r>
              <a:rPr lang="en-US" i="1" dirty="0"/>
              <a:t>n </a:t>
            </a:r>
            <a:r>
              <a:rPr lang="en-US" dirty="0"/>
              <a:t>hosts competing for a given output line, each host gets to send one out of every </a:t>
            </a:r>
            <a:r>
              <a:rPr lang="en-US" i="1" dirty="0"/>
              <a:t>n </a:t>
            </a:r>
            <a:r>
              <a:rPr lang="en-US" dirty="0"/>
              <a:t>packets. </a:t>
            </a:r>
          </a:p>
        </p:txBody>
      </p:sp>
    </p:spTree>
    <p:extLst>
      <p:ext uri="{BB962C8B-B14F-4D97-AF65-F5344CB8AC3E}">
        <p14:creationId xmlns:p14="http://schemas.microsoft.com/office/powerpoint/2010/main" val="2672392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838200" y="2199862"/>
            <a:ext cx="10639677" cy="3273286"/>
          </a:xfrm>
          <a:prstGeom prst="rect">
            <a:avLst/>
          </a:prstGeom>
        </p:spPr>
      </p:pic>
    </p:spTree>
    <p:extLst>
      <p:ext uri="{BB962C8B-B14F-4D97-AF65-F5344CB8AC3E}">
        <p14:creationId xmlns:p14="http://schemas.microsoft.com/office/powerpoint/2010/main" val="1177786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Internetworking</a:t>
            </a:r>
            <a:endParaRPr lang="en-IN" dirty="0"/>
          </a:p>
        </p:txBody>
      </p:sp>
      <p:sp>
        <p:nvSpPr>
          <p:cNvPr id="3" name="Content Placeholder 2"/>
          <p:cNvSpPr>
            <a:spLocks noGrp="1"/>
          </p:cNvSpPr>
          <p:nvPr>
            <p:ph idx="1"/>
          </p:nvPr>
        </p:nvSpPr>
        <p:spPr/>
        <p:txBody>
          <a:bodyPr>
            <a:normAutofit/>
          </a:bodyPr>
          <a:lstStyle/>
          <a:p>
            <a:r>
              <a:rPr lang="en-US" u="sng" dirty="0"/>
              <a:t>Issues that arise </a:t>
            </a:r>
            <a:r>
              <a:rPr lang="en-US" dirty="0"/>
              <a:t>when </a:t>
            </a:r>
            <a:r>
              <a:rPr lang="en-US" dirty="0">
                <a:solidFill>
                  <a:schemeClr val="tx1">
                    <a:lumMod val="20000"/>
                    <a:lumOff val="80000"/>
                  </a:schemeClr>
                </a:solidFill>
              </a:rPr>
              <a:t>two or more networks are connected </a:t>
            </a:r>
            <a:r>
              <a:rPr lang="en-US" dirty="0"/>
              <a:t>to form an </a:t>
            </a:r>
            <a:r>
              <a:rPr lang="en-US" b="1" dirty="0"/>
              <a:t>internet</a:t>
            </a:r>
            <a:r>
              <a:rPr lang="en-US" dirty="0"/>
              <a:t>.</a:t>
            </a:r>
          </a:p>
          <a:p>
            <a:r>
              <a:rPr lang="en-US" dirty="0"/>
              <a:t>First of all, the </a:t>
            </a:r>
            <a:r>
              <a:rPr lang="en-US" u="sng" dirty="0"/>
              <a:t>installed base of different networks is large.</a:t>
            </a:r>
          </a:p>
          <a:p>
            <a:r>
              <a:rPr lang="en-US" dirty="0"/>
              <a:t>Second, as computers and </a:t>
            </a:r>
            <a:r>
              <a:rPr lang="en-US" u="sng" dirty="0"/>
              <a:t>networks get cheaper, the place where decisions get made moves </a:t>
            </a:r>
            <a:r>
              <a:rPr lang="en-IN" u="sng" dirty="0"/>
              <a:t>downward in organizations.</a:t>
            </a:r>
          </a:p>
          <a:p>
            <a:r>
              <a:rPr lang="en-US" dirty="0"/>
              <a:t>Third, different networks have different technology, so as new </a:t>
            </a:r>
            <a:r>
              <a:rPr lang="en-US" u="sng" dirty="0"/>
              <a:t>hardware developments occur, new software will be created to fit the new hardware.</a:t>
            </a:r>
            <a:endParaRPr lang="en-IN" b="1" u="sng" dirty="0"/>
          </a:p>
        </p:txBody>
      </p:sp>
    </p:spTree>
    <p:extLst>
      <p:ext uri="{BB962C8B-B14F-4D97-AF65-F5344CB8AC3E}">
        <p14:creationId xmlns:p14="http://schemas.microsoft.com/office/powerpoint/2010/main" val="1823781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501311"/>
            <a:ext cx="10515600" cy="491466"/>
          </a:xfrm>
        </p:spPr>
        <p:txBody>
          <a:bodyPr>
            <a:normAutofit fontScale="90000"/>
          </a:bodyPr>
          <a:lstStyle/>
          <a:p>
            <a:r>
              <a:rPr lang="en-IN" b="1" dirty="0"/>
              <a:t>Collection of interconnected networks</a:t>
            </a:r>
            <a:endParaRPr lang="en-IN" dirty="0"/>
          </a:p>
        </p:txBody>
      </p:sp>
      <p:pic>
        <p:nvPicPr>
          <p:cNvPr id="4" name="Content Placeholder 3"/>
          <p:cNvPicPr>
            <a:picLocks noGrp="1" noChangeAspect="1"/>
          </p:cNvPicPr>
          <p:nvPr>
            <p:ph idx="1"/>
          </p:nvPr>
        </p:nvPicPr>
        <p:blipFill>
          <a:blip r:embed="rId2"/>
          <a:stretch>
            <a:fillRect/>
          </a:stretch>
        </p:blipFill>
        <p:spPr>
          <a:xfrm>
            <a:off x="1220754" y="1449977"/>
            <a:ext cx="9993085" cy="4820194"/>
          </a:xfrm>
          <a:prstGeom prst="rect">
            <a:avLst/>
          </a:prstGeom>
        </p:spPr>
      </p:pic>
    </p:spTree>
    <p:extLst>
      <p:ext uri="{BB962C8B-B14F-4D97-AF65-F5344CB8AC3E}">
        <p14:creationId xmlns:p14="http://schemas.microsoft.com/office/powerpoint/2010/main" val="3826646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How Networks Differ</a:t>
            </a:r>
            <a:endParaRPr lang="en-IN" dirty="0"/>
          </a:p>
        </p:txBody>
      </p:sp>
      <p:sp>
        <p:nvSpPr>
          <p:cNvPr id="3" name="Content Placeholder 2"/>
          <p:cNvSpPr>
            <a:spLocks noGrp="1"/>
          </p:cNvSpPr>
          <p:nvPr>
            <p:ph idx="1"/>
          </p:nvPr>
        </p:nvSpPr>
        <p:spPr/>
        <p:txBody>
          <a:bodyPr/>
          <a:lstStyle/>
          <a:p>
            <a:r>
              <a:rPr lang="en-US" dirty="0"/>
              <a:t>Problems can occur at the </a:t>
            </a:r>
            <a:r>
              <a:rPr lang="en-US" u="sng" dirty="0"/>
              <a:t>interfaces between networks.</a:t>
            </a:r>
          </a:p>
          <a:p>
            <a:r>
              <a:rPr lang="en-US" dirty="0"/>
              <a:t>The </a:t>
            </a:r>
            <a:r>
              <a:rPr lang="en-US" u="sng" dirty="0"/>
              <a:t>differing maximum packet sizes used </a:t>
            </a:r>
            <a:r>
              <a:rPr lang="en-US" dirty="0"/>
              <a:t>by different networks can be a major issue.</a:t>
            </a:r>
          </a:p>
          <a:p>
            <a:r>
              <a:rPr lang="en-US" u="sng" dirty="0"/>
              <a:t>Error, flow, and congestion control often differ </a:t>
            </a:r>
            <a:r>
              <a:rPr lang="en-US" dirty="0"/>
              <a:t>among different networks.</a:t>
            </a:r>
            <a:endParaRPr lang="en-IN" dirty="0"/>
          </a:p>
        </p:txBody>
      </p:sp>
    </p:spTree>
    <p:extLst>
      <p:ext uri="{BB962C8B-B14F-4D97-AF65-F5344CB8AC3E}">
        <p14:creationId xmlns:p14="http://schemas.microsoft.com/office/powerpoint/2010/main" val="277734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907178" y="710973"/>
            <a:ext cx="9235440" cy="5467758"/>
          </a:xfrm>
          <a:prstGeom prst="rect">
            <a:avLst/>
          </a:prstGeom>
        </p:spPr>
      </p:pic>
    </p:spTree>
    <p:extLst>
      <p:ext uri="{BB962C8B-B14F-4D97-AF65-F5344CB8AC3E}">
        <p14:creationId xmlns:p14="http://schemas.microsoft.com/office/powerpoint/2010/main" val="2507497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89355"/>
          </a:xfrm>
        </p:spPr>
        <p:txBody>
          <a:bodyPr/>
          <a:lstStyle/>
          <a:p>
            <a:r>
              <a:rPr lang="en-US" b="1" dirty="0"/>
              <a:t>How Networks Can Be Connected</a:t>
            </a:r>
            <a:endParaRPr lang="en-IN" dirty="0"/>
          </a:p>
        </p:txBody>
      </p:sp>
      <p:sp>
        <p:nvSpPr>
          <p:cNvPr id="3" name="Content Placeholder 2"/>
          <p:cNvSpPr>
            <a:spLocks noGrp="1"/>
          </p:cNvSpPr>
          <p:nvPr>
            <p:ph idx="1"/>
          </p:nvPr>
        </p:nvSpPr>
        <p:spPr>
          <a:xfrm>
            <a:off x="522514" y="1658984"/>
            <a:ext cx="11178074" cy="4900436"/>
          </a:xfrm>
        </p:spPr>
        <p:txBody>
          <a:bodyPr>
            <a:normAutofit fontScale="92500" lnSpcReduction="10000"/>
          </a:bodyPr>
          <a:lstStyle/>
          <a:p>
            <a:r>
              <a:rPr lang="en-US" dirty="0"/>
              <a:t>In the </a:t>
            </a:r>
            <a:r>
              <a:rPr lang="en-US" dirty="0">
                <a:solidFill>
                  <a:schemeClr val="tx1">
                    <a:lumMod val="20000"/>
                    <a:lumOff val="80000"/>
                  </a:schemeClr>
                </a:solidFill>
              </a:rPr>
              <a:t>physical layer</a:t>
            </a:r>
            <a:r>
              <a:rPr lang="en-US" dirty="0"/>
              <a:t>, networks can be connected by </a:t>
            </a:r>
            <a:r>
              <a:rPr lang="en-US" u="sng" dirty="0"/>
              <a:t>repeaters or hubs, </a:t>
            </a:r>
            <a:r>
              <a:rPr lang="en-US" dirty="0"/>
              <a:t>which just move the bits from one network to an identical network.</a:t>
            </a:r>
          </a:p>
          <a:p>
            <a:r>
              <a:rPr lang="en-US" dirty="0"/>
              <a:t>One layer up we find </a:t>
            </a:r>
            <a:r>
              <a:rPr lang="en-US" u="sng" dirty="0"/>
              <a:t>bridges and switches, </a:t>
            </a:r>
            <a:r>
              <a:rPr lang="en-US" dirty="0"/>
              <a:t>which operate at the </a:t>
            </a:r>
            <a:r>
              <a:rPr lang="en-US" dirty="0">
                <a:solidFill>
                  <a:schemeClr val="tx1">
                    <a:lumMod val="20000"/>
                    <a:lumOff val="80000"/>
                  </a:schemeClr>
                </a:solidFill>
              </a:rPr>
              <a:t>data link layer</a:t>
            </a:r>
            <a:r>
              <a:rPr lang="en-US" dirty="0"/>
              <a:t>. They can accept frames, examine the MAC addresses, and forward the frames to a different network.</a:t>
            </a:r>
          </a:p>
          <a:p>
            <a:r>
              <a:rPr lang="en-US" dirty="0"/>
              <a:t>In the network layer, we have </a:t>
            </a:r>
            <a:r>
              <a:rPr lang="en-US" u="sng" dirty="0"/>
              <a:t>routers</a:t>
            </a:r>
            <a:r>
              <a:rPr lang="en-US" dirty="0"/>
              <a:t> that can connect two networks. If two networks have dissimilar network layers, the router may be able to translate between the packet formats</a:t>
            </a:r>
            <a:endParaRPr lang="en-IN" dirty="0"/>
          </a:p>
          <a:p>
            <a:r>
              <a:rPr lang="en-US" dirty="0"/>
              <a:t>A </a:t>
            </a:r>
            <a:r>
              <a:rPr lang="en-US" u="sng" dirty="0"/>
              <a:t>router that can handle multiple </a:t>
            </a:r>
            <a:r>
              <a:rPr lang="en-IN" u="sng" dirty="0"/>
              <a:t>protocols </a:t>
            </a:r>
            <a:r>
              <a:rPr lang="en-IN" dirty="0"/>
              <a:t>is called a </a:t>
            </a:r>
            <a:r>
              <a:rPr lang="en-IN" b="1" dirty="0"/>
              <a:t>multiprotocol router</a:t>
            </a:r>
            <a:r>
              <a:rPr lang="en-IN" dirty="0"/>
              <a:t>.</a:t>
            </a:r>
          </a:p>
          <a:p>
            <a:r>
              <a:rPr lang="en-US" dirty="0"/>
              <a:t>In the </a:t>
            </a:r>
            <a:r>
              <a:rPr lang="en-US" dirty="0">
                <a:solidFill>
                  <a:schemeClr val="tx1">
                    <a:lumMod val="20000"/>
                    <a:lumOff val="80000"/>
                  </a:schemeClr>
                </a:solidFill>
              </a:rPr>
              <a:t>transport layer </a:t>
            </a:r>
            <a:r>
              <a:rPr lang="en-US" dirty="0"/>
              <a:t>we find </a:t>
            </a:r>
            <a:r>
              <a:rPr lang="en-US" u="sng" dirty="0"/>
              <a:t>transport gateways</a:t>
            </a:r>
            <a:r>
              <a:rPr lang="en-US" dirty="0"/>
              <a:t>, which can interface between two transport connections. </a:t>
            </a:r>
          </a:p>
          <a:p>
            <a:r>
              <a:rPr lang="en-US" dirty="0"/>
              <a:t>In the </a:t>
            </a:r>
            <a:r>
              <a:rPr lang="en-US" dirty="0">
                <a:solidFill>
                  <a:schemeClr val="tx1">
                    <a:lumMod val="20000"/>
                    <a:lumOff val="80000"/>
                  </a:schemeClr>
                </a:solidFill>
              </a:rPr>
              <a:t>application layer</a:t>
            </a:r>
            <a:r>
              <a:rPr lang="en-US" dirty="0"/>
              <a:t>, </a:t>
            </a:r>
            <a:r>
              <a:rPr lang="en-US" u="sng" dirty="0"/>
              <a:t>application gateways </a:t>
            </a:r>
            <a:r>
              <a:rPr lang="en-US" dirty="0"/>
              <a:t>translate message semantics.</a:t>
            </a:r>
            <a:endParaRPr lang="en-IN" dirty="0"/>
          </a:p>
        </p:txBody>
      </p:sp>
    </p:spTree>
    <p:extLst>
      <p:ext uri="{BB962C8B-B14F-4D97-AF65-F5344CB8AC3E}">
        <p14:creationId xmlns:p14="http://schemas.microsoft.com/office/powerpoint/2010/main" val="3958372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10515600" cy="4800462"/>
          </a:xfrm>
        </p:spPr>
        <p:txBody>
          <a:bodyPr>
            <a:normAutofit fontScale="92500" lnSpcReduction="20000"/>
          </a:bodyPr>
          <a:lstStyle/>
          <a:p>
            <a:r>
              <a:rPr lang="en-US" dirty="0"/>
              <a:t>Two ways of internetworking is possible.(</a:t>
            </a:r>
            <a:r>
              <a:rPr lang="en-US" dirty="0" err="1"/>
              <a:t>i</a:t>
            </a:r>
            <a:r>
              <a:rPr lang="en-US" dirty="0"/>
              <a:t>) </a:t>
            </a:r>
            <a:r>
              <a:rPr lang="en-US" u="sng" dirty="0"/>
              <a:t>a connection-oriented concatenated virtual subnets </a:t>
            </a:r>
            <a:r>
              <a:rPr lang="en-US" dirty="0"/>
              <a:t>and (ii) </a:t>
            </a:r>
            <a:r>
              <a:rPr lang="en-US" u="sng" dirty="0"/>
              <a:t>datagram internet</a:t>
            </a:r>
            <a:r>
              <a:rPr lang="en-US" dirty="0"/>
              <a:t>. </a:t>
            </a:r>
          </a:p>
          <a:p>
            <a:r>
              <a:rPr lang="en-US" dirty="0"/>
              <a:t>In the past most networks were connection oriented. Then with the </a:t>
            </a:r>
            <a:r>
              <a:rPr lang="en-US" dirty="0">
                <a:solidFill>
                  <a:schemeClr val="tx1">
                    <a:lumMod val="20000"/>
                    <a:lumOff val="80000"/>
                  </a:schemeClr>
                </a:solidFill>
              </a:rPr>
              <a:t>rapid acceptance of the Internet</a:t>
            </a:r>
            <a:r>
              <a:rPr lang="en-US" dirty="0"/>
              <a:t>, datagrams became more popular.</a:t>
            </a:r>
          </a:p>
          <a:p>
            <a:r>
              <a:rPr lang="en-US" dirty="0"/>
              <a:t>In the concatenated virtual-circuit model a sequence of virtual circuit is set up </a:t>
            </a:r>
            <a:r>
              <a:rPr lang="en-US" u="sng" dirty="0"/>
              <a:t>from the source through one or more gateways to the destination</a:t>
            </a:r>
            <a:r>
              <a:rPr lang="en-US" dirty="0"/>
              <a:t>. Each </a:t>
            </a:r>
            <a:r>
              <a:rPr lang="en-US" u="sng" dirty="0"/>
              <a:t>gateway maintains tables </a:t>
            </a:r>
            <a:r>
              <a:rPr lang="en-US" dirty="0"/>
              <a:t>telling which virtual circuit pass through it.</a:t>
            </a:r>
          </a:p>
          <a:p>
            <a:r>
              <a:rPr lang="en-US" dirty="0"/>
              <a:t>In datagrams from one </a:t>
            </a:r>
            <a:r>
              <a:rPr lang="en-US" u="sng" dirty="0"/>
              <a:t>host to other host the packets will be routed in different routes </a:t>
            </a:r>
            <a:r>
              <a:rPr lang="en-US" dirty="0"/>
              <a:t>through the inter network. A routing decision is made separately for each packet, possibly depending on the traffic at the moment the packet is sent. This strategy can use </a:t>
            </a:r>
            <a:r>
              <a:rPr lang="en-US" u="sng" dirty="0"/>
              <a:t>multiple routes and thus achieve a higher bandwidth</a:t>
            </a:r>
            <a:r>
              <a:rPr lang="en-US" dirty="0"/>
              <a:t> than the concatenated virtual circuit model.</a:t>
            </a:r>
            <a:endParaRPr lang="en-IN" dirty="0"/>
          </a:p>
        </p:txBody>
      </p:sp>
    </p:spTree>
    <p:extLst>
      <p:ext uri="{BB962C8B-B14F-4D97-AF65-F5344CB8AC3E}">
        <p14:creationId xmlns:p14="http://schemas.microsoft.com/office/powerpoint/2010/main" val="557854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52396" y="3049406"/>
            <a:ext cx="8927288" cy="3136790"/>
          </a:xfrm>
          <a:prstGeom prst="rect">
            <a:avLst/>
          </a:prstGeom>
        </p:spPr>
      </p:pic>
      <p:sp>
        <p:nvSpPr>
          <p:cNvPr id="5" name="Content Placeholder 2"/>
          <p:cNvSpPr txBox="1">
            <a:spLocks/>
          </p:cNvSpPr>
          <p:nvPr/>
        </p:nvSpPr>
        <p:spPr>
          <a:xfrm>
            <a:off x="825137" y="825364"/>
            <a:ext cx="10774680" cy="179278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source machine,</a:t>
            </a:r>
            <a:r>
              <a:rPr lang="en-US" i="1" dirty="0"/>
              <a:t>S</a:t>
            </a:r>
            <a:r>
              <a:rPr lang="en-US" dirty="0"/>
              <a:t>, wants to send a packet to the destination machine, </a:t>
            </a:r>
            <a:r>
              <a:rPr lang="en-US" i="1" dirty="0"/>
              <a:t>D</a:t>
            </a:r>
            <a:r>
              <a:rPr lang="en-US" dirty="0"/>
              <a:t>. These machines are on </a:t>
            </a:r>
            <a:r>
              <a:rPr lang="en-US" u="sng" dirty="0"/>
              <a:t>different Ethernets</a:t>
            </a:r>
            <a:r>
              <a:rPr lang="en-US" dirty="0"/>
              <a:t>, connected by a switch. </a:t>
            </a:r>
            <a:r>
              <a:rPr lang="en-US" i="1" dirty="0"/>
              <a:t>S </a:t>
            </a:r>
            <a:r>
              <a:rPr lang="en-US" u="sng" dirty="0"/>
              <a:t>encapsulates the packet in a frame </a:t>
            </a:r>
            <a:r>
              <a:rPr lang="en-US" dirty="0"/>
              <a:t>and sends it on its way. The frame arrives at the switch, which then determines that the frame has to go to LAN 2 by looking at its MAC address. The switch just removes the frame from LAN 1 and deposits it </a:t>
            </a:r>
            <a:r>
              <a:rPr lang="en-IN" dirty="0"/>
              <a:t>on LAN 2.</a:t>
            </a:r>
          </a:p>
        </p:txBody>
      </p:sp>
    </p:spTree>
    <p:extLst>
      <p:ext uri="{BB962C8B-B14F-4D97-AF65-F5344CB8AC3E}">
        <p14:creationId xmlns:p14="http://schemas.microsoft.com/office/powerpoint/2010/main" val="4085296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Tunneling</a:t>
            </a:r>
            <a:endParaRPr lang="en-IN" dirty="0"/>
          </a:p>
        </p:txBody>
      </p:sp>
      <p:sp>
        <p:nvSpPr>
          <p:cNvPr id="3" name="Content Placeholder 2"/>
          <p:cNvSpPr>
            <a:spLocks noGrp="1"/>
          </p:cNvSpPr>
          <p:nvPr>
            <p:ph idx="1"/>
          </p:nvPr>
        </p:nvSpPr>
        <p:spPr>
          <a:xfrm>
            <a:off x="838200" y="1541416"/>
            <a:ext cx="10515600" cy="4794069"/>
          </a:xfrm>
        </p:spPr>
        <p:txBody>
          <a:bodyPr>
            <a:normAutofit fontScale="92500" lnSpcReduction="10000"/>
          </a:bodyPr>
          <a:lstStyle/>
          <a:p>
            <a:r>
              <a:rPr lang="en-US" dirty="0"/>
              <a:t>Making two different networks interwork is exceedingly difficult. </a:t>
            </a:r>
          </a:p>
          <a:p>
            <a:r>
              <a:rPr lang="en-US" dirty="0"/>
              <a:t>This case is where the </a:t>
            </a:r>
            <a:r>
              <a:rPr lang="en-US" u="sng" dirty="0"/>
              <a:t>source and destination hosts are on the same type of network</a:t>
            </a:r>
            <a:r>
              <a:rPr lang="en-US" dirty="0"/>
              <a:t>, but there is a </a:t>
            </a:r>
            <a:r>
              <a:rPr lang="en-US" u="sng" dirty="0"/>
              <a:t>different network in </a:t>
            </a:r>
            <a:r>
              <a:rPr lang="en-IN" u="sng" dirty="0"/>
              <a:t>between</a:t>
            </a:r>
            <a:r>
              <a:rPr lang="en-IN" dirty="0"/>
              <a:t>.</a:t>
            </a:r>
            <a:r>
              <a:rPr lang="en-US" dirty="0"/>
              <a:t> The solution to this problem is a technique called </a:t>
            </a:r>
            <a:r>
              <a:rPr lang="en-US" b="1" dirty="0"/>
              <a:t>tunneling</a:t>
            </a:r>
            <a:r>
              <a:rPr lang="en-US" dirty="0"/>
              <a:t>.</a:t>
            </a:r>
          </a:p>
          <a:p>
            <a:r>
              <a:rPr lang="en-US" dirty="0">
                <a:solidFill>
                  <a:srgbClr val="FFC000"/>
                </a:solidFill>
              </a:rPr>
              <a:t>To send an IP packet to host 2</a:t>
            </a:r>
            <a:r>
              <a:rPr lang="en-US" dirty="0"/>
              <a:t>, </a:t>
            </a:r>
            <a:r>
              <a:rPr lang="en-US" u="sng" dirty="0">
                <a:solidFill>
                  <a:schemeClr val="tx1">
                    <a:lumMod val="20000"/>
                    <a:lumOff val="80000"/>
                  </a:schemeClr>
                </a:solidFill>
              </a:rPr>
              <a:t>host 1 constructs the packet </a:t>
            </a:r>
            <a:r>
              <a:rPr lang="en-US" u="sng" dirty="0"/>
              <a:t>containing the IP address of host 2</a:t>
            </a:r>
            <a:r>
              <a:rPr lang="en-US" dirty="0"/>
              <a:t>, </a:t>
            </a:r>
            <a:r>
              <a:rPr lang="en-US" dirty="0">
                <a:solidFill>
                  <a:schemeClr val="tx1">
                    <a:lumMod val="20000"/>
                    <a:lumOff val="80000"/>
                  </a:schemeClr>
                </a:solidFill>
              </a:rPr>
              <a:t>inserts it into an Ethernet </a:t>
            </a:r>
            <a:r>
              <a:rPr lang="en-US" dirty="0"/>
              <a:t>frame </a:t>
            </a:r>
            <a:r>
              <a:rPr lang="en-US" u="sng" dirty="0"/>
              <a:t>addressed to the Paris multiprotocol router</a:t>
            </a:r>
            <a:r>
              <a:rPr lang="en-US" dirty="0"/>
              <a:t>, and puts it on the Ethernet. </a:t>
            </a:r>
          </a:p>
          <a:p>
            <a:r>
              <a:rPr lang="en-US" dirty="0"/>
              <a:t>When the </a:t>
            </a:r>
            <a:r>
              <a:rPr lang="en-US" u="sng" dirty="0">
                <a:solidFill>
                  <a:schemeClr val="tx1">
                    <a:lumMod val="20000"/>
                    <a:lumOff val="80000"/>
                  </a:schemeClr>
                </a:solidFill>
              </a:rPr>
              <a:t>multiprotocol router </a:t>
            </a:r>
            <a:r>
              <a:rPr lang="en-US" u="sng" dirty="0"/>
              <a:t>gets the frame, it </a:t>
            </a:r>
            <a:r>
              <a:rPr lang="en-US" u="sng" dirty="0">
                <a:solidFill>
                  <a:schemeClr val="tx1">
                    <a:lumMod val="20000"/>
                    <a:lumOff val="80000"/>
                  </a:schemeClr>
                </a:solidFill>
              </a:rPr>
              <a:t>removes the IP packet</a:t>
            </a:r>
            <a:r>
              <a:rPr lang="en-US" dirty="0">
                <a:solidFill>
                  <a:schemeClr val="tx1">
                    <a:lumMod val="20000"/>
                    <a:lumOff val="80000"/>
                  </a:schemeClr>
                </a:solidFill>
              </a:rPr>
              <a:t>, </a:t>
            </a:r>
            <a:r>
              <a:rPr lang="en-US" u="sng" dirty="0">
                <a:solidFill>
                  <a:schemeClr val="tx1">
                    <a:lumMod val="20000"/>
                    <a:lumOff val="80000"/>
                  </a:schemeClr>
                </a:solidFill>
              </a:rPr>
              <a:t>inserts it in the payload </a:t>
            </a:r>
            <a:r>
              <a:rPr lang="en-US" u="sng" dirty="0"/>
              <a:t>field of the WAN </a:t>
            </a:r>
            <a:r>
              <a:rPr lang="en-US" dirty="0"/>
              <a:t>network layer packet, and addresses the latter to the </a:t>
            </a:r>
            <a:r>
              <a:rPr lang="en-US" u="sng" dirty="0"/>
              <a:t>WAN address of the London multiprotocol </a:t>
            </a:r>
            <a:r>
              <a:rPr lang="en-US" dirty="0"/>
              <a:t>router. </a:t>
            </a:r>
          </a:p>
          <a:p>
            <a:r>
              <a:rPr lang="en-US" dirty="0"/>
              <a:t>When it gets there, the </a:t>
            </a:r>
            <a:r>
              <a:rPr lang="en-US" u="sng" dirty="0"/>
              <a:t>London router removes the IP packet and sends it </a:t>
            </a:r>
            <a:r>
              <a:rPr lang="en-IN" u="sng" dirty="0"/>
              <a:t>to host 2 </a:t>
            </a:r>
            <a:r>
              <a:rPr lang="en-IN" dirty="0"/>
              <a:t>inside an Ethernet frame.</a:t>
            </a:r>
          </a:p>
        </p:txBody>
      </p:sp>
    </p:spTree>
    <p:extLst>
      <p:ext uri="{BB962C8B-B14F-4D97-AF65-F5344CB8AC3E}">
        <p14:creationId xmlns:p14="http://schemas.microsoft.com/office/powerpoint/2010/main" val="4059867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39620" y="649409"/>
            <a:ext cx="11466172" cy="4734353"/>
          </a:xfrm>
          <a:prstGeom prst="rect">
            <a:avLst/>
          </a:prstGeom>
        </p:spPr>
      </p:pic>
    </p:spTree>
    <p:extLst>
      <p:ext uri="{BB962C8B-B14F-4D97-AF65-F5344CB8AC3E}">
        <p14:creationId xmlns:p14="http://schemas.microsoft.com/office/powerpoint/2010/main" val="1854353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058092" y="1782128"/>
            <a:ext cx="9535886" cy="3628483"/>
          </a:xfrm>
          <a:prstGeom prst="rect">
            <a:avLst/>
          </a:prstGeom>
        </p:spPr>
      </p:pic>
    </p:spTree>
    <p:extLst>
      <p:ext uri="{BB962C8B-B14F-4D97-AF65-F5344CB8AC3E}">
        <p14:creationId xmlns:p14="http://schemas.microsoft.com/office/powerpoint/2010/main" val="3889596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426" y="245855"/>
            <a:ext cx="10515600" cy="924923"/>
          </a:xfrm>
        </p:spPr>
        <p:txBody>
          <a:bodyPr/>
          <a:lstStyle/>
          <a:p>
            <a:r>
              <a:rPr lang="en-IN" b="1" dirty="0"/>
              <a:t>Internetwork Routing</a:t>
            </a:r>
            <a:endParaRPr lang="en-IN" dirty="0"/>
          </a:p>
        </p:txBody>
      </p:sp>
      <p:sp>
        <p:nvSpPr>
          <p:cNvPr id="3" name="Content Placeholder 2"/>
          <p:cNvSpPr>
            <a:spLocks noGrp="1"/>
          </p:cNvSpPr>
          <p:nvPr>
            <p:ph idx="1"/>
          </p:nvPr>
        </p:nvSpPr>
        <p:spPr>
          <a:xfrm>
            <a:off x="530087" y="1170779"/>
            <a:ext cx="11145078" cy="3061588"/>
          </a:xfrm>
        </p:spPr>
        <p:txBody>
          <a:bodyPr>
            <a:normAutofit fontScale="92500" lnSpcReduction="10000"/>
          </a:bodyPr>
          <a:lstStyle/>
          <a:p>
            <a:r>
              <a:rPr lang="en-US" u="sng" dirty="0"/>
              <a:t>Once the graph has been constructed</a:t>
            </a:r>
            <a:r>
              <a:rPr lang="en-US" dirty="0"/>
              <a:t>, known routing algorithms, such as the distance vector and link state algorithms, </a:t>
            </a:r>
            <a:r>
              <a:rPr lang="en-US" u="sng" dirty="0"/>
              <a:t>can be applied to the set of multiprotocol routers. </a:t>
            </a:r>
          </a:p>
          <a:p>
            <a:r>
              <a:rPr lang="en-US" dirty="0"/>
              <a:t>This gives a two level routing algorithm: </a:t>
            </a:r>
            <a:r>
              <a:rPr lang="en-US" dirty="0">
                <a:solidFill>
                  <a:schemeClr val="tx1">
                    <a:lumMod val="20000"/>
                    <a:lumOff val="80000"/>
                  </a:schemeClr>
                </a:solidFill>
              </a:rPr>
              <a:t>within each network an </a:t>
            </a:r>
            <a:r>
              <a:rPr lang="en-US" b="1" dirty="0">
                <a:solidFill>
                  <a:schemeClr val="tx1">
                    <a:lumMod val="20000"/>
                    <a:lumOff val="80000"/>
                  </a:schemeClr>
                </a:solidFill>
              </a:rPr>
              <a:t>interior gateway protocol </a:t>
            </a:r>
            <a:r>
              <a:rPr lang="en-US" dirty="0"/>
              <a:t>is used, but </a:t>
            </a:r>
            <a:r>
              <a:rPr lang="en-US" dirty="0">
                <a:solidFill>
                  <a:schemeClr val="tx1">
                    <a:lumMod val="20000"/>
                    <a:lumOff val="80000"/>
                  </a:schemeClr>
                </a:solidFill>
              </a:rPr>
              <a:t>between the networks, an </a:t>
            </a:r>
            <a:r>
              <a:rPr lang="en-US" b="1" dirty="0">
                <a:solidFill>
                  <a:schemeClr val="tx1">
                    <a:lumMod val="20000"/>
                    <a:lumOff val="80000"/>
                  </a:schemeClr>
                </a:solidFill>
              </a:rPr>
              <a:t>exterior gateway protocol</a:t>
            </a:r>
            <a:r>
              <a:rPr lang="en-US" b="1" dirty="0"/>
              <a:t> </a:t>
            </a:r>
            <a:r>
              <a:rPr lang="en-US" dirty="0"/>
              <a:t>is used (''gateway'' is an older term for ''router''). </a:t>
            </a:r>
          </a:p>
          <a:p>
            <a:r>
              <a:rPr lang="en-US" dirty="0"/>
              <a:t>Because </a:t>
            </a:r>
            <a:r>
              <a:rPr lang="en-US" u="sng" dirty="0"/>
              <a:t>each network in an internetwork is independent of all the others, it is often referred to </a:t>
            </a:r>
            <a:r>
              <a:rPr lang="en-IN" u="sng" dirty="0"/>
              <a:t>as an </a:t>
            </a:r>
            <a:r>
              <a:rPr lang="en-IN" b="1" u="sng" dirty="0"/>
              <a:t>Autonomous System </a:t>
            </a:r>
            <a:r>
              <a:rPr lang="en-IN" u="sng" dirty="0"/>
              <a:t>(</a:t>
            </a:r>
            <a:r>
              <a:rPr lang="en-IN" b="1" u="sng" dirty="0"/>
              <a:t>AS</a:t>
            </a:r>
            <a:r>
              <a:rPr lang="en-IN" u="sng" dirty="0"/>
              <a:t>).</a:t>
            </a:r>
          </a:p>
        </p:txBody>
      </p:sp>
      <p:pic>
        <p:nvPicPr>
          <p:cNvPr id="4" name="Picture 3"/>
          <p:cNvPicPr>
            <a:picLocks noChangeAspect="1"/>
          </p:cNvPicPr>
          <p:nvPr/>
        </p:nvPicPr>
        <p:blipFill>
          <a:blip r:embed="rId2"/>
          <a:stretch>
            <a:fillRect/>
          </a:stretch>
        </p:blipFill>
        <p:spPr>
          <a:xfrm>
            <a:off x="2338251" y="4402183"/>
            <a:ext cx="7315200" cy="2158772"/>
          </a:xfrm>
          <a:prstGeom prst="rect">
            <a:avLst/>
          </a:prstGeom>
        </p:spPr>
      </p:pic>
    </p:spTree>
    <p:extLst>
      <p:ext uri="{BB962C8B-B14F-4D97-AF65-F5344CB8AC3E}">
        <p14:creationId xmlns:p14="http://schemas.microsoft.com/office/powerpoint/2010/main" val="3962878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Fragmentation</a:t>
            </a:r>
            <a:endParaRPr lang="en-IN" dirty="0"/>
          </a:p>
        </p:txBody>
      </p:sp>
      <p:sp>
        <p:nvSpPr>
          <p:cNvPr id="3" name="Content Placeholder 2"/>
          <p:cNvSpPr>
            <a:spLocks noGrp="1"/>
          </p:cNvSpPr>
          <p:nvPr>
            <p:ph idx="1"/>
          </p:nvPr>
        </p:nvSpPr>
        <p:spPr/>
        <p:txBody>
          <a:bodyPr/>
          <a:lstStyle/>
          <a:p>
            <a:r>
              <a:rPr lang="en-IN" dirty="0"/>
              <a:t>Break up packets into </a:t>
            </a:r>
            <a:r>
              <a:rPr lang="en-US" b="1" dirty="0"/>
              <a:t>fragments</a:t>
            </a:r>
            <a:r>
              <a:rPr lang="en-US" dirty="0"/>
              <a:t>, </a:t>
            </a:r>
            <a:r>
              <a:rPr lang="en-US" u="sng" dirty="0"/>
              <a:t>sending each fragment as a separate internet packet</a:t>
            </a:r>
            <a:endParaRPr lang="en-IN" u="sng" dirty="0"/>
          </a:p>
        </p:txBody>
      </p:sp>
    </p:spTree>
    <p:extLst>
      <p:ext uri="{BB962C8B-B14F-4D97-AF65-F5344CB8AC3E}">
        <p14:creationId xmlns:p14="http://schemas.microsoft.com/office/powerpoint/2010/main" val="2988452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174" y="874507"/>
            <a:ext cx="11595652" cy="3436236"/>
          </a:xfrm>
        </p:spPr>
        <p:txBody>
          <a:bodyPr>
            <a:normAutofit fontScale="92500" lnSpcReduction="20000"/>
          </a:bodyPr>
          <a:lstStyle/>
          <a:p>
            <a:pPr algn="just"/>
            <a:r>
              <a:rPr lang="en-IN" b="1" i="1" dirty="0"/>
              <a:t>Transparent fragmentation.</a:t>
            </a:r>
            <a:r>
              <a:rPr lang="en-US" dirty="0"/>
              <a:t>:</a:t>
            </a:r>
          </a:p>
          <a:p>
            <a:pPr algn="just"/>
            <a:r>
              <a:rPr lang="en-US" dirty="0"/>
              <a:t>In this approach, the small-packet network has gateways that interface to other networks. </a:t>
            </a:r>
          </a:p>
          <a:p>
            <a:pPr algn="just"/>
            <a:r>
              <a:rPr lang="en-US" dirty="0"/>
              <a:t>When an oversized packet arrives at </a:t>
            </a:r>
            <a:r>
              <a:rPr lang="en-US" u="sng" dirty="0"/>
              <a:t>a gateway, the gateway breaks it up into fragments. </a:t>
            </a:r>
          </a:p>
          <a:p>
            <a:pPr algn="just"/>
            <a:r>
              <a:rPr lang="en-US" dirty="0"/>
              <a:t>Each fragment is addressed to the </a:t>
            </a:r>
            <a:r>
              <a:rPr lang="en-US" u="sng" dirty="0"/>
              <a:t>same exit gateway, where the pieces are recombined</a:t>
            </a:r>
            <a:r>
              <a:rPr lang="en-US" dirty="0"/>
              <a:t>. </a:t>
            </a:r>
          </a:p>
          <a:p>
            <a:pPr algn="just"/>
            <a:r>
              <a:rPr lang="en-US" dirty="0"/>
              <a:t>In this way passage through the small-packet network has been made transparent. Subsequent networks are not even aware that fragmentation has occurred.</a:t>
            </a:r>
            <a:endParaRPr lang="en-IN" dirty="0"/>
          </a:p>
        </p:txBody>
      </p:sp>
      <p:pic>
        <p:nvPicPr>
          <p:cNvPr id="5" name="Picture 4">
            <a:extLst>
              <a:ext uri="{FF2B5EF4-FFF2-40B4-BE49-F238E27FC236}">
                <a16:creationId xmlns:a16="http://schemas.microsoft.com/office/drawing/2014/main" id="{DDE967C6-3C46-1373-5937-258E64C86592}"/>
              </a:ext>
            </a:extLst>
          </p:cNvPr>
          <p:cNvPicPr>
            <a:picLocks noChangeAspect="1"/>
          </p:cNvPicPr>
          <p:nvPr/>
        </p:nvPicPr>
        <p:blipFill>
          <a:blip r:embed="rId2"/>
          <a:stretch>
            <a:fillRect/>
          </a:stretch>
        </p:blipFill>
        <p:spPr>
          <a:xfrm>
            <a:off x="2476584" y="4414652"/>
            <a:ext cx="8545118" cy="2333951"/>
          </a:xfrm>
          <a:prstGeom prst="rect">
            <a:avLst/>
          </a:prstGeom>
        </p:spPr>
      </p:pic>
    </p:spTree>
    <p:extLst>
      <p:ext uri="{BB962C8B-B14F-4D97-AF65-F5344CB8AC3E}">
        <p14:creationId xmlns:p14="http://schemas.microsoft.com/office/powerpoint/2010/main" val="3000617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solidFill>
                  <a:srgbClr val="FF0000"/>
                </a:solidFill>
              </a:rPr>
              <a:t>Problem:</a:t>
            </a:r>
          </a:p>
          <a:p>
            <a:r>
              <a:rPr lang="en-US" u="sng" dirty="0"/>
              <a:t>when it has received all the pieces</a:t>
            </a:r>
            <a:r>
              <a:rPr lang="en-US" dirty="0"/>
              <a:t>, so either a count field or an ''end of packet'' bit must be provided. </a:t>
            </a:r>
          </a:p>
          <a:p>
            <a:r>
              <a:rPr lang="en-US" dirty="0"/>
              <a:t>For another thing, all packets must </a:t>
            </a:r>
            <a:r>
              <a:rPr lang="en-US" u="sng" dirty="0"/>
              <a:t>exit via the same gateway</a:t>
            </a:r>
            <a:r>
              <a:rPr lang="en-US" dirty="0"/>
              <a:t>.</a:t>
            </a:r>
          </a:p>
          <a:p>
            <a:r>
              <a:rPr lang="en-US" dirty="0"/>
              <a:t>A last problem is the </a:t>
            </a:r>
            <a:r>
              <a:rPr lang="en-US" u="sng" dirty="0"/>
              <a:t>overhead required </a:t>
            </a:r>
            <a:r>
              <a:rPr lang="en-US" dirty="0"/>
              <a:t>to repeatedly reassemble and then </a:t>
            </a:r>
            <a:r>
              <a:rPr lang="en-US" dirty="0" err="1"/>
              <a:t>refragment</a:t>
            </a:r>
            <a:r>
              <a:rPr lang="en-US" dirty="0"/>
              <a:t> a large packet passing through a series of small-packet networks. </a:t>
            </a:r>
            <a:endParaRPr lang="en-IN" dirty="0"/>
          </a:p>
        </p:txBody>
      </p:sp>
    </p:spTree>
    <p:extLst>
      <p:ext uri="{BB962C8B-B14F-4D97-AF65-F5344CB8AC3E}">
        <p14:creationId xmlns:p14="http://schemas.microsoft.com/office/powerpoint/2010/main" val="1513992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A323F-A2A2-DF78-36E0-E3C8ACF7D1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33FA26-CB1C-26E1-5D20-98824FFE5B00}"/>
              </a:ext>
            </a:extLst>
          </p:cNvPr>
          <p:cNvSpPr>
            <a:spLocks noGrp="1"/>
          </p:cNvSpPr>
          <p:nvPr>
            <p:ph idx="1"/>
          </p:nvPr>
        </p:nvSpPr>
        <p:spPr>
          <a:xfrm>
            <a:off x="838200" y="1825625"/>
            <a:ext cx="10619792" cy="2298506"/>
          </a:xfrm>
        </p:spPr>
        <p:txBody>
          <a:bodyPr>
            <a:normAutofit fontScale="92500" lnSpcReduction="20000"/>
          </a:bodyPr>
          <a:lstStyle/>
          <a:p>
            <a:r>
              <a:rPr lang="en-IN" b="1" i="1" dirty="0" err="1"/>
              <a:t>Nontransparent</a:t>
            </a:r>
            <a:r>
              <a:rPr lang="en-IN" b="1" i="1" dirty="0"/>
              <a:t> fragmentation:</a:t>
            </a:r>
          </a:p>
          <a:p>
            <a:r>
              <a:rPr lang="en-US" dirty="0"/>
              <a:t>The other fragmentation strategy is to refrain from </a:t>
            </a:r>
            <a:r>
              <a:rPr lang="en-US" u="sng" dirty="0"/>
              <a:t>recombining fragments </a:t>
            </a:r>
            <a:r>
              <a:rPr lang="en-US" dirty="0"/>
              <a:t>at any intermediate gateways. </a:t>
            </a:r>
          </a:p>
          <a:p>
            <a:r>
              <a:rPr lang="en-US" dirty="0"/>
              <a:t>Once a packet has been fragmented, each fragment is treated as though </a:t>
            </a:r>
            <a:r>
              <a:rPr lang="en-US" u="sng" dirty="0"/>
              <a:t>it were an </a:t>
            </a:r>
            <a:r>
              <a:rPr lang="en-IN" u="sng" dirty="0"/>
              <a:t>original packet</a:t>
            </a:r>
            <a:r>
              <a:rPr lang="en-IN" dirty="0"/>
              <a:t>.</a:t>
            </a:r>
            <a:r>
              <a:rPr lang="en-US" dirty="0"/>
              <a:t> </a:t>
            </a:r>
          </a:p>
          <a:p>
            <a:r>
              <a:rPr lang="en-US" u="sng" dirty="0"/>
              <a:t>Recombination occurs only at the destination host.</a:t>
            </a:r>
            <a:r>
              <a:rPr lang="en-US" dirty="0"/>
              <a:t> IP works this way.</a:t>
            </a:r>
          </a:p>
          <a:p>
            <a:endParaRPr lang="en-IN" dirty="0"/>
          </a:p>
        </p:txBody>
      </p:sp>
      <p:pic>
        <p:nvPicPr>
          <p:cNvPr id="5" name="Picture 4">
            <a:extLst>
              <a:ext uri="{FF2B5EF4-FFF2-40B4-BE49-F238E27FC236}">
                <a16:creationId xmlns:a16="http://schemas.microsoft.com/office/drawing/2014/main" id="{74DD077F-C9B6-CEF1-607F-CCF1D9998DE3}"/>
              </a:ext>
            </a:extLst>
          </p:cNvPr>
          <p:cNvPicPr>
            <a:picLocks noChangeAspect="1"/>
          </p:cNvPicPr>
          <p:nvPr/>
        </p:nvPicPr>
        <p:blipFill>
          <a:blip r:embed="rId2"/>
          <a:stretch>
            <a:fillRect/>
          </a:stretch>
        </p:blipFill>
        <p:spPr>
          <a:xfrm>
            <a:off x="2016578" y="4416135"/>
            <a:ext cx="8364117" cy="2076740"/>
          </a:xfrm>
          <a:prstGeom prst="rect">
            <a:avLst/>
          </a:prstGeom>
        </p:spPr>
      </p:pic>
    </p:spTree>
    <p:extLst>
      <p:ext uri="{BB962C8B-B14F-4D97-AF65-F5344CB8AC3E}">
        <p14:creationId xmlns:p14="http://schemas.microsoft.com/office/powerpoint/2010/main" val="33211382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2121"/>
            <a:ext cx="10770704" cy="5936975"/>
          </a:xfrm>
        </p:spPr>
        <p:txBody>
          <a:bodyPr>
            <a:normAutofit/>
          </a:bodyPr>
          <a:lstStyle/>
          <a:p>
            <a:r>
              <a:rPr lang="en-US" dirty="0">
                <a:solidFill>
                  <a:srgbClr val="FF0000"/>
                </a:solidFill>
              </a:rPr>
              <a:t>Problem:</a:t>
            </a:r>
          </a:p>
          <a:p>
            <a:r>
              <a:rPr lang="en-US" dirty="0"/>
              <a:t>it requires </a:t>
            </a:r>
            <a:r>
              <a:rPr lang="en-US" i="1" dirty="0"/>
              <a:t>every </a:t>
            </a:r>
            <a:r>
              <a:rPr lang="en-US" u="sng" dirty="0"/>
              <a:t>host to be able to do reassembly. </a:t>
            </a:r>
          </a:p>
          <a:p>
            <a:r>
              <a:rPr lang="en-US" dirty="0"/>
              <a:t> another problem is that when a</a:t>
            </a:r>
            <a:r>
              <a:rPr lang="en-US" u="sng" dirty="0"/>
              <a:t> large packet is fragmented, </a:t>
            </a:r>
            <a:r>
              <a:rPr lang="en-US" dirty="0"/>
              <a:t>the total overhead increases because each fragment must have a header. </a:t>
            </a:r>
          </a:p>
          <a:p>
            <a:r>
              <a:rPr lang="en-US" dirty="0">
                <a:solidFill>
                  <a:srgbClr val="FF0000"/>
                </a:solidFill>
              </a:rPr>
              <a:t>An advantage :</a:t>
            </a:r>
          </a:p>
          <a:p>
            <a:r>
              <a:rPr lang="en-US" dirty="0"/>
              <a:t>multiple exit gateways can now be used and higher performance can be achieved. </a:t>
            </a:r>
            <a:endParaRPr lang="en-IN" dirty="0"/>
          </a:p>
        </p:txBody>
      </p:sp>
    </p:spTree>
    <p:extLst>
      <p:ext uri="{BB962C8B-B14F-4D97-AF65-F5344CB8AC3E}">
        <p14:creationId xmlns:p14="http://schemas.microsoft.com/office/powerpoint/2010/main" val="2178848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38756-33EF-6313-232D-C75DDA4F70CE}"/>
              </a:ext>
            </a:extLst>
          </p:cNvPr>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481672" y="365125"/>
            <a:ext cx="11034305" cy="5812971"/>
          </a:xfrm>
          <a:prstGeom prst="rect">
            <a:avLst/>
          </a:prstGeom>
        </p:spPr>
      </p:pic>
    </p:spTree>
    <p:extLst>
      <p:ext uri="{BB962C8B-B14F-4D97-AF65-F5344CB8AC3E}">
        <p14:creationId xmlns:p14="http://schemas.microsoft.com/office/powerpoint/2010/main" val="3201311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940526" y="492071"/>
            <a:ext cx="10413274" cy="5934856"/>
          </a:xfrm>
          <a:prstGeom prst="rect">
            <a:avLst/>
          </a:prstGeom>
        </p:spPr>
      </p:pic>
    </p:spTree>
    <p:extLst>
      <p:ext uri="{BB962C8B-B14F-4D97-AF65-F5344CB8AC3E}">
        <p14:creationId xmlns:p14="http://schemas.microsoft.com/office/powerpoint/2010/main" val="2249146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70F88-B88A-068F-AC10-2F9FEDAB8779}"/>
              </a:ext>
            </a:extLst>
          </p:cNvPr>
          <p:cNvSpPr>
            <a:spLocks noGrp="1"/>
          </p:cNvSpPr>
          <p:nvPr>
            <p:ph type="title"/>
          </p:nvPr>
        </p:nvSpPr>
        <p:spPr>
          <a:xfrm>
            <a:off x="464976" y="342513"/>
            <a:ext cx="10515600" cy="1030516"/>
          </a:xfrm>
        </p:spPr>
        <p:txBody>
          <a:bodyPr/>
          <a:lstStyle/>
          <a:p>
            <a:r>
              <a:rPr lang="en-IN" dirty="0"/>
              <a:t>Integrated Services </a:t>
            </a:r>
          </a:p>
        </p:txBody>
      </p:sp>
      <p:sp>
        <p:nvSpPr>
          <p:cNvPr id="4" name="Rectangle 1">
            <a:extLst>
              <a:ext uri="{FF2B5EF4-FFF2-40B4-BE49-F238E27FC236}">
                <a16:creationId xmlns:a16="http://schemas.microsoft.com/office/drawing/2014/main" id="{CC29CC24-403E-DFFA-1E9E-F3E39082AE79}"/>
              </a:ext>
            </a:extLst>
          </p:cNvPr>
          <p:cNvSpPr>
            <a:spLocks noGrp="1" noChangeArrowheads="1"/>
          </p:cNvSpPr>
          <p:nvPr>
            <p:ph idx="1"/>
          </p:nvPr>
        </p:nvSpPr>
        <p:spPr bwMode="auto">
          <a:xfrm>
            <a:off x="361950" y="1395641"/>
            <a:ext cx="1099185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t>Integrated Services (</a:t>
            </a:r>
            <a:r>
              <a:rPr lang="en-US" altLang="en-US" dirty="0" err="1"/>
              <a:t>IntServ</a:t>
            </a:r>
            <a:r>
              <a:rPr lang="en-US" altLang="en-US" dirty="0"/>
              <a:t>) was developed by the IETF between 1995 and 1997 to </a:t>
            </a:r>
            <a:r>
              <a:rPr lang="en-US" altLang="en-US" dirty="0">
                <a:solidFill>
                  <a:schemeClr val="tx1">
                    <a:lumMod val="20000"/>
                    <a:lumOff val="80000"/>
                  </a:schemeClr>
                </a:solidFill>
              </a:rPr>
              <a:t>support streaming multimedia, such as video and audio, over the Internet.</a:t>
            </a:r>
          </a:p>
          <a:p>
            <a:pPr eaLnBrk="0" fontAlgn="base" hangingPunct="0">
              <a:lnSpc>
                <a:spcPct val="100000"/>
              </a:lnSpc>
              <a:spcBef>
                <a:spcPct val="0"/>
              </a:spcBef>
              <a:spcAft>
                <a:spcPct val="0"/>
              </a:spcAft>
            </a:pPr>
            <a:r>
              <a:rPr lang="en-US" altLang="en-US" dirty="0"/>
              <a:t>It aimed to </a:t>
            </a:r>
            <a:r>
              <a:rPr lang="en-US" altLang="en-US" dirty="0">
                <a:solidFill>
                  <a:schemeClr val="tx1">
                    <a:lumMod val="20000"/>
                    <a:lumOff val="80000"/>
                  </a:schemeClr>
                </a:solidFill>
              </a:rPr>
              <a:t>provide Quality of Service (QoS) by reserving network </a:t>
            </a:r>
            <a:r>
              <a:rPr lang="en-US" altLang="en-US" dirty="0"/>
              <a:t>resources for specific data flows.</a:t>
            </a:r>
          </a:p>
          <a:p>
            <a:pPr eaLnBrk="0" fontAlgn="base" hangingPunct="0">
              <a:lnSpc>
                <a:spcPct val="100000"/>
              </a:lnSpc>
              <a:spcBef>
                <a:spcPct val="0"/>
              </a:spcBef>
              <a:spcAft>
                <a:spcPct val="0"/>
              </a:spcAft>
            </a:pPr>
            <a:r>
              <a:rPr lang="en-US" altLang="en-US" dirty="0"/>
              <a:t>The system </a:t>
            </a:r>
            <a:r>
              <a:rPr lang="en-US" altLang="en-US" dirty="0">
                <a:solidFill>
                  <a:schemeClr val="tx1">
                    <a:lumMod val="20000"/>
                    <a:lumOff val="80000"/>
                  </a:schemeClr>
                </a:solidFill>
              </a:rPr>
              <a:t>was designed for both unicast (one-to-one) and multicast (one-to-many) communication.</a:t>
            </a:r>
          </a:p>
          <a:p>
            <a:pPr eaLnBrk="0" fontAlgn="base" hangingPunct="0">
              <a:lnSpc>
                <a:spcPct val="100000"/>
              </a:lnSpc>
              <a:spcBef>
                <a:spcPct val="0"/>
              </a:spcBef>
              <a:spcAft>
                <a:spcPct val="0"/>
              </a:spcAft>
            </a:pPr>
            <a:r>
              <a:rPr lang="en-US" altLang="en-US" dirty="0"/>
              <a:t>In multicast, users can join or leave a group dynamically—like people entering or exiting a video conference.</a:t>
            </a:r>
          </a:p>
          <a:p>
            <a:pPr eaLnBrk="0" fontAlgn="base" hangingPunct="0">
              <a:lnSpc>
                <a:spcPct val="100000"/>
              </a:lnSpc>
              <a:spcBef>
                <a:spcPct val="0"/>
              </a:spcBef>
              <a:spcAft>
                <a:spcPct val="0"/>
              </a:spcAft>
            </a:pPr>
            <a:r>
              <a:rPr lang="en-US" altLang="en-US" dirty="0"/>
              <a:t>Because of these changing group memberships,</a:t>
            </a:r>
            <a:r>
              <a:rPr lang="en-US" altLang="en-US" dirty="0">
                <a:solidFill>
                  <a:schemeClr val="tx1">
                    <a:lumMod val="20000"/>
                    <a:lumOff val="80000"/>
                  </a:schemeClr>
                </a:solidFill>
              </a:rPr>
              <a:t> pre-reserving bandwidth for all receivers is impractical</a:t>
            </a:r>
            <a:r>
              <a:rPr lang="en-US" altLang="en-US" dirty="0"/>
              <a:t>, especially for large audiences.</a:t>
            </a:r>
          </a:p>
        </p:txBody>
      </p:sp>
    </p:spTree>
    <p:extLst>
      <p:ext uri="{BB962C8B-B14F-4D97-AF65-F5344CB8AC3E}">
        <p14:creationId xmlns:p14="http://schemas.microsoft.com/office/powerpoint/2010/main" val="895556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19513-3EAA-7CA7-5B2E-530939737F28}"/>
              </a:ext>
            </a:extLst>
          </p:cNvPr>
          <p:cNvSpPr>
            <a:spLocks noGrp="1"/>
          </p:cNvSpPr>
          <p:nvPr>
            <p:ph type="title"/>
          </p:nvPr>
        </p:nvSpPr>
        <p:spPr>
          <a:xfrm>
            <a:off x="838200" y="365125"/>
            <a:ext cx="10515600" cy="950491"/>
          </a:xfrm>
        </p:spPr>
        <p:txBody>
          <a:bodyPr/>
          <a:lstStyle/>
          <a:p>
            <a:r>
              <a:rPr lang="en-US" dirty="0"/>
              <a:t>RSVP—The Resource </a:t>
            </a:r>
            <a:r>
              <a:rPr lang="en-US" dirty="0" err="1"/>
              <a:t>reSerVation</a:t>
            </a:r>
            <a:r>
              <a:rPr lang="en-US" dirty="0"/>
              <a:t> Protocol</a:t>
            </a:r>
            <a:endParaRPr lang="en-IN" dirty="0"/>
          </a:p>
        </p:txBody>
      </p:sp>
      <p:sp>
        <p:nvSpPr>
          <p:cNvPr id="4" name="Rectangle 1">
            <a:extLst>
              <a:ext uri="{FF2B5EF4-FFF2-40B4-BE49-F238E27FC236}">
                <a16:creationId xmlns:a16="http://schemas.microsoft.com/office/drawing/2014/main" id="{F6C4831C-AD5D-EB72-0E69-8AA87BA0DC9A}"/>
              </a:ext>
            </a:extLst>
          </p:cNvPr>
          <p:cNvSpPr>
            <a:spLocks noGrp="1" noChangeArrowheads="1"/>
          </p:cNvSpPr>
          <p:nvPr>
            <p:ph idx="1"/>
          </p:nvPr>
        </p:nvSpPr>
        <p:spPr bwMode="auto">
          <a:xfrm>
            <a:off x="322295" y="1478839"/>
            <a:ext cx="1110615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t>To solve this, the IETF introduced the </a:t>
            </a:r>
            <a:r>
              <a:rPr lang="en-US" altLang="en-US" dirty="0">
                <a:solidFill>
                  <a:schemeClr val="tx1">
                    <a:lumMod val="20000"/>
                    <a:lumOff val="80000"/>
                  </a:schemeClr>
                </a:solidFill>
              </a:rPr>
              <a:t>Resource </a:t>
            </a:r>
            <a:r>
              <a:rPr lang="en-US" altLang="en-US" dirty="0" err="1">
                <a:solidFill>
                  <a:schemeClr val="tx1">
                    <a:lumMod val="20000"/>
                    <a:lumOff val="80000"/>
                  </a:schemeClr>
                </a:solidFill>
              </a:rPr>
              <a:t>reSerVation</a:t>
            </a:r>
            <a:r>
              <a:rPr lang="en-US" altLang="en-US" dirty="0">
                <a:solidFill>
                  <a:schemeClr val="tx1">
                    <a:lumMod val="20000"/>
                    <a:lumOff val="80000"/>
                  </a:schemeClr>
                </a:solidFill>
              </a:rPr>
              <a:t> Protocol </a:t>
            </a:r>
            <a:r>
              <a:rPr lang="en-US" altLang="en-US" dirty="0"/>
              <a:t>(RSVP), described in RFC 2205.</a:t>
            </a:r>
          </a:p>
          <a:p>
            <a:pPr eaLnBrk="0" fontAlgn="base" hangingPunct="0">
              <a:lnSpc>
                <a:spcPct val="100000"/>
              </a:lnSpc>
              <a:spcBef>
                <a:spcPct val="0"/>
              </a:spcBef>
              <a:spcAft>
                <a:spcPct val="0"/>
              </a:spcAft>
            </a:pPr>
            <a:r>
              <a:rPr lang="en-US" altLang="en-US" dirty="0"/>
              <a:t>RSVP handles the reservation of resources such as</a:t>
            </a:r>
            <a:r>
              <a:rPr lang="en-US" altLang="en-US" dirty="0">
                <a:solidFill>
                  <a:schemeClr val="tx1">
                    <a:lumMod val="20000"/>
                    <a:lumOff val="80000"/>
                  </a:schemeClr>
                </a:solidFill>
              </a:rPr>
              <a:t> bandwidth along the communication path </a:t>
            </a:r>
            <a:r>
              <a:rPr lang="en-US" altLang="en-US" dirty="0"/>
              <a:t>but does not transmit data itself.</a:t>
            </a:r>
          </a:p>
          <a:p>
            <a:pPr eaLnBrk="0" fontAlgn="base" hangingPunct="0">
              <a:lnSpc>
                <a:spcPct val="100000"/>
              </a:lnSpc>
              <a:spcBef>
                <a:spcPct val="0"/>
              </a:spcBef>
              <a:spcAft>
                <a:spcPct val="0"/>
              </a:spcAft>
            </a:pPr>
            <a:r>
              <a:rPr lang="en-US" altLang="en-US" dirty="0"/>
              <a:t>It allows </a:t>
            </a:r>
            <a:r>
              <a:rPr lang="en-US" altLang="en-US" dirty="0">
                <a:solidFill>
                  <a:schemeClr val="tx1">
                    <a:lumMod val="20000"/>
                    <a:lumOff val="80000"/>
                  </a:schemeClr>
                </a:solidFill>
              </a:rPr>
              <a:t>multiple senders and receivers to communicate efficiently </a:t>
            </a:r>
            <a:r>
              <a:rPr lang="en-US" altLang="en-US" dirty="0"/>
              <a:t>while avoiding network congestion.</a:t>
            </a:r>
          </a:p>
          <a:p>
            <a:pPr eaLnBrk="0" fontAlgn="base" hangingPunct="0">
              <a:lnSpc>
                <a:spcPct val="100000"/>
              </a:lnSpc>
              <a:spcBef>
                <a:spcPct val="0"/>
              </a:spcBef>
              <a:spcAft>
                <a:spcPct val="0"/>
              </a:spcAft>
            </a:pPr>
            <a:r>
              <a:rPr lang="en-US" altLang="en-US" dirty="0">
                <a:solidFill>
                  <a:schemeClr val="tx1">
                    <a:lumMod val="20000"/>
                    <a:lumOff val="80000"/>
                  </a:schemeClr>
                </a:solidFill>
              </a:rPr>
              <a:t>RSVP operates over multicast routing</a:t>
            </a:r>
            <a:r>
              <a:rPr lang="en-US" altLang="en-US" dirty="0"/>
              <a:t>, where each </a:t>
            </a:r>
            <a:r>
              <a:rPr lang="en-US" altLang="en-US" u="sng" dirty="0"/>
              <a:t>group is assigned a group address and packets are sent along a spanning tree </a:t>
            </a:r>
            <a:r>
              <a:rPr lang="en-US" altLang="en-US" dirty="0"/>
              <a:t>connecting all members.</a:t>
            </a:r>
          </a:p>
          <a:p>
            <a:pPr eaLnBrk="0" fontAlgn="base" hangingPunct="0">
              <a:lnSpc>
                <a:spcPct val="100000"/>
              </a:lnSpc>
              <a:spcBef>
                <a:spcPct val="0"/>
              </a:spcBef>
              <a:spcAft>
                <a:spcPct val="0"/>
              </a:spcAft>
            </a:pPr>
            <a:r>
              <a:rPr lang="en-US" altLang="en-US" dirty="0"/>
              <a:t>The main difference from normal multicast is that </a:t>
            </a:r>
            <a:r>
              <a:rPr lang="en-US" altLang="en-US" dirty="0">
                <a:solidFill>
                  <a:schemeClr val="tx1">
                    <a:lumMod val="20000"/>
                    <a:lumOff val="80000"/>
                  </a:schemeClr>
                </a:solidFill>
              </a:rPr>
              <a:t>RSVP sends extra control messages to routers</a:t>
            </a:r>
            <a:r>
              <a:rPr lang="en-US" altLang="en-US" dirty="0"/>
              <a:t> so they can maintain the necessary data structures for QoS reservations.</a:t>
            </a:r>
          </a:p>
        </p:txBody>
      </p:sp>
    </p:spTree>
    <p:extLst>
      <p:ext uri="{BB962C8B-B14F-4D97-AF65-F5344CB8AC3E}">
        <p14:creationId xmlns:p14="http://schemas.microsoft.com/office/powerpoint/2010/main" val="3960024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0079E-8FD0-0C6C-FA4D-B985AA3AB147}"/>
              </a:ext>
            </a:extLst>
          </p:cNvPr>
          <p:cNvSpPr>
            <a:spLocks noGrp="1"/>
          </p:cNvSpPr>
          <p:nvPr>
            <p:ph type="title"/>
          </p:nvPr>
        </p:nvSpPr>
        <p:spPr>
          <a:xfrm>
            <a:off x="838200" y="365126"/>
            <a:ext cx="10515600" cy="717226"/>
          </a:xfrm>
        </p:spPr>
        <p:txBody>
          <a:bodyPr/>
          <a:lstStyle/>
          <a:p>
            <a:endParaRPr lang="en-IN" dirty="0"/>
          </a:p>
        </p:txBody>
      </p:sp>
      <p:sp>
        <p:nvSpPr>
          <p:cNvPr id="3" name="Content Placeholder 2">
            <a:extLst>
              <a:ext uri="{FF2B5EF4-FFF2-40B4-BE49-F238E27FC236}">
                <a16:creationId xmlns:a16="http://schemas.microsoft.com/office/drawing/2014/main" id="{B5648777-89DF-6FB1-6750-94DE64CD03C6}"/>
              </a:ext>
            </a:extLst>
          </p:cNvPr>
          <p:cNvSpPr>
            <a:spLocks noGrp="1"/>
          </p:cNvSpPr>
          <p:nvPr>
            <p:ph idx="1"/>
          </p:nvPr>
        </p:nvSpPr>
        <p:spPr>
          <a:xfrm>
            <a:off x="455644" y="1546267"/>
            <a:ext cx="11002347" cy="1178832"/>
          </a:xfrm>
        </p:spPr>
        <p:txBody>
          <a:bodyPr>
            <a:normAutofit fontScale="85000" lnSpcReduction="20000"/>
          </a:bodyPr>
          <a:lstStyle/>
          <a:p>
            <a:r>
              <a:rPr lang="en-US" dirty="0"/>
              <a:t>As an example, consider the network of Fig. (a) . Hosts 1 and 2 are multicast senders, and hosts 3, 4, and 5 are multicast receivers. In this example, the senders and receivers are disjoint, but in general, the two sets may overlap. The multicast trees for hosts 1 and 2 are shown in Fig. (b) and Fig. (c) , respectively. </a:t>
            </a:r>
            <a:endParaRPr lang="en-IN" dirty="0"/>
          </a:p>
        </p:txBody>
      </p:sp>
      <p:pic>
        <p:nvPicPr>
          <p:cNvPr id="5" name="Picture 4">
            <a:extLst>
              <a:ext uri="{FF2B5EF4-FFF2-40B4-BE49-F238E27FC236}">
                <a16:creationId xmlns:a16="http://schemas.microsoft.com/office/drawing/2014/main" id="{62997889-A14D-3A4A-F990-8C91E7879597}"/>
              </a:ext>
            </a:extLst>
          </p:cNvPr>
          <p:cNvPicPr>
            <a:picLocks noChangeAspect="1"/>
          </p:cNvPicPr>
          <p:nvPr/>
        </p:nvPicPr>
        <p:blipFill>
          <a:blip r:embed="rId2"/>
          <a:stretch>
            <a:fillRect/>
          </a:stretch>
        </p:blipFill>
        <p:spPr>
          <a:xfrm>
            <a:off x="2674034" y="2793369"/>
            <a:ext cx="6565566" cy="3868687"/>
          </a:xfrm>
          <a:prstGeom prst="rect">
            <a:avLst/>
          </a:prstGeom>
        </p:spPr>
      </p:pic>
    </p:spTree>
    <p:extLst>
      <p:ext uri="{BB962C8B-B14F-4D97-AF65-F5344CB8AC3E}">
        <p14:creationId xmlns:p14="http://schemas.microsoft.com/office/powerpoint/2010/main" val="2439301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3BCDA-8F6E-C2B1-FFBA-AA86497FFCE2}"/>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4DC99985-66BF-BA97-5D78-9426519DF846}"/>
              </a:ext>
            </a:extLst>
          </p:cNvPr>
          <p:cNvSpPr>
            <a:spLocks noGrp="1" noChangeArrowheads="1"/>
          </p:cNvSpPr>
          <p:nvPr>
            <p:ph idx="1"/>
          </p:nvPr>
        </p:nvSpPr>
        <p:spPr bwMode="auto">
          <a:xfrm>
            <a:off x="681135" y="2074143"/>
            <a:ext cx="1067266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Any receiver in a multicast group can </a:t>
            </a:r>
            <a:r>
              <a:rPr lang="en-US" altLang="en-US" dirty="0">
                <a:solidFill>
                  <a:schemeClr val="tx1">
                    <a:lumMod val="20000"/>
                    <a:lumOff val="80000"/>
                  </a:schemeClr>
                </a:solidFill>
              </a:rPr>
              <a:t>send a reservation message toward the sender</a:t>
            </a:r>
            <a:r>
              <a:rPr lang="en-US" altLang="en-US" dirty="0"/>
              <a:t> to request better reception and avoid congestion.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This message travels up the spanning tree using the reverse path forwarding algorithm, and </a:t>
            </a:r>
            <a:r>
              <a:rPr lang="en-US" altLang="en-US" dirty="0">
                <a:solidFill>
                  <a:schemeClr val="tx1">
                    <a:lumMod val="20000"/>
                    <a:lumOff val="80000"/>
                  </a:schemeClr>
                </a:solidFill>
              </a:rPr>
              <a:t>each router along the way reserves the required bandwidth.</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If all routers along the path can reserve the needed bandwidth, a complete end-to-end reservation is established; otherwise, the receiver is informed of the failure.</a:t>
            </a:r>
          </a:p>
        </p:txBody>
      </p:sp>
    </p:spTree>
    <p:extLst>
      <p:ext uri="{BB962C8B-B14F-4D97-AF65-F5344CB8AC3E}">
        <p14:creationId xmlns:p14="http://schemas.microsoft.com/office/powerpoint/2010/main" val="25089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8E9CB-10E3-A377-CB9C-668CA87976FB}"/>
              </a:ext>
            </a:extLst>
          </p:cNvPr>
          <p:cNvSpPr>
            <a:spLocks noGrp="1"/>
          </p:cNvSpPr>
          <p:nvPr>
            <p:ph idx="1"/>
          </p:nvPr>
        </p:nvSpPr>
        <p:spPr>
          <a:xfrm>
            <a:off x="186612" y="130629"/>
            <a:ext cx="11915192" cy="3415003"/>
          </a:xfrm>
        </p:spPr>
        <p:txBody>
          <a:bodyPr>
            <a:normAutofit fontScale="77500" lnSpcReduction="20000"/>
          </a:bodyPr>
          <a:lstStyle/>
          <a:p>
            <a:r>
              <a:rPr lang="en-US" dirty="0"/>
              <a:t>An example of such a reservation is shown in Fig. 5-38(a) . Here host 3 has requested a channel to host 1. Once it has been established, packets can flow from 1 to 3 without congestion. Now consider what happens if host 3 next reserves a channel to the other sender, host 2, so the user can watch two television programs at once. A second path is reserved, as illustrated in Fig. 5-38(b) . Note that two separate channels are needed from host 3 to router E because two independent streams are being transmitted. </a:t>
            </a:r>
          </a:p>
          <a:p>
            <a:r>
              <a:rPr lang="en-US" dirty="0"/>
              <a:t>Finally, in Fig. 5-38(c) , host 5 decides to watch the program being transmitted by host 1 and also makes a reservation. First, dedicated bandwidth is reserved as far as router H. However, this router sees that it already has a feed from host 1, so if the necessary bandwidth has already been reserved, it does not have to reserve any more. Note that hosts 3 and 5 might have asked for different amounts of bandwidth (e.g., 3 has a black-and-white television set, so it does not want the color information), so the capacity reserved must be large enough to satisfy the greediest receiver. </a:t>
            </a:r>
            <a:endParaRPr lang="en-IN" dirty="0"/>
          </a:p>
        </p:txBody>
      </p:sp>
      <p:pic>
        <p:nvPicPr>
          <p:cNvPr id="9" name="Picture 8">
            <a:extLst>
              <a:ext uri="{FF2B5EF4-FFF2-40B4-BE49-F238E27FC236}">
                <a16:creationId xmlns:a16="http://schemas.microsoft.com/office/drawing/2014/main" id="{144D9EBE-2880-9B56-FD45-89A7DBECBBDA}"/>
              </a:ext>
            </a:extLst>
          </p:cNvPr>
          <p:cNvPicPr>
            <a:picLocks noChangeAspect="1"/>
          </p:cNvPicPr>
          <p:nvPr/>
        </p:nvPicPr>
        <p:blipFill>
          <a:blip r:embed="rId2"/>
          <a:stretch>
            <a:fillRect/>
          </a:stretch>
        </p:blipFill>
        <p:spPr>
          <a:xfrm>
            <a:off x="5660215" y="3657970"/>
            <a:ext cx="5788448" cy="2991860"/>
          </a:xfrm>
          <a:prstGeom prst="rect">
            <a:avLst/>
          </a:prstGeom>
        </p:spPr>
      </p:pic>
    </p:spTree>
    <p:extLst>
      <p:ext uri="{BB962C8B-B14F-4D97-AF65-F5344CB8AC3E}">
        <p14:creationId xmlns:p14="http://schemas.microsoft.com/office/powerpoint/2010/main" val="2623148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AE8A9-2A84-C794-682D-097232EDEB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506683-F7DA-0FBD-18FC-A5A69EC2CE10}"/>
              </a:ext>
            </a:extLst>
          </p:cNvPr>
          <p:cNvSpPr>
            <a:spLocks noGrp="1"/>
          </p:cNvSpPr>
          <p:nvPr>
            <p:ph idx="1"/>
          </p:nvPr>
        </p:nvSpPr>
        <p:spPr>
          <a:xfrm>
            <a:off x="587051" y="1909600"/>
            <a:ext cx="11017898" cy="4481869"/>
          </a:xfrm>
        </p:spPr>
        <p:txBody>
          <a:bodyPr/>
          <a:lstStyle/>
          <a:p>
            <a:r>
              <a:rPr lang="en-US" dirty="0"/>
              <a:t>When making a reservation, a </a:t>
            </a:r>
            <a:r>
              <a:rPr lang="en-US" b="1" dirty="0">
                <a:solidFill>
                  <a:schemeClr val="tx1">
                    <a:lumMod val="20000"/>
                    <a:lumOff val="80000"/>
                  </a:schemeClr>
                </a:solidFill>
              </a:rPr>
              <a:t>receiver can specify which source(s)</a:t>
            </a:r>
            <a:r>
              <a:rPr lang="en-US" dirty="0">
                <a:solidFill>
                  <a:schemeClr val="tx1">
                    <a:lumMod val="20000"/>
                    <a:lumOff val="80000"/>
                  </a:schemeClr>
                </a:solidFill>
              </a:rPr>
              <a:t> </a:t>
            </a:r>
            <a:r>
              <a:rPr lang="en-US" dirty="0"/>
              <a:t>it wants to </a:t>
            </a:r>
            <a:r>
              <a:rPr lang="en-US" u="sng" dirty="0"/>
              <a:t>receive data from and indicate whether these sources are fixed or can be changed later.</a:t>
            </a:r>
          </a:p>
          <a:p>
            <a:r>
              <a:rPr lang="en-US" b="1" dirty="0">
                <a:solidFill>
                  <a:schemeClr val="tx1">
                    <a:lumMod val="20000"/>
                    <a:lumOff val="80000"/>
                  </a:schemeClr>
                </a:solidFill>
              </a:rPr>
              <a:t>Routers use this information</a:t>
            </a:r>
            <a:r>
              <a:rPr lang="en-US" dirty="0">
                <a:solidFill>
                  <a:schemeClr val="tx1">
                    <a:lumMod val="20000"/>
                    <a:lumOff val="80000"/>
                  </a:schemeClr>
                </a:solidFill>
              </a:rPr>
              <a:t> </a:t>
            </a:r>
            <a:r>
              <a:rPr lang="en-US" dirty="0"/>
              <a:t>to plan bandwidth efficiently—</a:t>
            </a:r>
            <a:r>
              <a:rPr lang="en-US" u="sng" dirty="0"/>
              <a:t>shared paths are created only if all receivers agree not to change sources later.</a:t>
            </a:r>
          </a:p>
          <a:p>
            <a:r>
              <a:rPr lang="en-US" dirty="0"/>
              <a:t>In the </a:t>
            </a:r>
            <a:r>
              <a:rPr lang="en-US" b="1" dirty="0"/>
              <a:t>dynamic case</a:t>
            </a:r>
            <a:r>
              <a:rPr lang="en-US" dirty="0"/>
              <a:t>, reserved bandwidth is independent of the source, allowing receivers to </a:t>
            </a:r>
            <a:r>
              <a:rPr lang="en-US" b="1" dirty="0"/>
              <a:t>switch between sources</a:t>
            </a:r>
            <a:r>
              <a:rPr lang="en-US" dirty="0"/>
              <a:t> (like different video streams) without needing a new reservation.</a:t>
            </a:r>
          </a:p>
          <a:p>
            <a:endParaRPr lang="en-IN" dirty="0"/>
          </a:p>
        </p:txBody>
      </p:sp>
    </p:spTree>
    <p:extLst>
      <p:ext uri="{BB962C8B-B14F-4D97-AF65-F5344CB8AC3E}">
        <p14:creationId xmlns:p14="http://schemas.microsoft.com/office/powerpoint/2010/main" val="2901408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Network Layer in the Internet</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t>Principles of Network Layer:</a:t>
            </a:r>
          </a:p>
          <a:p>
            <a:r>
              <a:rPr lang="en-US" dirty="0"/>
              <a:t>1. </a:t>
            </a:r>
            <a:r>
              <a:rPr lang="en-US" b="1" dirty="0"/>
              <a:t>Make sure it works. </a:t>
            </a:r>
            <a:r>
              <a:rPr lang="en-US" u="sng" dirty="0">
                <a:solidFill>
                  <a:srgbClr val="FF0000"/>
                </a:solidFill>
              </a:rPr>
              <a:t>Do not finalize the design </a:t>
            </a:r>
            <a:r>
              <a:rPr lang="en-US" dirty="0"/>
              <a:t>or standard until </a:t>
            </a:r>
            <a:r>
              <a:rPr lang="en-US" u="sng" dirty="0"/>
              <a:t>multiple prototypes have successfully communicated </a:t>
            </a:r>
            <a:r>
              <a:rPr lang="en-US" dirty="0"/>
              <a:t>with each other.</a:t>
            </a:r>
          </a:p>
          <a:p>
            <a:r>
              <a:rPr lang="en-US" dirty="0"/>
              <a:t>2. </a:t>
            </a:r>
            <a:r>
              <a:rPr lang="en-US" b="1" dirty="0"/>
              <a:t>Keep it simple. </a:t>
            </a:r>
            <a:r>
              <a:rPr lang="en-US" dirty="0"/>
              <a:t>When in doubt, </a:t>
            </a:r>
            <a:r>
              <a:rPr lang="en-US" dirty="0">
                <a:solidFill>
                  <a:srgbClr val="FF0000"/>
                </a:solidFill>
              </a:rPr>
              <a:t>use the simplest solution.</a:t>
            </a:r>
          </a:p>
          <a:p>
            <a:r>
              <a:rPr lang="en-US" dirty="0"/>
              <a:t>3. </a:t>
            </a:r>
            <a:r>
              <a:rPr lang="en-US" b="1" dirty="0"/>
              <a:t>Make clear choices. </a:t>
            </a:r>
            <a:r>
              <a:rPr lang="en-US" dirty="0"/>
              <a:t>If there are </a:t>
            </a:r>
            <a:r>
              <a:rPr lang="en-US" u="sng" dirty="0"/>
              <a:t>several ways of doing the same thing, </a:t>
            </a:r>
            <a:r>
              <a:rPr lang="en-US" u="sng" dirty="0">
                <a:solidFill>
                  <a:srgbClr val="FF0000"/>
                </a:solidFill>
              </a:rPr>
              <a:t>choose one</a:t>
            </a:r>
            <a:r>
              <a:rPr lang="en-US" dirty="0">
                <a:solidFill>
                  <a:srgbClr val="FF0000"/>
                </a:solidFill>
              </a:rPr>
              <a:t>. </a:t>
            </a:r>
            <a:r>
              <a:rPr lang="en-US" dirty="0"/>
              <a:t>Having two or more ways to do the same thing is looking for trouble.</a:t>
            </a:r>
          </a:p>
          <a:p>
            <a:r>
              <a:rPr lang="en-US" dirty="0"/>
              <a:t>4. </a:t>
            </a:r>
            <a:r>
              <a:rPr lang="en-US" b="1" dirty="0"/>
              <a:t>Exploit modularity. </a:t>
            </a:r>
            <a:r>
              <a:rPr lang="en-US" dirty="0"/>
              <a:t>This principle leads directly to the idea of </a:t>
            </a:r>
            <a:r>
              <a:rPr lang="en-US" u="sng" dirty="0"/>
              <a:t>having protocol stacks</a:t>
            </a:r>
            <a:r>
              <a:rPr lang="en-US" dirty="0"/>
              <a:t>, each of whose layers is independent of all the other ones. In this way, if circumstances that require one </a:t>
            </a:r>
            <a:r>
              <a:rPr lang="en-US" u="sng" dirty="0"/>
              <a:t>module or </a:t>
            </a:r>
            <a:r>
              <a:rPr lang="en-US" u="sng" dirty="0">
                <a:solidFill>
                  <a:srgbClr val="FF0000"/>
                </a:solidFill>
              </a:rPr>
              <a:t>layer to be changed, the other ones will not be affected.</a:t>
            </a:r>
            <a:endParaRPr lang="en-IN" u="sng" dirty="0">
              <a:solidFill>
                <a:srgbClr val="FF0000"/>
              </a:solidFill>
            </a:endParaRPr>
          </a:p>
        </p:txBody>
      </p:sp>
    </p:spTree>
    <p:extLst>
      <p:ext uri="{BB962C8B-B14F-4D97-AF65-F5344CB8AC3E}">
        <p14:creationId xmlns:p14="http://schemas.microsoft.com/office/powerpoint/2010/main" val="4020786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dirty="0"/>
              <a:t>5. </a:t>
            </a:r>
            <a:r>
              <a:rPr lang="en-US" b="1" dirty="0"/>
              <a:t>Expect heterogeneity. </a:t>
            </a:r>
            <a:r>
              <a:rPr lang="en-US" dirty="0"/>
              <a:t>Different types of hardware, transmission facilities, and applications will occur on any large network. </a:t>
            </a:r>
            <a:r>
              <a:rPr lang="en-US" u="sng" dirty="0"/>
              <a:t>To handle them, the </a:t>
            </a:r>
            <a:r>
              <a:rPr lang="en-US" u="sng" dirty="0">
                <a:solidFill>
                  <a:srgbClr val="FF0000"/>
                </a:solidFill>
              </a:rPr>
              <a:t>network design must be simple, general, and flexible.</a:t>
            </a:r>
          </a:p>
          <a:p>
            <a:r>
              <a:rPr lang="en-US" dirty="0"/>
              <a:t>6. </a:t>
            </a:r>
            <a:r>
              <a:rPr lang="en-US" b="1" dirty="0"/>
              <a:t>Avoid static options and parameters. </a:t>
            </a:r>
            <a:r>
              <a:rPr lang="en-US" dirty="0"/>
              <a:t>If parameters are unavoidable (</a:t>
            </a:r>
            <a:r>
              <a:rPr lang="en-US" dirty="0" err="1"/>
              <a:t>e.g.,maximum</a:t>
            </a:r>
            <a:r>
              <a:rPr lang="en-US" dirty="0"/>
              <a:t> packet size), it is </a:t>
            </a:r>
            <a:r>
              <a:rPr lang="en-US" u="sng" dirty="0"/>
              <a:t>best to have </a:t>
            </a:r>
            <a:r>
              <a:rPr lang="en-US" u="sng" dirty="0">
                <a:solidFill>
                  <a:srgbClr val="FF0000"/>
                </a:solidFill>
              </a:rPr>
              <a:t>the sender and receiver negotiate a value </a:t>
            </a:r>
            <a:r>
              <a:rPr lang="en-US" u="sng" dirty="0"/>
              <a:t>than </a:t>
            </a:r>
            <a:r>
              <a:rPr lang="en-IN" u="sng" dirty="0"/>
              <a:t>defining fixed choices.</a:t>
            </a:r>
          </a:p>
          <a:p>
            <a:r>
              <a:rPr lang="en-US" dirty="0"/>
              <a:t>7. </a:t>
            </a:r>
            <a:r>
              <a:rPr lang="en-US" b="1" dirty="0"/>
              <a:t>Look for a good design; it need not be perfect. </a:t>
            </a:r>
            <a:r>
              <a:rPr lang="en-US" dirty="0"/>
              <a:t>Often the designers have a </a:t>
            </a:r>
            <a:r>
              <a:rPr lang="en-US" u="sng" dirty="0"/>
              <a:t>good design but it cannot handle some weird special case</a:t>
            </a:r>
            <a:r>
              <a:rPr lang="en-US" dirty="0"/>
              <a:t>. Rather than messing up the design, the </a:t>
            </a:r>
            <a:r>
              <a:rPr lang="en-US" u="sng" dirty="0">
                <a:solidFill>
                  <a:srgbClr val="FF0000"/>
                </a:solidFill>
              </a:rPr>
              <a:t>designers should go with the good design</a:t>
            </a:r>
            <a:r>
              <a:rPr lang="en-US" u="sng" dirty="0"/>
              <a:t> </a:t>
            </a:r>
            <a:r>
              <a:rPr lang="en-US" dirty="0"/>
              <a:t>and put the burden of working around it on the people with the strange requirements.</a:t>
            </a:r>
            <a:endParaRPr lang="en-IN" dirty="0"/>
          </a:p>
        </p:txBody>
      </p:sp>
    </p:spTree>
    <p:extLst>
      <p:ext uri="{BB962C8B-B14F-4D97-AF65-F5344CB8AC3E}">
        <p14:creationId xmlns:p14="http://schemas.microsoft.com/office/powerpoint/2010/main" val="26634093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8. </a:t>
            </a:r>
            <a:r>
              <a:rPr lang="en-US" b="1" dirty="0"/>
              <a:t>Be strict when sending and tolerant when receiving. </a:t>
            </a:r>
            <a:r>
              <a:rPr lang="en-US" dirty="0"/>
              <a:t>In other words, only </a:t>
            </a:r>
            <a:r>
              <a:rPr lang="en-US" dirty="0">
                <a:solidFill>
                  <a:srgbClr val="FF0000"/>
                </a:solidFill>
              </a:rPr>
              <a:t>send packets that </a:t>
            </a:r>
            <a:r>
              <a:rPr lang="en-US" u="sng" dirty="0">
                <a:solidFill>
                  <a:srgbClr val="FF0000"/>
                </a:solidFill>
              </a:rPr>
              <a:t>rigorously comply with the standards</a:t>
            </a:r>
          </a:p>
          <a:p>
            <a:r>
              <a:rPr lang="en-US" dirty="0"/>
              <a:t>9. </a:t>
            </a:r>
            <a:r>
              <a:rPr lang="en-US" b="1" dirty="0"/>
              <a:t>Think about scalability. </a:t>
            </a:r>
            <a:r>
              <a:rPr lang="en-US" dirty="0"/>
              <a:t>If the system is to handle millions of hosts and billions of users effectively, </a:t>
            </a:r>
            <a:r>
              <a:rPr lang="en-US" u="sng" dirty="0">
                <a:solidFill>
                  <a:srgbClr val="FF0000"/>
                </a:solidFill>
              </a:rPr>
              <a:t>no centralized databases </a:t>
            </a:r>
            <a:r>
              <a:rPr lang="en-US" u="sng" dirty="0"/>
              <a:t>of any kind are tolerable and load must be spread as evenly as possible over the available resources.</a:t>
            </a:r>
          </a:p>
          <a:p>
            <a:r>
              <a:rPr lang="en-US" dirty="0"/>
              <a:t>10. </a:t>
            </a:r>
            <a:r>
              <a:rPr lang="en-US" b="1" dirty="0"/>
              <a:t>Consider performance and cost. </a:t>
            </a:r>
            <a:r>
              <a:rPr lang="en-US" u="sng" dirty="0"/>
              <a:t>If a network has poor performance or </a:t>
            </a:r>
            <a:r>
              <a:rPr lang="en-US" u="sng" dirty="0">
                <a:solidFill>
                  <a:srgbClr val="FF0000"/>
                </a:solidFill>
              </a:rPr>
              <a:t>outrageous costs, nobody will use it.</a:t>
            </a:r>
            <a:endParaRPr lang="en-IN" u="sng" dirty="0">
              <a:solidFill>
                <a:srgbClr val="FF0000"/>
              </a:solidFill>
            </a:endParaRPr>
          </a:p>
        </p:txBody>
      </p:sp>
    </p:spTree>
    <p:extLst>
      <p:ext uri="{BB962C8B-B14F-4D97-AF65-F5344CB8AC3E}">
        <p14:creationId xmlns:p14="http://schemas.microsoft.com/office/powerpoint/2010/main" val="259180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195" y="251115"/>
            <a:ext cx="11616303" cy="4330216"/>
          </a:xfrm>
        </p:spPr>
        <p:txBody>
          <a:bodyPr>
            <a:normAutofit lnSpcReduction="10000"/>
          </a:bodyPr>
          <a:lstStyle/>
          <a:p>
            <a:r>
              <a:rPr lang="en-US" sz="3500" b="1" dirty="0"/>
              <a:t>IP </a:t>
            </a:r>
            <a:r>
              <a:rPr lang="en-US" sz="3500" dirty="0"/>
              <a:t>(</a:t>
            </a:r>
            <a:r>
              <a:rPr lang="en-US" sz="3500" b="1" dirty="0"/>
              <a:t>Internet </a:t>
            </a:r>
            <a:r>
              <a:rPr lang="en-IN" sz="3500" b="1" dirty="0"/>
              <a:t>Protocol</a:t>
            </a:r>
            <a:r>
              <a:rPr lang="en-IN" sz="3500" dirty="0"/>
              <a:t>)</a:t>
            </a:r>
            <a:endParaRPr lang="en-US" sz="3500" dirty="0"/>
          </a:p>
          <a:p>
            <a:r>
              <a:rPr lang="en-US" sz="2600" dirty="0"/>
              <a:t>The glue that holds the whole </a:t>
            </a:r>
            <a:r>
              <a:rPr lang="en-US" sz="2600" u="sng" dirty="0"/>
              <a:t>Internet together </a:t>
            </a:r>
            <a:r>
              <a:rPr lang="en-US" sz="2600" dirty="0"/>
              <a:t>is the network layer protocol, </a:t>
            </a:r>
            <a:r>
              <a:rPr lang="en-US" sz="2600" b="1" dirty="0"/>
              <a:t>IP </a:t>
            </a:r>
            <a:r>
              <a:rPr lang="en-US" sz="2600" dirty="0"/>
              <a:t>(</a:t>
            </a:r>
            <a:r>
              <a:rPr lang="en-US" sz="2600" b="1" dirty="0"/>
              <a:t>Internet </a:t>
            </a:r>
            <a:r>
              <a:rPr lang="en-IN" sz="2600" b="1" dirty="0"/>
              <a:t>Protocol</a:t>
            </a:r>
            <a:r>
              <a:rPr lang="en-IN" sz="2600" dirty="0"/>
              <a:t>).</a:t>
            </a:r>
          </a:p>
          <a:p>
            <a:r>
              <a:rPr lang="en-IN" sz="2600" dirty="0"/>
              <a:t>Its job is to provide </a:t>
            </a:r>
            <a:r>
              <a:rPr lang="en-US" sz="2600" dirty="0"/>
              <a:t>a best-efforts way to </a:t>
            </a:r>
            <a:r>
              <a:rPr lang="en-US" sz="2600" u="sng" dirty="0">
                <a:solidFill>
                  <a:srgbClr val="FF0000"/>
                </a:solidFill>
              </a:rPr>
              <a:t>transport datagrams from source to destination</a:t>
            </a:r>
            <a:r>
              <a:rPr lang="en-US" sz="2600" u="sng" dirty="0"/>
              <a:t>, without regard to whether these machines are on the same network or whether there are other networks</a:t>
            </a:r>
            <a:r>
              <a:rPr lang="en-US" sz="2600" dirty="0"/>
              <a:t> in between them.</a:t>
            </a:r>
          </a:p>
          <a:p>
            <a:r>
              <a:rPr lang="en-US" dirty="0"/>
              <a:t>Communication in the Internet works as follows:</a:t>
            </a:r>
          </a:p>
          <a:p>
            <a:pPr lvl="1"/>
            <a:r>
              <a:rPr lang="en-US" dirty="0"/>
              <a:t>Each datagram is transmitted, after getting from Transport layer, through the Internet, possibly being fragmented into smaller units as it goes. </a:t>
            </a:r>
          </a:p>
          <a:p>
            <a:pPr lvl="1"/>
            <a:r>
              <a:rPr lang="en-US" dirty="0"/>
              <a:t>When all pieces finally get to the destination machine, they are reassembled by the network layer into the original datagram.</a:t>
            </a:r>
            <a:endParaRPr lang="en-IN" dirty="0"/>
          </a:p>
          <a:p>
            <a:endParaRPr lang="en-IN" sz="2600" dirty="0"/>
          </a:p>
        </p:txBody>
      </p:sp>
      <p:pic>
        <p:nvPicPr>
          <p:cNvPr id="4" name="Picture 3"/>
          <p:cNvPicPr>
            <a:picLocks noChangeAspect="1"/>
          </p:cNvPicPr>
          <p:nvPr/>
        </p:nvPicPr>
        <p:blipFill>
          <a:blip r:embed="rId2"/>
          <a:stretch>
            <a:fillRect/>
          </a:stretch>
        </p:blipFill>
        <p:spPr>
          <a:xfrm>
            <a:off x="5999584" y="4374911"/>
            <a:ext cx="6074230" cy="2390594"/>
          </a:xfrm>
          <a:prstGeom prst="rect">
            <a:avLst/>
          </a:prstGeom>
        </p:spPr>
      </p:pic>
    </p:spTree>
    <p:extLst>
      <p:ext uri="{BB962C8B-B14F-4D97-AF65-F5344CB8AC3E}">
        <p14:creationId xmlns:p14="http://schemas.microsoft.com/office/powerpoint/2010/main" val="35519962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41F5-AE49-BCC3-F9F3-CA66D4848942}"/>
              </a:ext>
            </a:extLst>
          </p:cNvPr>
          <p:cNvSpPr>
            <a:spLocks noGrp="1"/>
          </p:cNvSpPr>
          <p:nvPr>
            <p:ph type="title"/>
          </p:nvPr>
        </p:nvSpPr>
        <p:spPr/>
        <p:txBody>
          <a:bodyPr/>
          <a:lstStyle/>
          <a:p>
            <a:r>
              <a:rPr lang="en-IN" dirty="0"/>
              <a:t>The IP Protocol</a:t>
            </a:r>
          </a:p>
        </p:txBody>
      </p:sp>
      <p:sp>
        <p:nvSpPr>
          <p:cNvPr id="3" name="Content Placeholder 2">
            <a:extLst>
              <a:ext uri="{FF2B5EF4-FFF2-40B4-BE49-F238E27FC236}">
                <a16:creationId xmlns:a16="http://schemas.microsoft.com/office/drawing/2014/main" id="{52521E4F-0712-2A0A-520D-C9F19A401C05}"/>
              </a:ext>
            </a:extLst>
          </p:cNvPr>
          <p:cNvSpPr>
            <a:spLocks noGrp="1"/>
          </p:cNvSpPr>
          <p:nvPr>
            <p:ph idx="1"/>
          </p:nvPr>
        </p:nvSpPr>
        <p:spPr/>
        <p:txBody>
          <a:bodyPr/>
          <a:lstStyle/>
          <a:p>
            <a:r>
              <a:rPr lang="en-US" dirty="0"/>
              <a:t>IP transports data in packets called </a:t>
            </a:r>
            <a:r>
              <a:rPr lang="en-US" dirty="0">
                <a:solidFill>
                  <a:srgbClr val="FF0000"/>
                </a:solidFill>
              </a:rPr>
              <a:t>Datagrams</a:t>
            </a:r>
            <a:r>
              <a:rPr lang="en-US" dirty="0"/>
              <a:t>, each of which is </a:t>
            </a:r>
            <a:r>
              <a:rPr lang="en-US" u="sng" dirty="0"/>
              <a:t>transported separately</a:t>
            </a:r>
            <a:r>
              <a:rPr lang="en-US" dirty="0"/>
              <a:t>. </a:t>
            </a:r>
          </a:p>
          <a:p>
            <a:r>
              <a:rPr lang="en-US" dirty="0"/>
              <a:t>Datagrams may </a:t>
            </a:r>
            <a:r>
              <a:rPr lang="en-US" u="sng" dirty="0"/>
              <a:t>travel along different routes </a:t>
            </a:r>
            <a:r>
              <a:rPr lang="en-US" dirty="0"/>
              <a:t>and may arrive out of sequence or duplicated. IP does not create virtual circuits for delivery.</a:t>
            </a:r>
          </a:p>
          <a:p>
            <a:r>
              <a:rPr lang="en-US" dirty="0"/>
              <a:t>Packets in IP layer are called Datagrams. </a:t>
            </a:r>
          </a:p>
          <a:p>
            <a:endParaRPr lang="en-IN" dirty="0"/>
          </a:p>
          <a:p>
            <a:endParaRPr lang="en-IN" dirty="0"/>
          </a:p>
        </p:txBody>
      </p:sp>
    </p:spTree>
    <p:extLst>
      <p:ext uri="{BB962C8B-B14F-4D97-AF65-F5344CB8AC3E}">
        <p14:creationId xmlns:p14="http://schemas.microsoft.com/office/powerpoint/2010/main" val="30486201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IPV4</a:t>
            </a:r>
            <a:endParaRPr lang="en-IN" b="1" dirty="0"/>
          </a:p>
        </p:txBody>
      </p:sp>
      <p:sp>
        <p:nvSpPr>
          <p:cNvPr id="3" name="Content Placeholder 2"/>
          <p:cNvSpPr>
            <a:spLocks noGrp="1"/>
          </p:cNvSpPr>
          <p:nvPr>
            <p:ph idx="1"/>
          </p:nvPr>
        </p:nvSpPr>
        <p:spPr/>
        <p:txBody>
          <a:bodyPr/>
          <a:lstStyle/>
          <a:p>
            <a:r>
              <a:rPr lang="en-US" dirty="0"/>
              <a:t>An IP datagram consists of a </a:t>
            </a:r>
            <a:r>
              <a:rPr lang="en-US" u="sng" dirty="0">
                <a:solidFill>
                  <a:srgbClr val="FF0000"/>
                </a:solidFill>
              </a:rPr>
              <a:t>header part and a text part. </a:t>
            </a:r>
          </a:p>
          <a:p>
            <a:r>
              <a:rPr lang="en-US" dirty="0"/>
              <a:t>The </a:t>
            </a:r>
            <a:r>
              <a:rPr lang="en-US" u="sng" dirty="0"/>
              <a:t>header has a 20-byte fixed part </a:t>
            </a:r>
            <a:r>
              <a:rPr lang="en-US" dirty="0"/>
              <a:t>and a variable length optional part. </a:t>
            </a:r>
          </a:p>
          <a:p>
            <a:endParaRPr lang="en-US" dirty="0"/>
          </a:p>
        </p:txBody>
      </p:sp>
    </p:spTree>
    <p:extLst>
      <p:ext uri="{BB962C8B-B14F-4D97-AF65-F5344CB8AC3E}">
        <p14:creationId xmlns:p14="http://schemas.microsoft.com/office/powerpoint/2010/main" val="2553710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666206" y="718457"/>
            <a:ext cx="10687594" cy="5579706"/>
          </a:xfrm>
          <a:prstGeom prst="rect">
            <a:avLst/>
          </a:prstGeom>
        </p:spPr>
      </p:pic>
    </p:spTree>
    <p:extLst>
      <p:ext uri="{BB962C8B-B14F-4D97-AF65-F5344CB8AC3E}">
        <p14:creationId xmlns:p14="http://schemas.microsoft.com/office/powerpoint/2010/main" val="38761343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09518"/>
          </a:xfrm>
        </p:spPr>
        <p:txBody>
          <a:bodyPr>
            <a:normAutofit fontScale="90000"/>
          </a:bodyPr>
          <a:lstStyle/>
          <a:p>
            <a:endParaRPr lang="en-IN" dirty="0"/>
          </a:p>
        </p:txBody>
      </p:sp>
      <p:pic>
        <p:nvPicPr>
          <p:cNvPr id="5" name="Picture 4"/>
          <p:cNvPicPr>
            <a:picLocks noChangeAspect="1"/>
          </p:cNvPicPr>
          <p:nvPr/>
        </p:nvPicPr>
        <p:blipFill>
          <a:blip r:embed="rId2"/>
          <a:stretch>
            <a:fillRect/>
          </a:stretch>
        </p:blipFill>
        <p:spPr>
          <a:xfrm>
            <a:off x="655983" y="113336"/>
            <a:ext cx="10880034" cy="2368608"/>
          </a:xfrm>
          <a:prstGeom prst="rect">
            <a:avLst/>
          </a:prstGeom>
        </p:spPr>
      </p:pic>
      <p:pic>
        <p:nvPicPr>
          <p:cNvPr id="6" name="Picture 5"/>
          <p:cNvPicPr>
            <a:picLocks noChangeAspect="1"/>
          </p:cNvPicPr>
          <p:nvPr/>
        </p:nvPicPr>
        <p:blipFill>
          <a:blip r:embed="rId3"/>
          <a:stretch>
            <a:fillRect/>
          </a:stretch>
        </p:blipFill>
        <p:spPr>
          <a:xfrm>
            <a:off x="655983" y="2481944"/>
            <a:ext cx="10880034" cy="2951577"/>
          </a:xfrm>
          <a:prstGeom prst="rect">
            <a:avLst/>
          </a:prstGeom>
        </p:spPr>
      </p:pic>
      <p:pic>
        <p:nvPicPr>
          <p:cNvPr id="7" name="Picture 6"/>
          <p:cNvPicPr>
            <a:picLocks noChangeAspect="1"/>
          </p:cNvPicPr>
          <p:nvPr/>
        </p:nvPicPr>
        <p:blipFill>
          <a:blip r:embed="rId4"/>
          <a:stretch>
            <a:fillRect/>
          </a:stretch>
        </p:blipFill>
        <p:spPr>
          <a:xfrm>
            <a:off x="83975" y="5433521"/>
            <a:ext cx="11536017" cy="934277"/>
          </a:xfrm>
          <a:prstGeom prst="rect">
            <a:avLst/>
          </a:prstGeom>
        </p:spPr>
      </p:pic>
    </p:spTree>
    <p:extLst>
      <p:ext uri="{BB962C8B-B14F-4D97-AF65-F5344CB8AC3E}">
        <p14:creationId xmlns:p14="http://schemas.microsoft.com/office/powerpoint/2010/main" val="1580316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336985" y="195776"/>
            <a:ext cx="11648660" cy="6466447"/>
          </a:xfrm>
          <a:prstGeom prst="rect">
            <a:avLst/>
          </a:prstGeom>
        </p:spPr>
      </p:pic>
    </p:spTree>
    <p:extLst>
      <p:ext uri="{BB962C8B-B14F-4D97-AF65-F5344CB8AC3E}">
        <p14:creationId xmlns:p14="http://schemas.microsoft.com/office/powerpoint/2010/main" val="4107457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B0D065-A918-BD03-14E7-89CA46011032}"/>
              </a:ext>
            </a:extLst>
          </p:cNvPr>
          <p:cNvSpPr>
            <a:spLocks noGrp="1"/>
          </p:cNvSpPr>
          <p:nvPr>
            <p:ph idx="1"/>
          </p:nvPr>
        </p:nvSpPr>
        <p:spPr>
          <a:xfrm>
            <a:off x="385665" y="615820"/>
            <a:ext cx="11420669" cy="5626359"/>
          </a:xfrm>
        </p:spPr>
        <p:txBody>
          <a:bodyPr>
            <a:normAutofit fontScale="92500" lnSpcReduction="10000"/>
          </a:bodyPr>
          <a:lstStyle/>
          <a:p>
            <a:r>
              <a:rPr lang="en-US" b="1" dirty="0"/>
              <a:t>Version </a:t>
            </a:r>
          </a:p>
          <a:p>
            <a:pPr lvl="1"/>
            <a:r>
              <a:rPr lang="en-US" dirty="0"/>
              <a:t>The first field defines the version number of the IP. </a:t>
            </a:r>
          </a:p>
          <a:p>
            <a:pPr lvl="1"/>
            <a:r>
              <a:rPr lang="en-US" dirty="0"/>
              <a:t>The current version is 4(IPv4),with </a:t>
            </a:r>
            <a:r>
              <a:rPr lang="en-US" dirty="0">
                <a:solidFill>
                  <a:schemeClr val="tx1">
                    <a:lumMod val="20000"/>
                    <a:lumOff val="80000"/>
                  </a:schemeClr>
                </a:solidFill>
              </a:rPr>
              <a:t>binary value 0100.</a:t>
            </a:r>
          </a:p>
          <a:p>
            <a:r>
              <a:rPr lang="en-US" b="1" dirty="0"/>
              <a:t>Header length (HLEN)    </a:t>
            </a:r>
          </a:p>
          <a:p>
            <a:pPr lvl="1"/>
            <a:r>
              <a:rPr lang="en-US" b="1" dirty="0"/>
              <a:t> </a:t>
            </a:r>
            <a:r>
              <a:rPr lang="en-US" dirty="0"/>
              <a:t>The HLEN field defines the </a:t>
            </a:r>
            <a:r>
              <a:rPr lang="en-US" dirty="0">
                <a:solidFill>
                  <a:schemeClr val="tx1">
                    <a:lumMod val="20000"/>
                    <a:lumOff val="80000"/>
                  </a:schemeClr>
                </a:solidFill>
              </a:rPr>
              <a:t>length of the header </a:t>
            </a:r>
            <a:r>
              <a:rPr lang="en-US" dirty="0"/>
              <a:t>in multiples of four bytes .</a:t>
            </a:r>
          </a:p>
          <a:p>
            <a:pPr lvl="1"/>
            <a:r>
              <a:rPr lang="en-US" dirty="0"/>
              <a:t>The four bits can represent a number between </a:t>
            </a:r>
            <a:r>
              <a:rPr lang="en-US" dirty="0">
                <a:solidFill>
                  <a:schemeClr val="tx1">
                    <a:lumMod val="20000"/>
                    <a:lumOff val="80000"/>
                  </a:schemeClr>
                </a:solidFill>
              </a:rPr>
              <a:t>0 to 15</a:t>
            </a:r>
            <a:r>
              <a:rPr lang="en-US" dirty="0"/>
              <a:t>,which,when multiplied by 4,gives a maximum of 60 bytes.</a:t>
            </a:r>
            <a:endParaRPr lang="en-IN" dirty="0"/>
          </a:p>
          <a:p>
            <a:r>
              <a:rPr lang="en-US" b="1" dirty="0"/>
              <a:t>Service Type</a:t>
            </a:r>
            <a:r>
              <a:rPr lang="en-US" dirty="0"/>
              <a:t> </a:t>
            </a:r>
          </a:p>
          <a:p>
            <a:pPr lvl="1"/>
            <a:r>
              <a:rPr lang="en-US" dirty="0"/>
              <a:t>The service type field defines how datagram should be handled. </a:t>
            </a:r>
          </a:p>
          <a:p>
            <a:pPr lvl="1"/>
            <a:r>
              <a:rPr lang="en-US" dirty="0"/>
              <a:t>It includes bits that define the </a:t>
            </a:r>
            <a:r>
              <a:rPr lang="en-US" dirty="0">
                <a:solidFill>
                  <a:schemeClr val="tx1">
                    <a:lumMod val="20000"/>
                    <a:lumOff val="80000"/>
                  </a:schemeClr>
                </a:solidFill>
              </a:rPr>
              <a:t>priority of the datagram</a:t>
            </a:r>
            <a:r>
              <a:rPr lang="en-US" dirty="0"/>
              <a:t>. </a:t>
            </a:r>
            <a:r>
              <a:rPr lang="en-US" altLang="en-US" sz="2200" dirty="0"/>
              <a:t>Precedence (3 bits): Priority (0–7). D, T, R flags: Delay, Throughput, Reliability preferences.</a:t>
            </a:r>
            <a:endParaRPr lang="en-US" dirty="0"/>
          </a:p>
          <a:p>
            <a:pPr lvl="1"/>
            <a:r>
              <a:rPr lang="en-US" dirty="0"/>
              <a:t>It also contains bits that specify the </a:t>
            </a:r>
            <a:r>
              <a:rPr lang="en-US" dirty="0">
                <a:solidFill>
                  <a:schemeClr val="tx1">
                    <a:lumMod val="20000"/>
                    <a:lumOff val="80000"/>
                  </a:schemeClr>
                </a:solidFill>
              </a:rPr>
              <a:t>type of service the sender desires </a:t>
            </a:r>
            <a:r>
              <a:rPr lang="en-US" dirty="0"/>
              <a:t>such as the level of throughput, reliability, and delay</a:t>
            </a:r>
          </a:p>
          <a:p>
            <a:r>
              <a:rPr lang="en-US" b="1" dirty="0"/>
              <a:t>Total Length </a:t>
            </a:r>
          </a:p>
          <a:p>
            <a:pPr lvl="1"/>
            <a:r>
              <a:rPr lang="en-US" dirty="0"/>
              <a:t>The total length field defines the total length of the IP datagram. </a:t>
            </a:r>
          </a:p>
          <a:p>
            <a:pPr lvl="1"/>
            <a:r>
              <a:rPr lang="en-US" dirty="0"/>
              <a:t>It is a two-byte field (16 bits) and can define up to </a:t>
            </a:r>
            <a:r>
              <a:rPr lang="en-US" dirty="0">
                <a:solidFill>
                  <a:schemeClr val="tx1">
                    <a:lumMod val="20000"/>
                    <a:lumOff val="80000"/>
                  </a:schemeClr>
                </a:solidFill>
              </a:rPr>
              <a:t>65,535 bytes.</a:t>
            </a:r>
            <a:endParaRPr lang="en-IN" dirty="0">
              <a:solidFill>
                <a:schemeClr val="tx1">
                  <a:lumMod val="20000"/>
                  <a:lumOff val="80000"/>
                </a:schemeClr>
              </a:solidFill>
            </a:endParaRPr>
          </a:p>
          <a:p>
            <a:endParaRPr lang="en-IN" dirty="0"/>
          </a:p>
        </p:txBody>
      </p:sp>
    </p:spTree>
    <p:extLst>
      <p:ext uri="{BB962C8B-B14F-4D97-AF65-F5344CB8AC3E}">
        <p14:creationId xmlns:p14="http://schemas.microsoft.com/office/powerpoint/2010/main" val="8207419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6768C2-0F78-8EC1-2EF9-222BEC3B7613}"/>
              </a:ext>
            </a:extLst>
          </p:cNvPr>
          <p:cNvSpPr>
            <a:spLocks noGrp="1"/>
          </p:cNvSpPr>
          <p:nvPr>
            <p:ph idx="1"/>
          </p:nvPr>
        </p:nvSpPr>
        <p:spPr>
          <a:xfrm>
            <a:off x="590161" y="929887"/>
            <a:ext cx="11011678" cy="5414930"/>
          </a:xfrm>
        </p:spPr>
        <p:txBody>
          <a:bodyPr>
            <a:normAutofit fontScale="92500" lnSpcReduction="10000"/>
          </a:bodyPr>
          <a:lstStyle/>
          <a:p>
            <a:r>
              <a:rPr lang="en-US" b="1" dirty="0"/>
              <a:t>Identification </a:t>
            </a:r>
          </a:p>
          <a:p>
            <a:pPr lvl="1"/>
            <a:r>
              <a:rPr lang="en-US" dirty="0"/>
              <a:t>The identification field is used in fragmentation. </a:t>
            </a:r>
          </a:p>
          <a:p>
            <a:pPr lvl="1"/>
            <a:r>
              <a:rPr lang="en-US" dirty="0"/>
              <a:t>A datagram, when passing through different networks, may be </a:t>
            </a:r>
            <a:r>
              <a:rPr lang="en-US" dirty="0">
                <a:solidFill>
                  <a:schemeClr val="tx1">
                    <a:lumMod val="20000"/>
                    <a:lumOff val="80000"/>
                  </a:schemeClr>
                </a:solidFill>
              </a:rPr>
              <a:t>divided into fragments to match the network frame size. </a:t>
            </a:r>
          </a:p>
          <a:p>
            <a:pPr lvl="1"/>
            <a:r>
              <a:rPr lang="en-US" dirty="0"/>
              <a:t>All fragments share the </a:t>
            </a:r>
            <a:r>
              <a:rPr lang="en-US" dirty="0">
                <a:solidFill>
                  <a:schemeClr val="tx1">
                    <a:lumMod val="20000"/>
                    <a:lumOff val="80000"/>
                  </a:schemeClr>
                </a:solidFill>
              </a:rPr>
              <a:t>same identification number.</a:t>
            </a:r>
          </a:p>
          <a:p>
            <a:r>
              <a:rPr lang="en-US" dirty="0"/>
              <a:t>Flags</a:t>
            </a:r>
          </a:p>
          <a:p>
            <a:pPr lvl="1"/>
            <a:r>
              <a:rPr lang="en-US" dirty="0"/>
              <a:t>The bits in the flags field deal with fragmentation (the datagram can or can not be fragmented; can be first, middle, or last fragment; etc.).</a:t>
            </a:r>
          </a:p>
          <a:p>
            <a:pPr lvl="1"/>
            <a:r>
              <a:rPr lang="en-US" altLang="en-US" dirty="0"/>
              <a:t>DF (Don’t Fragment): </a:t>
            </a:r>
            <a:r>
              <a:rPr lang="en-US" altLang="en-US" dirty="0">
                <a:solidFill>
                  <a:schemeClr val="tx1">
                    <a:lumMod val="20000"/>
                    <a:lumOff val="80000"/>
                  </a:schemeClr>
                </a:solidFill>
              </a:rPr>
              <a:t>Prevents routers from fragmenting </a:t>
            </a:r>
            <a:r>
              <a:rPr lang="en-US" altLang="en-US" dirty="0"/>
              <a:t>the packet.</a:t>
            </a:r>
          </a:p>
          <a:p>
            <a:pPr lvl="1"/>
            <a:r>
              <a:rPr lang="en-US" altLang="en-US" dirty="0"/>
              <a:t>MF (More Fragments): </a:t>
            </a:r>
            <a:r>
              <a:rPr lang="en-US" altLang="en-US" dirty="0">
                <a:solidFill>
                  <a:schemeClr val="tx1">
                    <a:lumMod val="20000"/>
                    <a:lumOff val="80000"/>
                  </a:schemeClr>
                </a:solidFill>
              </a:rPr>
              <a:t>Set on all fragments except the last.</a:t>
            </a:r>
          </a:p>
          <a:p>
            <a:pPr lvl="1"/>
            <a:r>
              <a:rPr lang="en-US" altLang="en-US" dirty="0"/>
              <a:t>Helps manage fragmentation and reassembly.</a:t>
            </a:r>
            <a:endParaRPr lang="en-IN" dirty="0"/>
          </a:p>
          <a:p>
            <a:r>
              <a:rPr lang="en-US" b="1" dirty="0"/>
              <a:t>Fragmentation offset   </a:t>
            </a:r>
          </a:p>
          <a:p>
            <a:pPr lvl="1"/>
            <a:r>
              <a:rPr lang="en-US" dirty="0"/>
              <a:t>The fragmentation offset is a </a:t>
            </a:r>
            <a:r>
              <a:rPr lang="en-US" dirty="0">
                <a:solidFill>
                  <a:schemeClr val="tx1">
                    <a:lumMod val="20000"/>
                    <a:lumOff val="80000"/>
                  </a:schemeClr>
                </a:solidFill>
              </a:rPr>
              <a:t>pointer that shows the offset of the data </a:t>
            </a:r>
            <a:r>
              <a:rPr lang="en-US" dirty="0"/>
              <a:t>in the original datagram (if it is fragmented).</a:t>
            </a:r>
          </a:p>
          <a:p>
            <a:pPr lvl="1"/>
            <a:r>
              <a:rPr lang="en-US" dirty="0"/>
              <a:t>The Fragment offset tells where in the </a:t>
            </a:r>
            <a:r>
              <a:rPr lang="en-US" dirty="0">
                <a:solidFill>
                  <a:schemeClr val="tx1">
                    <a:lumMod val="20000"/>
                    <a:lumOff val="80000"/>
                  </a:schemeClr>
                </a:solidFill>
              </a:rPr>
              <a:t>current datagram this fragment belongs.</a:t>
            </a:r>
            <a:endParaRPr lang="en-IN" dirty="0">
              <a:solidFill>
                <a:schemeClr val="tx1">
                  <a:lumMod val="20000"/>
                  <a:lumOff val="80000"/>
                </a:schemeClr>
              </a:solidFill>
            </a:endParaRPr>
          </a:p>
          <a:p>
            <a:endParaRPr lang="en-IN" dirty="0"/>
          </a:p>
        </p:txBody>
      </p:sp>
    </p:spTree>
    <p:extLst>
      <p:ext uri="{BB962C8B-B14F-4D97-AF65-F5344CB8AC3E}">
        <p14:creationId xmlns:p14="http://schemas.microsoft.com/office/powerpoint/2010/main" val="3273737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703FFF-5D94-EF05-7062-784CE3B0E967}"/>
              </a:ext>
            </a:extLst>
          </p:cNvPr>
          <p:cNvSpPr>
            <a:spLocks noGrp="1"/>
          </p:cNvSpPr>
          <p:nvPr>
            <p:ph idx="1"/>
          </p:nvPr>
        </p:nvSpPr>
        <p:spPr>
          <a:xfrm>
            <a:off x="660140" y="569167"/>
            <a:ext cx="11059109" cy="6288833"/>
          </a:xfrm>
        </p:spPr>
        <p:txBody>
          <a:bodyPr>
            <a:normAutofit fontScale="77500" lnSpcReduction="20000"/>
          </a:bodyPr>
          <a:lstStyle/>
          <a:p>
            <a:r>
              <a:rPr lang="en-US" b="1" dirty="0"/>
              <a:t>Time to live </a:t>
            </a:r>
          </a:p>
          <a:p>
            <a:pPr lvl="1"/>
            <a:r>
              <a:rPr lang="en-US" dirty="0"/>
              <a:t>The time to live field defines the </a:t>
            </a:r>
            <a:r>
              <a:rPr lang="en-US" dirty="0">
                <a:solidFill>
                  <a:schemeClr val="tx1">
                    <a:lumMod val="20000"/>
                    <a:lumOff val="80000"/>
                  </a:schemeClr>
                </a:solidFill>
              </a:rPr>
              <a:t>number of hops a datagram can travel before it is discarded</a:t>
            </a:r>
            <a:r>
              <a:rPr lang="en-US" dirty="0"/>
              <a:t>. </a:t>
            </a:r>
          </a:p>
          <a:p>
            <a:pPr lvl="1"/>
            <a:r>
              <a:rPr lang="en-US" dirty="0"/>
              <a:t>The source host, when it creates the datagram, sets this </a:t>
            </a:r>
            <a:r>
              <a:rPr lang="en-US" dirty="0">
                <a:solidFill>
                  <a:schemeClr val="tx1">
                    <a:lumMod val="20000"/>
                    <a:lumOff val="80000"/>
                  </a:schemeClr>
                </a:solidFill>
              </a:rPr>
              <a:t>field to an initial value. </a:t>
            </a:r>
          </a:p>
          <a:p>
            <a:pPr lvl="1"/>
            <a:r>
              <a:rPr lang="en-US" dirty="0"/>
              <a:t>Then, as the datagram travels through the Internet, router by router, each router </a:t>
            </a:r>
            <a:r>
              <a:rPr lang="en-US" dirty="0">
                <a:solidFill>
                  <a:schemeClr val="tx1">
                    <a:lumMod val="20000"/>
                    <a:lumOff val="80000"/>
                  </a:schemeClr>
                </a:solidFill>
              </a:rPr>
              <a:t>decrements this value by 1. </a:t>
            </a:r>
          </a:p>
          <a:p>
            <a:pPr lvl="1"/>
            <a:r>
              <a:rPr lang="en-US" dirty="0"/>
              <a:t>If this value becomes </a:t>
            </a:r>
            <a:r>
              <a:rPr lang="en-US" dirty="0">
                <a:solidFill>
                  <a:schemeClr val="tx1">
                    <a:lumMod val="20000"/>
                    <a:lumOff val="80000"/>
                  </a:schemeClr>
                </a:solidFill>
              </a:rPr>
              <a:t>0 before the datagram reaches its final destination, </a:t>
            </a:r>
            <a:r>
              <a:rPr lang="en-US" dirty="0"/>
              <a:t>the datagram is discarded. </a:t>
            </a:r>
          </a:p>
          <a:p>
            <a:pPr lvl="1"/>
            <a:r>
              <a:rPr lang="en-US" dirty="0"/>
              <a:t>This prevents a datagram from </a:t>
            </a:r>
            <a:r>
              <a:rPr lang="en-US" dirty="0">
                <a:solidFill>
                  <a:schemeClr val="tx1">
                    <a:lumMod val="20000"/>
                    <a:lumOff val="80000"/>
                  </a:schemeClr>
                </a:solidFill>
              </a:rPr>
              <a:t>going back and forth forever between routers.</a:t>
            </a:r>
            <a:endParaRPr lang="en-US" b="1" dirty="0">
              <a:solidFill>
                <a:schemeClr val="tx1">
                  <a:lumMod val="20000"/>
                  <a:lumOff val="80000"/>
                </a:schemeClr>
              </a:solidFill>
            </a:endParaRPr>
          </a:p>
          <a:p>
            <a:r>
              <a:rPr lang="en-US" b="1" dirty="0"/>
              <a:t>Protocol </a:t>
            </a:r>
          </a:p>
          <a:p>
            <a:pPr lvl="1"/>
            <a:r>
              <a:rPr lang="en-US" dirty="0"/>
              <a:t>The protocol field defines which </a:t>
            </a:r>
            <a:r>
              <a:rPr lang="en-US" dirty="0">
                <a:solidFill>
                  <a:schemeClr val="tx1">
                    <a:lumMod val="20000"/>
                    <a:lumOff val="80000"/>
                  </a:schemeClr>
                </a:solidFill>
              </a:rPr>
              <a:t>upper-layer protocol data are encapsulated </a:t>
            </a:r>
            <a:r>
              <a:rPr lang="en-US" dirty="0"/>
              <a:t>in datagram (TCP, UDP, ICMP etc.).</a:t>
            </a:r>
            <a:endParaRPr lang="en-US" b="1" dirty="0"/>
          </a:p>
          <a:p>
            <a:r>
              <a:rPr lang="en-US" b="1" dirty="0"/>
              <a:t>Header Checksum </a:t>
            </a:r>
          </a:p>
          <a:p>
            <a:pPr lvl="1"/>
            <a:r>
              <a:rPr lang="en-US" dirty="0"/>
              <a:t>Verifies </a:t>
            </a:r>
            <a:r>
              <a:rPr lang="en-US" b="1" dirty="0">
                <a:solidFill>
                  <a:schemeClr val="tx1">
                    <a:lumMod val="20000"/>
                    <a:lumOff val="80000"/>
                  </a:schemeClr>
                </a:solidFill>
              </a:rPr>
              <a:t>errors in the header </a:t>
            </a:r>
            <a:r>
              <a:rPr lang="en-US" b="1" dirty="0"/>
              <a:t>only</a:t>
            </a:r>
            <a:r>
              <a:rPr lang="en-US" dirty="0"/>
              <a:t>.</a:t>
            </a:r>
            <a:endParaRPr lang="en-US" b="1" dirty="0"/>
          </a:p>
          <a:p>
            <a:pPr lvl="1"/>
            <a:r>
              <a:rPr lang="en-US" dirty="0"/>
              <a:t>This is a 16-bit field used to </a:t>
            </a:r>
            <a:r>
              <a:rPr lang="en-US" dirty="0">
                <a:solidFill>
                  <a:schemeClr val="tx1">
                    <a:lumMod val="20000"/>
                    <a:lumOff val="80000"/>
                  </a:schemeClr>
                </a:solidFill>
              </a:rPr>
              <a:t>check the integrity of the header</a:t>
            </a:r>
            <a:r>
              <a:rPr lang="en-US" dirty="0"/>
              <a:t>, not the rest of the packet.</a:t>
            </a:r>
            <a:endParaRPr lang="en-IN" dirty="0"/>
          </a:p>
          <a:p>
            <a:r>
              <a:rPr lang="en-US" b="1" dirty="0"/>
              <a:t>Source address </a:t>
            </a:r>
          </a:p>
          <a:p>
            <a:pPr lvl="1"/>
            <a:r>
              <a:rPr lang="en-US" dirty="0"/>
              <a:t>The source address field is a </a:t>
            </a:r>
            <a:r>
              <a:rPr lang="en-US" dirty="0">
                <a:solidFill>
                  <a:schemeClr val="tx1">
                    <a:lumMod val="20000"/>
                    <a:lumOff val="80000"/>
                  </a:schemeClr>
                </a:solidFill>
              </a:rPr>
              <a:t>four-byte (32-bit) Internet address. </a:t>
            </a:r>
          </a:p>
          <a:p>
            <a:pPr lvl="1"/>
            <a:r>
              <a:rPr lang="en-US" dirty="0"/>
              <a:t>It identifies the </a:t>
            </a:r>
            <a:r>
              <a:rPr lang="en-US" dirty="0">
                <a:solidFill>
                  <a:schemeClr val="tx1">
                    <a:lumMod val="20000"/>
                    <a:lumOff val="80000"/>
                  </a:schemeClr>
                </a:solidFill>
              </a:rPr>
              <a:t>original source </a:t>
            </a:r>
            <a:r>
              <a:rPr lang="en-US" dirty="0"/>
              <a:t>of the datagram.</a:t>
            </a:r>
            <a:endParaRPr lang="en-IN" dirty="0"/>
          </a:p>
          <a:p>
            <a:r>
              <a:rPr lang="en-US" b="1" dirty="0"/>
              <a:t>Destination address </a:t>
            </a:r>
          </a:p>
          <a:p>
            <a:pPr lvl="1"/>
            <a:r>
              <a:rPr lang="en-US" dirty="0"/>
              <a:t>The destination address field is a </a:t>
            </a:r>
            <a:r>
              <a:rPr lang="en-US" dirty="0">
                <a:solidFill>
                  <a:schemeClr val="tx1">
                    <a:lumMod val="20000"/>
                    <a:lumOff val="80000"/>
                  </a:schemeClr>
                </a:solidFill>
              </a:rPr>
              <a:t>four-byte (32-bit) Internet address. </a:t>
            </a:r>
          </a:p>
          <a:p>
            <a:pPr lvl="1"/>
            <a:r>
              <a:rPr lang="en-US" dirty="0"/>
              <a:t>It identifies the </a:t>
            </a:r>
            <a:r>
              <a:rPr lang="en-US" dirty="0">
                <a:solidFill>
                  <a:schemeClr val="tx1">
                    <a:lumMod val="20000"/>
                    <a:lumOff val="80000"/>
                  </a:schemeClr>
                </a:solidFill>
              </a:rPr>
              <a:t>final destination </a:t>
            </a:r>
            <a:r>
              <a:rPr lang="en-US" dirty="0"/>
              <a:t>of the datagram.</a:t>
            </a:r>
            <a:endParaRPr lang="en-IN" dirty="0"/>
          </a:p>
          <a:p>
            <a:r>
              <a:rPr lang="en-US" b="1" dirty="0"/>
              <a:t>Options</a:t>
            </a:r>
          </a:p>
          <a:p>
            <a:pPr lvl="1"/>
            <a:r>
              <a:rPr lang="en-US" b="1" dirty="0"/>
              <a:t> </a:t>
            </a:r>
            <a:r>
              <a:rPr lang="en-US" dirty="0"/>
              <a:t>The options field gives more functionality to IP datagram. </a:t>
            </a:r>
          </a:p>
          <a:p>
            <a:pPr lvl="1"/>
            <a:r>
              <a:rPr lang="en-US" dirty="0"/>
              <a:t>It can carry fields that </a:t>
            </a:r>
            <a:r>
              <a:rPr lang="en-US" dirty="0">
                <a:solidFill>
                  <a:schemeClr val="tx1">
                    <a:lumMod val="20000"/>
                    <a:lumOff val="80000"/>
                  </a:schemeClr>
                </a:solidFill>
              </a:rPr>
              <a:t>control routing, timing, management, timestamp and alignment</a:t>
            </a:r>
            <a:endParaRPr lang="en-IN" dirty="0">
              <a:solidFill>
                <a:schemeClr val="tx1">
                  <a:lumMod val="20000"/>
                  <a:lumOff val="80000"/>
                </a:schemeClr>
              </a:solidFill>
            </a:endParaRPr>
          </a:p>
        </p:txBody>
      </p:sp>
    </p:spTree>
    <p:extLst>
      <p:ext uri="{BB962C8B-B14F-4D97-AF65-F5344CB8AC3E}">
        <p14:creationId xmlns:p14="http://schemas.microsoft.com/office/powerpoint/2010/main" val="1480862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276F4-6504-9EFD-5011-A4EAB7687845}"/>
              </a:ext>
            </a:extLst>
          </p:cNvPr>
          <p:cNvSpPr>
            <a:spLocks noGrp="1"/>
          </p:cNvSpPr>
          <p:nvPr>
            <p:ph type="title"/>
          </p:nvPr>
        </p:nvSpPr>
        <p:spPr>
          <a:xfrm>
            <a:off x="511629" y="290482"/>
            <a:ext cx="10515600" cy="903838"/>
          </a:xfrm>
        </p:spPr>
        <p:txBody>
          <a:bodyPr/>
          <a:lstStyle/>
          <a:p>
            <a:r>
              <a:rPr lang="en-IN" b="1" dirty="0"/>
              <a:t>IP Addresses</a:t>
            </a:r>
            <a:endParaRPr lang="en-IN" dirty="0"/>
          </a:p>
        </p:txBody>
      </p:sp>
      <p:sp>
        <p:nvSpPr>
          <p:cNvPr id="3" name="Content Placeholder 2">
            <a:extLst>
              <a:ext uri="{FF2B5EF4-FFF2-40B4-BE49-F238E27FC236}">
                <a16:creationId xmlns:a16="http://schemas.microsoft.com/office/drawing/2014/main" id="{76AD38DD-4E04-9E65-BA9B-BC8F124FC391}"/>
              </a:ext>
            </a:extLst>
          </p:cNvPr>
          <p:cNvSpPr>
            <a:spLocks noGrp="1"/>
          </p:cNvSpPr>
          <p:nvPr>
            <p:ph idx="1"/>
          </p:nvPr>
        </p:nvSpPr>
        <p:spPr>
          <a:xfrm>
            <a:off x="597159" y="1539551"/>
            <a:ext cx="11103429" cy="4851918"/>
          </a:xfrm>
        </p:spPr>
        <p:txBody>
          <a:bodyPr>
            <a:normAutofit fontScale="92500" lnSpcReduction="20000"/>
          </a:bodyPr>
          <a:lstStyle/>
          <a:p>
            <a:r>
              <a:rPr lang="en-US" dirty="0"/>
              <a:t>IP address is a </a:t>
            </a:r>
            <a:r>
              <a:rPr lang="en-US" dirty="0">
                <a:solidFill>
                  <a:schemeClr val="bg2"/>
                </a:solidFill>
              </a:rPr>
              <a:t>numeric identifier assigned to each machine </a:t>
            </a:r>
            <a:r>
              <a:rPr lang="en-US" dirty="0"/>
              <a:t>on the internet. </a:t>
            </a:r>
          </a:p>
          <a:p>
            <a:r>
              <a:rPr lang="en-US" dirty="0"/>
              <a:t>IP address consists of two parts: </a:t>
            </a:r>
            <a:r>
              <a:rPr lang="en-US" dirty="0">
                <a:solidFill>
                  <a:schemeClr val="bg2"/>
                </a:solidFill>
              </a:rPr>
              <a:t>network ID(NID) and host ID(HID). </a:t>
            </a:r>
          </a:p>
          <a:p>
            <a:r>
              <a:rPr lang="en-US" dirty="0"/>
              <a:t>NID identifies the </a:t>
            </a:r>
            <a:r>
              <a:rPr lang="en-US" u="sng" dirty="0"/>
              <a:t>network to which the host is connected</a:t>
            </a:r>
            <a:r>
              <a:rPr lang="en-US" dirty="0"/>
              <a:t>. All the hosts connected to the same network have the same NID. </a:t>
            </a:r>
          </a:p>
          <a:p>
            <a:r>
              <a:rPr lang="en-US" dirty="0"/>
              <a:t>HID is used to uniquely identify a </a:t>
            </a:r>
            <a:r>
              <a:rPr lang="en-US" u="sng" dirty="0"/>
              <a:t>host on that network. </a:t>
            </a:r>
          </a:p>
          <a:p>
            <a:r>
              <a:rPr lang="en-US" dirty="0">
                <a:solidFill>
                  <a:schemeClr val="bg2"/>
                </a:solidFill>
              </a:rPr>
              <a:t>HID is assigned </a:t>
            </a:r>
            <a:r>
              <a:rPr lang="en-US" dirty="0"/>
              <a:t>by the </a:t>
            </a:r>
            <a:r>
              <a:rPr lang="en-US" u="sng" dirty="0"/>
              <a:t>network-administrator at the local site. </a:t>
            </a:r>
          </a:p>
          <a:p>
            <a:r>
              <a:rPr lang="en-US" dirty="0">
                <a:solidFill>
                  <a:schemeClr val="bg2"/>
                </a:solidFill>
              </a:rPr>
              <a:t>NID for an organization may be assigned </a:t>
            </a:r>
            <a:r>
              <a:rPr lang="en-US" dirty="0"/>
              <a:t>by the </a:t>
            </a:r>
            <a:r>
              <a:rPr lang="en-US" u="sng" dirty="0"/>
              <a:t>ISP </a:t>
            </a:r>
            <a:r>
              <a:rPr lang="en-US" dirty="0"/>
              <a:t>(Internet Service Provider). </a:t>
            </a:r>
          </a:p>
          <a:p>
            <a:r>
              <a:rPr lang="en-US" dirty="0">
                <a:solidFill>
                  <a:schemeClr val="bg2"/>
                </a:solidFill>
              </a:rPr>
              <a:t>IPv4 uses 32-bit addresses</a:t>
            </a:r>
            <a:r>
              <a:rPr lang="en-US" dirty="0"/>
              <a:t>, i.e., approximately 4 billion addresses (232). </a:t>
            </a:r>
          </a:p>
          <a:p>
            <a:r>
              <a:rPr lang="en-US" dirty="0"/>
              <a:t>IP addresses are usually written in </a:t>
            </a:r>
            <a:r>
              <a:rPr lang="en-US" dirty="0">
                <a:solidFill>
                  <a:schemeClr val="bg2"/>
                </a:solidFill>
              </a:rPr>
              <a:t>dotted-decimal notation</a:t>
            </a:r>
            <a:r>
              <a:rPr lang="en-US" dirty="0"/>
              <a:t>. The address is broken into four bytes. </a:t>
            </a:r>
          </a:p>
          <a:p>
            <a:r>
              <a:rPr lang="en-US" dirty="0"/>
              <a:t>For example, an IP address of 10000000 10000111 01000100 00000101 is written as 128.135.68.5 </a:t>
            </a:r>
            <a:endParaRPr lang="en-IN" dirty="0"/>
          </a:p>
        </p:txBody>
      </p:sp>
    </p:spTree>
    <p:extLst>
      <p:ext uri="{BB962C8B-B14F-4D97-AF65-F5344CB8AC3E}">
        <p14:creationId xmlns:p14="http://schemas.microsoft.com/office/powerpoint/2010/main" val="22128281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7855"/>
          </a:xfrm>
        </p:spPr>
        <p:txBody>
          <a:bodyPr/>
          <a:lstStyle/>
          <a:p>
            <a:endParaRPr lang="en-IN" dirty="0"/>
          </a:p>
        </p:txBody>
      </p:sp>
      <p:sp>
        <p:nvSpPr>
          <p:cNvPr id="3" name="Content Placeholder 2"/>
          <p:cNvSpPr>
            <a:spLocks noGrp="1"/>
          </p:cNvSpPr>
          <p:nvPr>
            <p:ph idx="1"/>
          </p:nvPr>
        </p:nvSpPr>
        <p:spPr>
          <a:xfrm>
            <a:off x="838200" y="1436914"/>
            <a:ext cx="10774680" cy="5003075"/>
          </a:xfrm>
        </p:spPr>
        <p:txBody>
          <a:bodyPr>
            <a:normAutofit/>
          </a:bodyPr>
          <a:lstStyle/>
          <a:p>
            <a:r>
              <a:rPr lang="en-US" dirty="0"/>
              <a:t>The combination is unique: in principle, </a:t>
            </a:r>
            <a:r>
              <a:rPr lang="en-US" u="sng" dirty="0">
                <a:solidFill>
                  <a:srgbClr val="FF0000"/>
                </a:solidFill>
              </a:rPr>
              <a:t>no</a:t>
            </a:r>
            <a:r>
              <a:rPr lang="en-US" dirty="0">
                <a:solidFill>
                  <a:srgbClr val="FF0000"/>
                </a:solidFill>
              </a:rPr>
              <a:t> </a:t>
            </a:r>
            <a:r>
              <a:rPr lang="en-US" u="sng" dirty="0">
                <a:solidFill>
                  <a:srgbClr val="FF0000"/>
                </a:solidFill>
              </a:rPr>
              <a:t>two machines on the Internet have the same IP address. </a:t>
            </a:r>
          </a:p>
          <a:p>
            <a:r>
              <a:rPr lang="en-US" dirty="0"/>
              <a:t>IP address does not actually refer to a host. It really refers to a network interface, so if a </a:t>
            </a:r>
            <a:r>
              <a:rPr lang="en-US" u="sng" dirty="0"/>
              <a:t>host is on two networks, it must have two IP addresses</a:t>
            </a:r>
            <a:r>
              <a:rPr lang="en-US" dirty="0"/>
              <a:t>. However, in practice, most hosts are on one network and thus have one IP address.</a:t>
            </a:r>
            <a:endParaRPr lang="en-US" u="sng" dirty="0">
              <a:solidFill>
                <a:srgbClr val="FF0000"/>
              </a:solidFill>
            </a:endParaRPr>
          </a:p>
          <a:p>
            <a:r>
              <a:rPr lang="en-US" dirty="0"/>
              <a:t>All IP addresses are </a:t>
            </a:r>
            <a:r>
              <a:rPr lang="en-US" u="sng" dirty="0"/>
              <a:t>32 bits </a:t>
            </a:r>
            <a:r>
              <a:rPr lang="en-US" dirty="0"/>
              <a:t>long and are used in the </a:t>
            </a:r>
            <a:r>
              <a:rPr lang="en-US" i="1" u="sng" dirty="0"/>
              <a:t>Source address </a:t>
            </a:r>
            <a:r>
              <a:rPr lang="en-US" u="sng" dirty="0"/>
              <a:t>and </a:t>
            </a:r>
            <a:r>
              <a:rPr lang="en-US" i="1" u="sng" dirty="0"/>
              <a:t>Destination address</a:t>
            </a:r>
            <a:r>
              <a:rPr lang="en-US" i="1" dirty="0"/>
              <a:t> </a:t>
            </a:r>
            <a:r>
              <a:rPr lang="en-US" dirty="0"/>
              <a:t>fields of IP packets. </a:t>
            </a:r>
          </a:p>
          <a:p>
            <a:r>
              <a:rPr lang="en-US" dirty="0"/>
              <a:t>IP address can be classified as </a:t>
            </a:r>
          </a:p>
          <a:p>
            <a:r>
              <a:rPr lang="en-US" dirty="0">
                <a:solidFill>
                  <a:schemeClr val="bg2"/>
                </a:solidFill>
              </a:rPr>
              <a:t>Classful IP addressing &amp; Classless IP addressing (CIDR- Classless Inter Domain Routing)</a:t>
            </a:r>
          </a:p>
          <a:p>
            <a:endParaRPr lang="en-US" dirty="0"/>
          </a:p>
          <a:p>
            <a:endParaRPr lang="en-IN" dirty="0"/>
          </a:p>
        </p:txBody>
      </p:sp>
    </p:spTree>
    <p:extLst>
      <p:ext uri="{BB962C8B-B14F-4D97-AF65-F5344CB8AC3E}">
        <p14:creationId xmlns:p14="http://schemas.microsoft.com/office/powerpoint/2010/main" val="12402732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IPv4 </a:t>
            </a:r>
            <a:r>
              <a:rPr lang="en-IN" b="1" dirty="0" err="1"/>
              <a:t>Classful</a:t>
            </a:r>
            <a:r>
              <a:rPr lang="en-IN" b="1" dirty="0"/>
              <a:t> Addressing </a:t>
            </a:r>
            <a:br>
              <a:rPr lang="en-IN" dirty="0"/>
            </a:br>
            <a:endParaRPr lang="en-IN" dirty="0"/>
          </a:p>
        </p:txBody>
      </p:sp>
      <p:sp>
        <p:nvSpPr>
          <p:cNvPr id="3" name="Content Placeholder 2"/>
          <p:cNvSpPr>
            <a:spLocks noGrp="1"/>
          </p:cNvSpPr>
          <p:nvPr>
            <p:ph idx="1"/>
          </p:nvPr>
        </p:nvSpPr>
        <p:spPr>
          <a:xfrm>
            <a:off x="838200" y="1311965"/>
            <a:ext cx="10515600" cy="5035826"/>
          </a:xfrm>
        </p:spPr>
        <p:txBody>
          <a:bodyPr>
            <a:normAutofit fontScale="85000" lnSpcReduction="10000"/>
          </a:bodyPr>
          <a:lstStyle/>
          <a:p>
            <a:r>
              <a:rPr lang="en-US" dirty="0"/>
              <a:t>In </a:t>
            </a:r>
            <a:r>
              <a:rPr lang="en-US" dirty="0" err="1"/>
              <a:t>classful</a:t>
            </a:r>
            <a:r>
              <a:rPr lang="en-US" dirty="0"/>
              <a:t> addressing, the address space is divided into five classes: </a:t>
            </a:r>
          </a:p>
          <a:p>
            <a:pPr lvl="1"/>
            <a:r>
              <a:rPr lang="en-US" dirty="0">
                <a:solidFill>
                  <a:schemeClr val="bg2"/>
                </a:solidFill>
              </a:rPr>
              <a:t>A, B, C, D and E. </a:t>
            </a:r>
          </a:p>
          <a:p>
            <a:r>
              <a:rPr lang="en-US" dirty="0"/>
              <a:t>Classes </a:t>
            </a:r>
            <a:r>
              <a:rPr lang="en-US" u="sng" dirty="0"/>
              <a:t>A, B and C are used for unicast addressing. </a:t>
            </a:r>
          </a:p>
          <a:p>
            <a:r>
              <a:rPr lang="en-US" dirty="0"/>
              <a:t>Class </a:t>
            </a:r>
            <a:r>
              <a:rPr lang="en-US" u="sng" dirty="0"/>
              <a:t>D was designed for multicasting </a:t>
            </a:r>
            <a:r>
              <a:rPr lang="en-US" dirty="0"/>
              <a:t>and class </a:t>
            </a:r>
            <a:r>
              <a:rPr lang="en-US" u="sng" dirty="0"/>
              <a:t>E is reserved. </a:t>
            </a:r>
          </a:p>
          <a:p>
            <a:r>
              <a:rPr lang="en-US" dirty="0"/>
              <a:t>The class A, B, C formats allow for up to </a:t>
            </a:r>
          </a:p>
          <a:p>
            <a:pPr lvl="1"/>
            <a:r>
              <a:rPr lang="en-US" dirty="0"/>
              <a:t>128 networks with 16 million hosts each,</a:t>
            </a:r>
          </a:p>
          <a:p>
            <a:pPr lvl="1"/>
            <a:r>
              <a:rPr lang="en-US" dirty="0"/>
              <a:t>16,384 networks with up to 64K hosts, and </a:t>
            </a:r>
          </a:p>
          <a:p>
            <a:pPr lvl="1"/>
            <a:r>
              <a:rPr lang="en-US" dirty="0"/>
              <a:t>2 million networks (e.g., LANs) with up to 256 hosts each. </a:t>
            </a:r>
          </a:p>
          <a:p>
            <a:r>
              <a:rPr lang="en-US" u="sng" dirty="0"/>
              <a:t>Addresses beginning with 1111 are reserved for future </a:t>
            </a:r>
            <a:r>
              <a:rPr lang="en-IN" u="sng" dirty="0"/>
              <a:t>use.</a:t>
            </a:r>
          </a:p>
          <a:p>
            <a:r>
              <a:rPr lang="en-US" dirty="0"/>
              <a:t>Network numbers are managed by a </a:t>
            </a:r>
            <a:r>
              <a:rPr lang="en-US" dirty="0">
                <a:solidFill>
                  <a:schemeClr val="bg2"/>
                </a:solidFill>
              </a:rPr>
              <a:t>nonprofit corporation </a:t>
            </a:r>
            <a:r>
              <a:rPr lang="en-US" dirty="0"/>
              <a:t>called </a:t>
            </a:r>
            <a:r>
              <a:rPr lang="en-US" b="1" dirty="0"/>
              <a:t>ICANN </a:t>
            </a:r>
            <a:r>
              <a:rPr lang="en-US" dirty="0"/>
              <a:t>(</a:t>
            </a:r>
            <a:r>
              <a:rPr lang="en-US" b="1" dirty="0"/>
              <a:t>Internet Corporation for Assigned Names and Numbers</a:t>
            </a:r>
            <a:r>
              <a:rPr lang="en-US" dirty="0"/>
              <a:t>) to avoid conflicts. </a:t>
            </a:r>
          </a:p>
          <a:p>
            <a:r>
              <a:rPr lang="en-US" dirty="0"/>
              <a:t>ICANN has </a:t>
            </a:r>
            <a:r>
              <a:rPr lang="en-US" u="sng" dirty="0"/>
              <a:t>delegated parts of the address space to various regional authorities, </a:t>
            </a:r>
            <a:r>
              <a:rPr lang="en-US" dirty="0"/>
              <a:t>which then dole out IP addresses to ISPs and other companies.</a:t>
            </a:r>
            <a:endParaRPr lang="en-IN" dirty="0"/>
          </a:p>
          <a:p>
            <a:endParaRPr lang="en-IN" dirty="0"/>
          </a:p>
          <a:p>
            <a:endParaRPr lang="en-US" dirty="0"/>
          </a:p>
          <a:p>
            <a:endParaRPr lang="en-IN" dirty="0"/>
          </a:p>
        </p:txBody>
      </p:sp>
    </p:spTree>
    <p:extLst>
      <p:ext uri="{BB962C8B-B14F-4D97-AF65-F5344CB8AC3E}">
        <p14:creationId xmlns:p14="http://schemas.microsoft.com/office/powerpoint/2010/main" val="7548206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953209" y="649357"/>
            <a:ext cx="10400591" cy="5763118"/>
          </a:xfrm>
          <a:prstGeom prst="rect">
            <a:avLst/>
          </a:prstGeom>
        </p:spPr>
      </p:pic>
    </p:spTree>
    <p:extLst>
      <p:ext uri="{BB962C8B-B14F-4D97-AF65-F5344CB8AC3E}">
        <p14:creationId xmlns:p14="http://schemas.microsoft.com/office/powerpoint/2010/main" val="30315036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lstStyle/>
          <a:p>
            <a:endParaRPr lang="en-IN" dirty="0"/>
          </a:p>
        </p:txBody>
      </p:sp>
      <p:sp>
        <p:nvSpPr>
          <p:cNvPr id="3" name="Content Placeholder 2"/>
          <p:cNvSpPr>
            <a:spLocks noGrp="1"/>
          </p:cNvSpPr>
          <p:nvPr>
            <p:ph idx="1"/>
          </p:nvPr>
        </p:nvSpPr>
        <p:spPr>
          <a:xfrm>
            <a:off x="838199" y="1384663"/>
            <a:ext cx="10759751" cy="5342708"/>
          </a:xfrm>
        </p:spPr>
        <p:txBody>
          <a:bodyPr>
            <a:normAutofit fontScale="85000" lnSpcReduction="20000"/>
          </a:bodyPr>
          <a:lstStyle/>
          <a:p>
            <a:r>
              <a:rPr lang="en-IN" u="sng" dirty="0"/>
              <a:t>Problem</a:t>
            </a:r>
            <a:r>
              <a:rPr lang="en-IN" dirty="0"/>
              <a:t> with </a:t>
            </a:r>
            <a:r>
              <a:rPr lang="en-IN" dirty="0" err="1"/>
              <a:t>classful</a:t>
            </a:r>
            <a:r>
              <a:rPr lang="en-IN" dirty="0"/>
              <a:t> addressing: </a:t>
            </a:r>
          </a:p>
          <a:p>
            <a:pPr lvl="1"/>
            <a:r>
              <a:rPr lang="en-US" dirty="0"/>
              <a:t>Consider an organization has a Class B address which can support about 64,000 hosts. </a:t>
            </a:r>
          </a:p>
          <a:p>
            <a:pPr lvl="1"/>
            <a:r>
              <a:rPr lang="en-US" dirty="0"/>
              <a:t> It will be a huge task for the network-administrator to manage all 64,000 hosts. </a:t>
            </a:r>
          </a:p>
          <a:p>
            <a:r>
              <a:rPr lang="en-IN" u="sng" dirty="0"/>
              <a:t>Solution: </a:t>
            </a:r>
            <a:r>
              <a:rPr lang="en-IN" dirty="0"/>
              <a:t>Use </a:t>
            </a:r>
            <a:r>
              <a:rPr lang="en-IN" b="1" dirty="0">
                <a:solidFill>
                  <a:srgbClr val="FF0000"/>
                </a:solidFill>
              </a:rPr>
              <a:t>Subnetting(subnets)</a:t>
            </a:r>
          </a:p>
          <a:p>
            <a:r>
              <a:rPr lang="en-US" dirty="0">
                <a:solidFill>
                  <a:schemeClr val="bg2"/>
                </a:solidFill>
              </a:rPr>
              <a:t>Subnetting </a:t>
            </a:r>
            <a:r>
              <a:rPr lang="en-US" dirty="0"/>
              <a:t>is the process or a technique of </a:t>
            </a:r>
            <a:r>
              <a:rPr lang="en-US" dirty="0">
                <a:solidFill>
                  <a:schemeClr val="bg2"/>
                </a:solidFill>
              </a:rPr>
              <a:t>dividing  a large network into smaller, more manageable parts </a:t>
            </a:r>
            <a:r>
              <a:rPr lang="en-US" dirty="0"/>
              <a:t>called as subnets</a:t>
            </a:r>
          </a:p>
          <a:p>
            <a:r>
              <a:rPr lang="en-US" dirty="0"/>
              <a:t>It reduces </a:t>
            </a:r>
            <a:r>
              <a:rPr lang="en-US" u="sng" dirty="0"/>
              <a:t>the total number of network-numbers </a:t>
            </a:r>
            <a:r>
              <a:rPr lang="en-US" dirty="0"/>
              <a:t>by assigning a single network-number to many adjacent physical networks. </a:t>
            </a:r>
            <a:r>
              <a:rPr lang="en-US" u="sng" dirty="0">
                <a:solidFill>
                  <a:schemeClr val="bg2"/>
                </a:solidFill>
              </a:rPr>
              <a:t>Each adjacent physical network is referred to as subnet. </a:t>
            </a:r>
          </a:p>
          <a:p>
            <a:r>
              <a:rPr lang="en-US" dirty="0"/>
              <a:t>All nodes on a subnet are configured with a subnet mask. For example: 255.255.255.0. </a:t>
            </a:r>
          </a:p>
          <a:p>
            <a:r>
              <a:rPr lang="en-US" dirty="0"/>
              <a:t>The bitwise AND of IP address and its subnet mask gives the </a:t>
            </a:r>
            <a:r>
              <a:rPr lang="en-US" b="1" u="sng" dirty="0"/>
              <a:t>subnet number</a:t>
            </a:r>
            <a:r>
              <a:rPr lang="en-US" dirty="0"/>
              <a:t>. </a:t>
            </a:r>
          </a:p>
          <a:p>
            <a:r>
              <a:rPr lang="en-US" u="sng" dirty="0"/>
              <a:t>Advantage</a:t>
            </a:r>
            <a:r>
              <a:rPr lang="en-US" dirty="0"/>
              <a:t>: The subnet-addressing scheme is </a:t>
            </a:r>
            <a:r>
              <a:rPr lang="en-US" dirty="0">
                <a:solidFill>
                  <a:schemeClr val="bg2"/>
                </a:solidFill>
              </a:rPr>
              <a:t>hidden to the network outside the organization. </a:t>
            </a:r>
          </a:p>
          <a:p>
            <a:r>
              <a:rPr lang="en-US" dirty="0"/>
              <a:t>Inside the organization the network-administrator is free to choose any combination of lengths for the </a:t>
            </a:r>
            <a:r>
              <a:rPr lang="en-IN" dirty="0"/>
              <a:t>subnet &amp; host ID fields. </a:t>
            </a:r>
          </a:p>
        </p:txBody>
      </p:sp>
    </p:spTree>
    <p:extLst>
      <p:ext uri="{BB962C8B-B14F-4D97-AF65-F5344CB8AC3E}">
        <p14:creationId xmlns:p14="http://schemas.microsoft.com/office/powerpoint/2010/main" val="38904805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687" y="149907"/>
            <a:ext cx="10515600" cy="745218"/>
          </a:xfrm>
        </p:spPr>
        <p:txBody>
          <a:bodyPr/>
          <a:lstStyle/>
          <a:p>
            <a:r>
              <a:rPr lang="en-IN" b="1" i="1" dirty="0"/>
              <a:t>Subnets</a:t>
            </a:r>
            <a:endParaRPr lang="en-IN" dirty="0"/>
          </a:p>
        </p:txBody>
      </p:sp>
      <p:pic>
        <p:nvPicPr>
          <p:cNvPr id="4" name="Content Placeholder 3"/>
          <p:cNvPicPr>
            <a:picLocks noGrp="1" noChangeAspect="1"/>
          </p:cNvPicPr>
          <p:nvPr>
            <p:ph idx="1"/>
          </p:nvPr>
        </p:nvPicPr>
        <p:blipFill>
          <a:blip r:embed="rId2"/>
          <a:stretch>
            <a:fillRect/>
          </a:stretch>
        </p:blipFill>
        <p:spPr>
          <a:xfrm>
            <a:off x="1608475" y="1166191"/>
            <a:ext cx="9307812" cy="3722726"/>
          </a:xfrm>
          <a:prstGeom prst="rect">
            <a:avLst/>
          </a:prstGeom>
        </p:spPr>
      </p:pic>
    </p:spTree>
    <p:extLst>
      <p:ext uri="{BB962C8B-B14F-4D97-AF65-F5344CB8AC3E}">
        <p14:creationId xmlns:p14="http://schemas.microsoft.com/office/powerpoint/2010/main" val="15743516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DB0DF-49DB-59F4-D837-B737F229437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A6C5C6B-CACB-CE71-2419-39A3AE974C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5995" y="304726"/>
            <a:ext cx="10280659" cy="6248548"/>
          </a:xfrm>
        </p:spPr>
      </p:pic>
    </p:spTree>
    <p:extLst>
      <p:ext uri="{BB962C8B-B14F-4D97-AF65-F5344CB8AC3E}">
        <p14:creationId xmlns:p14="http://schemas.microsoft.com/office/powerpoint/2010/main" val="23273664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9838"/>
            <a:ext cx="10515600" cy="1013101"/>
          </a:xfrm>
        </p:spPr>
        <p:txBody>
          <a:bodyPr/>
          <a:lstStyle/>
          <a:p>
            <a:r>
              <a:rPr lang="en-IN" b="1" dirty="0"/>
              <a:t>Subnets </a:t>
            </a:r>
            <a:endParaRPr lang="en-IN" dirty="0"/>
          </a:p>
        </p:txBody>
      </p:sp>
      <p:sp>
        <p:nvSpPr>
          <p:cNvPr id="3" name="Content Placeholder 2"/>
          <p:cNvSpPr>
            <a:spLocks noGrp="1"/>
          </p:cNvSpPr>
          <p:nvPr>
            <p:ph idx="1"/>
          </p:nvPr>
        </p:nvSpPr>
        <p:spPr>
          <a:xfrm>
            <a:off x="838200" y="920336"/>
            <a:ext cx="10757452" cy="4002156"/>
          </a:xfrm>
        </p:spPr>
        <p:txBody>
          <a:bodyPr>
            <a:normAutofit fontScale="85000" lnSpcReduction="10000"/>
          </a:bodyPr>
          <a:lstStyle/>
          <a:p>
            <a:r>
              <a:rPr lang="en-US" dirty="0"/>
              <a:t>The </a:t>
            </a:r>
            <a:r>
              <a:rPr lang="en-US" dirty="0">
                <a:solidFill>
                  <a:schemeClr val="bg2"/>
                </a:solidFill>
              </a:rPr>
              <a:t>individual smaller network </a:t>
            </a:r>
            <a:r>
              <a:rPr lang="en-US" dirty="0"/>
              <a:t>created as a result of subnetting</a:t>
            </a:r>
          </a:p>
          <a:p>
            <a:r>
              <a:rPr lang="en-US" dirty="0"/>
              <a:t>As the network grows, it is allowed a </a:t>
            </a:r>
            <a:r>
              <a:rPr lang="en-US" u="sng" dirty="0"/>
              <a:t>network to be split into several parts</a:t>
            </a:r>
            <a:r>
              <a:rPr lang="en-US" dirty="0"/>
              <a:t> for internal use but still act like a </a:t>
            </a:r>
            <a:r>
              <a:rPr lang="en-US" u="sng" dirty="0"/>
              <a:t>single network to the outside world. </a:t>
            </a:r>
          </a:p>
          <a:p>
            <a:r>
              <a:rPr lang="en-US" dirty="0"/>
              <a:t>In the Internet literature, the parts of the network (in this case, Ethernets) are called </a:t>
            </a:r>
            <a:r>
              <a:rPr lang="en-US" b="1" dirty="0"/>
              <a:t>subnets. </a:t>
            </a:r>
            <a:endParaRPr lang="en-US" dirty="0"/>
          </a:p>
          <a:p>
            <a:r>
              <a:rPr lang="en-US" dirty="0"/>
              <a:t>To implement </a:t>
            </a:r>
            <a:r>
              <a:rPr lang="en-US" dirty="0" err="1"/>
              <a:t>subnetting</a:t>
            </a:r>
            <a:r>
              <a:rPr lang="en-US" dirty="0"/>
              <a:t>, the main router needs a </a:t>
            </a:r>
            <a:r>
              <a:rPr lang="en-US" b="1" dirty="0"/>
              <a:t>subnet mask </a:t>
            </a:r>
            <a:r>
              <a:rPr lang="en-US" dirty="0"/>
              <a:t>that indicates the split between network + subnet number and host, </a:t>
            </a:r>
          </a:p>
          <a:p>
            <a:r>
              <a:rPr lang="en-US" dirty="0"/>
              <a:t>Subnet masks are also written in dotted decimal notation, with the addition of a slash followed by the number of bits in the network + subnet part. For the example of Fig. the subnet mask can be written as 255.255.252.0. An alternative notation is /22 to indicate that the subnet mask is 22 bits long. </a:t>
            </a:r>
            <a:endParaRPr lang="en-IN" dirty="0"/>
          </a:p>
        </p:txBody>
      </p:sp>
      <p:pic>
        <p:nvPicPr>
          <p:cNvPr id="4" name="Picture 3"/>
          <p:cNvPicPr>
            <a:picLocks noChangeAspect="1"/>
          </p:cNvPicPr>
          <p:nvPr/>
        </p:nvPicPr>
        <p:blipFill>
          <a:blip r:embed="rId2"/>
          <a:stretch>
            <a:fillRect/>
          </a:stretch>
        </p:blipFill>
        <p:spPr>
          <a:xfrm>
            <a:off x="1283027" y="4922492"/>
            <a:ext cx="10482470" cy="1795670"/>
          </a:xfrm>
          <a:prstGeom prst="rect">
            <a:avLst/>
          </a:prstGeom>
        </p:spPr>
      </p:pic>
    </p:spTree>
    <p:extLst>
      <p:ext uri="{BB962C8B-B14F-4D97-AF65-F5344CB8AC3E}">
        <p14:creationId xmlns:p14="http://schemas.microsoft.com/office/powerpoint/2010/main" val="1340255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0349"/>
          </a:xfrm>
        </p:spPr>
        <p:txBody>
          <a:bodyPr/>
          <a:lstStyle/>
          <a:p>
            <a:endParaRPr lang="en-IN" dirty="0"/>
          </a:p>
        </p:txBody>
      </p:sp>
      <p:sp>
        <p:nvSpPr>
          <p:cNvPr id="3" name="Content Placeholder 2"/>
          <p:cNvSpPr>
            <a:spLocks noGrp="1"/>
          </p:cNvSpPr>
          <p:nvPr>
            <p:ph idx="1"/>
          </p:nvPr>
        </p:nvSpPr>
        <p:spPr>
          <a:xfrm>
            <a:off x="838200" y="1515291"/>
            <a:ext cx="10515600" cy="4661672"/>
          </a:xfrm>
        </p:spPr>
        <p:txBody>
          <a:bodyPr>
            <a:normAutofit/>
          </a:bodyPr>
          <a:lstStyle/>
          <a:p>
            <a:r>
              <a:rPr lang="en-US" dirty="0"/>
              <a:t>Problem with </a:t>
            </a:r>
            <a:r>
              <a:rPr lang="en-US" dirty="0" err="1"/>
              <a:t>classful</a:t>
            </a:r>
            <a:r>
              <a:rPr lang="en-US" dirty="0"/>
              <a:t> IP addressing: </a:t>
            </a:r>
          </a:p>
          <a:p>
            <a:pPr lvl="1"/>
            <a:r>
              <a:rPr lang="en-US" dirty="0"/>
              <a:t>Consider an organization needs about 500 hosts. </a:t>
            </a:r>
          </a:p>
          <a:p>
            <a:pPr lvl="1"/>
            <a:r>
              <a:rPr lang="en-US" dirty="0"/>
              <a:t>Obviously, the organization will get a Class B license, even though it has far fewer than 64,000 hosts. </a:t>
            </a:r>
          </a:p>
          <a:p>
            <a:pPr lvl="1"/>
            <a:r>
              <a:rPr lang="en-US" dirty="0"/>
              <a:t>At most, over 64,000 addresses can go unused. </a:t>
            </a:r>
          </a:p>
          <a:p>
            <a:pPr lvl="1"/>
            <a:r>
              <a:rPr lang="en-US" dirty="0"/>
              <a:t>This results in inefficient usage of the available address-space. </a:t>
            </a:r>
            <a:endParaRPr lang="en-IN" dirty="0"/>
          </a:p>
          <a:p>
            <a:r>
              <a:rPr lang="en-US" b="1" dirty="0"/>
              <a:t>Solution: </a:t>
            </a:r>
            <a:r>
              <a:rPr lang="en-US" dirty="0"/>
              <a:t>Use CIDR (Classless Inter Domain Routing). </a:t>
            </a:r>
          </a:p>
          <a:p>
            <a:pPr lvl="1"/>
            <a:r>
              <a:rPr lang="en-IN" dirty="0"/>
              <a:t>CIDR addresses </a:t>
            </a:r>
          </a:p>
          <a:p>
            <a:pPr lvl="1"/>
            <a:r>
              <a:rPr lang="en-US" dirty="0"/>
              <a:t> reduce the size of routing-tables </a:t>
            </a:r>
          </a:p>
          <a:p>
            <a:pPr lvl="1"/>
            <a:r>
              <a:rPr lang="en-US" dirty="0"/>
              <a:t>make more IP addresses available within organizations. </a:t>
            </a:r>
          </a:p>
          <a:p>
            <a:endParaRPr lang="en-IN" dirty="0"/>
          </a:p>
        </p:txBody>
      </p:sp>
    </p:spTree>
    <p:extLst>
      <p:ext uri="{BB962C8B-B14F-4D97-AF65-F5344CB8AC3E}">
        <p14:creationId xmlns:p14="http://schemas.microsoft.com/office/powerpoint/2010/main" val="29584918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6597"/>
          </a:xfrm>
        </p:spPr>
        <p:txBody>
          <a:bodyPr/>
          <a:lstStyle/>
          <a:p>
            <a:r>
              <a:rPr lang="en-IN" b="1" dirty="0"/>
              <a:t>CIDR (Classless </a:t>
            </a:r>
            <a:r>
              <a:rPr lang="en-IN" b="1" dirty="0" err="1"/>
              <a:t>Interdomain</a:t>
            </a:r>
            <a:r>
              <a:rPr lang="en-IN" b="1" dirty="0"/>
              <a:t> Routing) </a:t>
            </a:r>
            <a:endParaRPr lang="en-IN" dirty="0"/>
          </a:p>
        </p:txBody>
      </p:sp>
      <p:sp>
        <p:nvSpPr>
          <p:cNvPr id="3" name="Content Placeholder 2"/>
          <p:cNvSpPr>
            <a:spLocks noGrp="1"/>
          </p:cNvSpPr>
          <p:nvPr>
            <p:ph idx="1"/>
          </p:nvPr>
        </p:nvSpPr>
        <p:spPr>
          <a:xfrm>
            <a:off x="437323" y="1351722"/>
            <a:ext cx="11092068" cy="4647862"/>
          </a:xfrm>
        </p:spPr>
        <p:txBody>
          <a:bodyPr>
            <a:noAutofit/>
          </a:bodyPr>
          <a:lstStyle/>
          <a:p>
            <a:pPr>
              <a:lnSpc>
                <a:spcPct val="100000"/>
              </a:lnSpc>
              <a:spcBef>
                <a:spcPts val="0"/>
              </a:spcBef>
            </a:pPr>
            <a:r>
              <a:rPr lang="en-US" sz="2400" dirty="0"/>
              <a:t>The basic idea behind CIDR, is to </a:t>
            </a:r>
            <a:r>
              <a:rPr lang="en-US" sz="2400" dirty="0">
                <a:solidFill>
                  <a:srgbClr val="FF0000"/>
                </a:solidFill>
              </a:rPr>
              <a:t>allocate the remaining IP addresses in variable-sized block</a:t>
            </a:r>
            <a:r>
              <a:rPr lang="en-US" sz="2400" dirty="0"/>
              <a:t>s, without regard to the classes. </a:t>
            </a:r>
          </a:p>
          <a:p>
            <a:pPr>
              <a:lnSpc>
                <a:spcPct val="100000"/>
              </a:lnSpc>
              <a:spcBef>
                <a:spcPts val="0"/>
              </a:spcBef>
            </a:pPr>
            <a:r>
              <a:rPr lang="en-IN" sz="2400" dirty="0"/>
              <a:t>CIDR (Classless Inter-Domain Routing) is a system introduced in 1993 to </a:t>
            </a:r>
            <a:r>
              <a:rPr lang="en-IN" sz="2400" dirty="0">
                <a:solidFill>
                  <a:srgbClr val="FF0000"/>
                </a:solidFill>
              </a:rPr>
              <a:t>replace the old classful IP addressing system </a:t>
            </a:r>
            <a:r>
              <a:rPr lang="en-IN" sz="2400" dirty="0"/>
              <a:t>(Classes A, B, and C).</a:t>
            </a:r>
          </a:p>
          <a:p>
            <a:pPr>
              <a:lnSpc>
                <a:spcPct val="100000"/>
              </a:lnSpc>
              <a:spcBef>
                <a:spcPts val="0"/>
              </a:spcBef>
            </a:pPr>
            <a:r>
              <a:rPr lang="en-IN" sz="2400" dirty="0"/>
              <a:t>It allows for </a:t>
            </a:r>
            <a:r>
              <a:rPr lang="en-IN" sz="2400" dirty="0">
                <a:solidFill>
                  <a:srgbClr val="FF0000"/>
                </a:solidFill>
              </a:rPr>
              <a:t>flexible allocation of IP addresses and efficient routing</a:t>
            </a:r>
            <a:r>
              <a:rPr lang="en-IN" sz="2400" dirty="0"/>
              <a:t> of packets on the internet.</a:t>
            </a:r>
            <a:endParaRPr lang="en-US" sz="2400" dirty="0"/>
          </a:p>
          <a:p>
            <a:pPr>
              <a:lnSpc>
                <a:spcPct val="100000"/>
              </a:lnSpc>
              <a:spcBef>
                <a:spcPts val="0"/>
              </a:spcBef>
            </a:pPr>
            <a:r>
              <a:rPr lang="en-IN" sz="2400" dirty="0"/>
              <a:t>CIDR allows </a:t>
            </a:r>
            <a:r>
              <a:rPr lang="en-IN" sz="2400" dirty="0">
                <a:solidFill>
                  <a:srgbClr val="FF0000"/>
                </a:solidFill>
              </a:rPr>
              <a:t>variable-length subnet masks</a:t>
            </a:r>
            <a:r>
              <a:rPr lang="en-IN" sz="2400" dirty="0"/>
              <a:t>, so you can choose </a:t>
            </a:r>
            <a:r>
              <a:rPr lang="en-IN" sz="2400" u="sng" dirty="0"/>
              <a:t>exactly how many bits are used for the network and host parts.</a:t>
            </a:r>
            <a:endParaRPr lang="en-US" sz="2400" u="sng" dirty="0"/>
          </a:p>
          <a:p>
            <a:pPr>
              <a:lnSpc>
                <a:spcPct val="100000"/>
              </a:lnSpc>
              <a:spcBef>
                <a:spcPts val="0"/>
              </a:spcBef>
            </a:pPr>
            <a:r>
              <a:rPr lang="en-US" sz="2400" dirty="0"/>
              <a:t>Using CIDR, each IP address has a </a:t>
            </a:r>
            <a:r>
              <a:rPr lang="en-US" sz="2400" dirty="0">
                <a:solidFill>
                  <a:srgbClr val="FF0000"/>
                </a:solidFill>
              </a:rPr>
              <a:t>network prefix </a:t>
            </a:r>
            <a:r>
              <a:rPr lang="en-US" sz="2400" dirty="0"/>
              <a:t>that </a:t>
            </a:r>
            <a:r>
              <a:rPr lang="en-US" sz="2400" u="sng" dirty="0"/>
              <a:t>identifies either one or several network gateways</a:t>
            </a:r>
            <a:r>
              <a:rPr lang="en-US" sz="2400" dirty="0"/>
              <a:t>. The length of the network prefix in IPv4. </a:t>
            </a:r>
          </a:p>
          <a:p>
            <a:pPr>
              <a:lnSpc>
                <a:spcPct val="100000"/>
              </a:lnSpc>
              <a:spcBef>
                <a:spcPts val="0"/>
              </a:spcBef>
            </a:pPr>
            <a:r>
              <a:rPr lang="en-US" sz="2400" dirty="0"/>
              <a:t>CIDR is also specified as</a:t>
            </a:r>
            <a:r>
              <a:rPr lang="en-US" sz="2400" dirty="0">
                <a:solidFill>
                  <a:srgbClr val="FF0000"/>
                </a:solidFill>
              </a:rPr>
              <a:t> part of the IP address and varies depending on the number of bits needed</a:t>
            </a:r>
            <a:r>
              <a:rPr lang="en-US" sz="2400" dirty="0"/>
              <a:t>, rather than any arbitrary class assignment structure. </a:t>
            </a:r>
          </a:p>
          <a:p>
            <a:pPr>
              <a:lnSpc>
                <a:spcPct val="100000"/>
              </a:lnSpc>
              <a:spcBef>
                <a:spcPts val="0"/>
              </a:spcBef>
            </a:pPr>
            <a:endParaRPr lang="en-IN" sz="2000" dirty="0"/>
          </a:p>
          <a:p>
            <a:pPr>
              <a:lnSpc>
                <a:spcPct val="100000"/>
              </a:lnSpc>
              <a:spcBef>
                <a:spcPts val="0"/>
              </a:spcBef>
            </a:pPr>
            <a:endParaRPr lang="en-IN" sz="1200" dirty="0"/>
          </a:p>
        </p:txBody>
      </p:sp>
    </p:spTree>
    <p:extLst>
      <p:ext uri="{BB962C8B-B14F-4D97-AF65-F5344CB8AC3E}">
        <p14:creationId xmlns:p14="http://schemas.microsoft.com/office/powerpoint/2010/main" val="1169552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B35A6-3379-1B6D-CB75-00A2E124D4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E19CB7-E76D-D031-270E-6452D04A9B13}"/>
              </a:ext>
            </a:extLst>
          </p:cNvPr>
          <p:cNvSpPr>
            <a:spLocks noGrp="1"/>
          </p:cNvSpPr>
          <p:nvPr>
            <p:ph idx="1"/>
          </p:nvPr>
        </p:nvSpPr>
        <p:spPr/>
        <p:txBody>
          <a:bodyPr/>
          <a:lstStyle/>
          <a:p>
            <a:r>
              <a:rPr lang="en-IN" dirty="0"/>
              <a:t>CIDR is written as:</a:t>
            </a:r>
          </a:p>
          <a:p>
            <a:r>
              <a:rPr lang="en-IN" dirty="0"/>
              <a:t>&lt;IP address&gt;/&lt;prefix length&gt;</a:t>
            </a:r>
          </a:p>
          <a:p>
            <a:r>
              <a:rPr lang="en-IN" dirty="0"/>
              <a:t>Example:</a:t>
            </a:r>
          </a:p>
          <a:p>
            <a:r>
              <a:rPr lang="en-IN" dirty="0"/>
              <a:t>192.168.1.0/24</a:t>
            </a:r>
          </a:p>
          <a:p>
            <a:pPr lvl="0"/>
            <a:r>
              <a:rPr lang="en-IN" dirty="0"/>
              <a:t>/24 means the </a:t>
            </a:r>
            <a:r>
              <a:rPr lang="en-IN" b="1" dirty="0"/>
              <a:t>first 24 bits</a:t>
            </a:r>
            <a:r>
              <a:rPr lang="en-IN" dirty="0"/>
              <a:t> are network bits.</a:t>
            </a:r>
          </a:p>
          <a:p>
            <a:pPr lvl="0"/>
            <a:r>
              <a:rPr lang="en-IN" dirty="0"/>
              <a:t>Subnet mask = </a:t>
            </a:r>
            <a:r>
              <a:rPr lang="en-IN" b="1" dirty="0"/>
              <a:t>255.255.255.0</a:t>
            </a:r>
            <a:endParaRPr lang="en-IN" dirty="0"/>
          </a:p>
          <a:p>
            <a:endParaRPr lang="en-IN" dirty="0"/>
          </a:p>
        </p:txBody>
      </p:sp>
    </p:spTree>
    <p:extLst>
      <p:ext uri="{BB962C8B-B14F-4D97-AF65-F5344CB8AC3E}">
        <p14:creationId xmlns:p14="http://schemas.microsoft.com/office/powerpoint/2010/main" val="33246530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lstStyle/>
          <a:p>
            <a:r>
              <a:rPr lang="en-IN" b="1" dirty="0"/>
              <a:t>NAT </a:t>
            </a:r>
            <a:endParaRPr lang="en-IN" dirty="0"/>
          </a:p>
        </p:txBody>
      </p:sp>
      <p:sp>
        <p:nvSpPr>
          <p:cNvPr id="3" name="Content Placeholder 2"/>
          <p:cNvSpPr>
            <a:spLocks noGrp="1"/>
          </p:cNvSpPr>
          <p:nvPr>
            <p:ph idx="1"/>
          </p:nvPr>
        </p:nvSpPr>
        <p:spPr>
          <a:xfrm>
            <a:off x="838200" y="1084217"/>
            <a:ext cx="10515600" cy="5092746"/>
          </a:xfrm>
        </p:spPr>
        <p:txBody>
          <a:bodyPr>
            <a:normAutofit fontScale="85000" lnSpcReduction="10000"/>
          </a:bodyPr>
          <a:lstStyle/>
          <a:p>
            <a:r>
              <a:rPr lang="en-US" dirty="0"/>
              <a:t>Network Address Translation (NAT) enables </a:t>
            </a:r>
            <a:r>
              <a:rPr lang="en-US" u="sng" dirty="0"/>
              <a:t>hosts to use Internet </a:t>
            </a:r>
            <a:r>
              <a:rPr lang="en-US" u="sng" dirty="0">
                <a:solidFill>
                  <a:schemeClr val="tx1">
                    <a:lumMod val="20000"/>
                    <a:lumOff val="80000"/>
                  </a:schemeClr>
                </a:solidFill>
              </a:rPr>
              <a:t>without the need to have globally unique addresses. </a:t>
            </a:r>
          </a:p>
          <a:p>
            <a:r>
              <a:rPr lang="en-US" dirty="0"/>
              <a:t>NAT enables organization to have a </a:t>
            </a:r>
            <a:r>
              <a:rPr lang="en-US" u="sng" dirty="0"/>
              <a:t>large set of addresses internally and one address externally. </a:t>
            </a:r>
          </a:p>
          <a:p>
            <a:r>
              <a:rPr lang="en-US" dirty="0"/>
              <a:t>The organization must have </a:t>
            </a:r>
            <a:r>
              <a:rPr lang="en-US" u="sng" dirty="0"/>
              <a:t>single connection to the Internet through a NAT-enabled router. </a:t>
            </a:r>
          </a:p>
          <a:p>
            <a:r>
              <a:rPr lang="en-US" dirty="0"/>
              <a:t>NAT allows a single device (such as a router) to act as an agent b/w internet </a:t>
            </a:r>
            <a:r>
              <a:rPr lang="en-US" u="sng" dirty="0"/>
              <a:t>(or "public network") and local (or "private") network. </a:t>
            </a:r>
          </a:p>
          <a:p>
            <a:r>
              <a:rPr lang="en-US" dirty="0"/>
              <a:t>This means only a single, </a:t>
            </a:r>
            <a:r>
              <a:rPr lang="en-US" u="sng" dirty="0"/>
              <a:t>unique IP address is required to represent an entire group of computers. </a:t>
            </a:r>
            <a:endParaRPr lang="en-IN" dirty="0"/>
          </a:p>
          <a:p>
            <a:r>
              <a:rPr lang="en-US" dirty="0"/>
              <a:t>The private addresses only have meaning to devices within a given network. </a:t>
            </a:r>
          </a:p>
          <a:p>
            <a:r>
              <a:rPr lang="en-US" dirty="0"/>
              <a:t>The </a:t>
            </a:r>
            <a:r>
              <a:rPr lang="en-US" u="sng" dirty="0"/>
              <a:t>NAT-enabled router does not look like a router to the outside world. </a:t>
            </a:r>
          </a:p>
          <a:p>
            <a:r>
              <a:rPr lang="en-US" dirty="0"/>
              <a:t>Instead, the NAT-enabled router behaves to the outside world as a </a:t>
            </a:r>
            <a:r>
              <a:rPr lang="en-US" u="sng" dirty="0">
                <a:solidFill>
                  <a:schemeClr val="tx1">
                    <a:lumMod val="20000"/>
                    <a:lumOff val="80000"/>
                  </a:schemeClr>
                </a:solidFill>
              </a:rPr>
              <a:t>single device with a single IP address. </a:t>
            </a:r>
          </a:p>
          <a:p>
            <a:endParaRPr lang="en-US" u="sng" dirty="0"/>
          </a:p>
          <a:p>
            <a:endParaRPr lang="en-IN" dirty="0"/>
          </a:p>
        </p:txBody>
      </p:sp>
    </p:spTree>
    <p:extLst>
      <p:ext uri="{BB962C8B-B14F-4D97-AF65-F5344CB8AC3E}">
        <p14:creationId xmlns:p14="http://schemas.microsoft.com/office/powerpoint/2010/main" val="21968085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25217" y="488352"/>
            <a:ext cx="9372600" cy="5634151"/>
          </a:xfrm>
          <a:prstGeom prst="rect">
            <a:avLst/>
          </a:prstGeom>
        </p:spPr>
      </p:pic>
    </p:spTree>
    <p:extLst>
      <p:ext uri="{BB962C8B-B14F-4D97-AF65-F5344CB8AC3E}">
        <p14:creationId xmlns:p14="http://schemas.microsoft.com/office/powerpoint/2010/main" val="41756834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normAutofit fontScale="90000"/>
          </a:bodyPr>
          <a:lstStyle/>
          <a:p>
            <a:r>
              <a:rPr lang="en-IN" b="1" dirty="0"/>
              <a:t>Internet Control Protocols-</a:t>
            </a:r>
            <a:br>
              <a:rPr lang="en-IN" b="1" dirty="0"/>
            </a:br>
            <a:r>
              <a:rPr lang="en-IN" b="1" dirty="0"/>
              <a:t>Internet Control Message Protocol (ICMP) </a:t>
            </a:r>
            <a:endParaRPr lang="en-IN" dirty="0"/>
          </a:p>
        </p:txBody>
      </p:sp>
      <p:sp>
        <p:nvSpPr>
          <p:cNvPr id="3" name="Content Placeholder 2"/>
          <p:cNvSpPr>
            <a:spLocks noGrp="1"/>
          </p:cNvSpPr>
          <p:nvPr>
            <p:ph idx="1"/>
          </p:nvPr>
        </p:nvSpPr>
        <p:spPr/>
        <p:txBody>
          <a:bodyPr>
            <a:normAutofit fontScale="92500" lnSpcReduction="20000"/>
          </a:bodyPr>
          <a:lstStyle/>
          <a:p>
            <a:r>
              <a:rPr lang="en-US" dirty="0"/>
              <a:t>ICMP is used by hosts and routers to </a:t>
            </a:r>
            <a:r>
              <a:rPr lang="en-US" u="sng" dirty="0">
                <a:solidFill>
                  <a:schemeClr val="tx1">
                    <a:lumMod val="20000"/>
                    <a:lumOff val="80000"/>
                  </a:schemeClr>
                </a:solidFill>
              </a:rPr>
              <a:t>communicate network- layer information to each other. </a:t>
            </a:r>
            <a:r>
              <a:rPr lang="en-US" dirty="0"/>
              <a:t>The most typical use of ICMP is for </a:t>
            </a:r>
            <a:r>
              <a:rPr lang="en-US" u="sng" dirty="0"/>
              <a:t>error reporting. </a:t>
            </a:r>
          </a:p>
          <a:p>
            <a:r>
              <a:rPr lang="en-US" dirty="0"/>
              <a:t>ICMP is part of IP but </a:t>
            </a:r>
            <a:r>
              <a:rPr lang="en-US" u="sng" dirty="0"/>
              <a:t>architecturally it lies just above IP hence </a:t>
            </a:r>
            <a:r>
              <a:rPr lang="en-US" u="sng" dirty="0">
                <a:solidFill>
                  <a:schemeClr val="tx1">
                    <a:lumMod val="20000"/>
                    <a:lumOff val="80000"/>
                  </a:schemeClr>
                </a:solidFill>
              </a:rPr>
              <a:t>ICMP messages are carried inside IP datagrams</a:t>
            </a:r>
            <a:r>
              <a:rPr lang="en-US" dirty="0">
                <a:solidFill>
                  <a:schemeClr val="tx1">
                    <a:lumMod val="20000"/>
                    <a:lumOff val="80000"/>
                  </a:schemeClr>
                </a:solidFill>
              </a:rPr>
              <a:t>. </a:t>
            </a:r>
            <a:r>
              <a:rPr lang="en-US" dirty="0"/>
              <a:t>That is, ICMP messages are carried as IP payload.</a:t>
            </a:r>
          </a:p>
          <a:p>
            <a:r>
              <a:rPr lang="en-US" dirty="0"/>
              <a:t>ICMP messages have a</a:t>
            </a:r>
            <a:r>
              <a:rPr lang="en-US" u="sng" dirty="0"/>
              <a:t> type and a code field</a:t>
            </a:r>
            <a:r>
              <a:rPr lang="en-US" dirty="0"/>
              <a:t>, and contain the header and the first 8 bytes of the IP datagram</a:t>
            </a:r>
          </a:p>
          <a:p>
            <a:r>
              <a:rPr lang="en-US" dirty="0"/>
              <a:t>The well-known ping program sends an ICMP type </a:t>
            </a:r>
            <a:r>
              <a:rPr lang="en-US" u="sng" dirty="0"/>
              <a:t>8 code 0 message </a:t>
            </a:r>
            <a:r>
              <a:rPr lang="en-US" dirty="0"/>
              <a:t>to the specified host. The destination host, seeing the echo request, sends back a </a:t>
            </a:r>
            <a:r>
              <a:rPr lang="en-US" u="sng" dirty="0"/>
              <a:t>type 0 code 0 </a:t>
            </a:r>
            <a:r>
              <a:rPr lang="en-US" dirty="0"/>
              <a:t>ICMP echo reply. </a:t>
            </a:r>
          </a:p>
          <a:p>
            <a:r>
              <a:rPr lang="en-US" dirty="0"/>
              <a:t>Congested router send an </a:t>
            </a:r>
            <a:r>
              <a:rPr lang="en-US" u="sng" dirty="0"/>
              <a:t>ICMP source quench message </a:t>
            </a:r>
            <a:r>
              <a:rPr lang="en-US" dirty="0"/>
              <a:t>to a host to force that host to reduce its transmission rate. </a:t>
            </a:r>
          </a:p>
          <a:p>
            <a:endParaRPr lang="en-IN" dirty="0"/>
          </a:p>
        </p:txBody>
      </p:sp>
    </p:spTree>
    <p:extLst>
      <p:ext uri="{BB962C8B-B14F-4D97-AF65-F5344CB8AC3E}">
        <p14:creationId xmlns:p14="http://schemas.microsoft.com/office/powerpoint/2010/main" val="5338018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841864" y="1027906"/>
            <a:ext cx="9068007" cy="5046323"/>
          </a:xfrm>
          <a:prstGeom prst="rect">
            <a:avLst/>
          </a:prstGeom>
        </p:spPr>
      </p:pic>
    </p:spTree>
    <p:extLst>
      <p:ext uri="{BB962C8B-B14F-4D97-AF65-F5344CB8AC3E}">
        <p14:creationId xmlns:p14="http://schemas.microsoft.com/office/powerpoint/2010/main" val="2527399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972492" y="1137752"/>
            <a:ext cx="9034106" cy="4453151"/>
          </a:xfrm>
          <a:prstGeom prst="rect">
            <a:avLst/>
          </a:prstGeom>
        </p:spPr>
      </p:pic>
    </p:spTree>
    <p:extLst>
      <p:ext uri="{BB962C8B-B14F-4D97-AF65-F5344CB8AC3E}">
        <p14:creationId xmlns:p14="http://schemas.microsoft.com/office/powerpoint/2010/main" val="25682243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Obtaining a Host Address: DHCP </a:t>
            </a:r>
            <a:endParaRPr lang="en-US" dirty="0"/>
          </a:p>
          <a:p>
            <a:r>
              <a:rPr lang="en-US" dirty="0"/>
              <a:t>Two ways to assign an IP address to a host: </a:t>
            </a:r>
          </a:p>
          <a:p>
            <a:endParaRPr lang="en-IN" dirty="0"/>
          </a:p>
          <a:p>
            <a:r>
              <a:rPr lang="en-IN" b="1" dirty="0"/>
              <a:t>1) </a:t>
            </a:r>
            <a:r>
              <a:rPr lang="en-IN" dirty="0"/>
              <a:t>Manual Configuration </a:t>
            </a:r>
          </a:p>
          <a:p>
            <a:r>
              <a:rPr lang="en-US" dirty="0"/>
              <a:t>Operating systems allow system-administrator to manually configure IP address. </a:t>
            </a:r>
          </a:p>
          <a:p>
            <a:r>
              <a:rPr lang="en-IN" b="1" dirty="0"/>
              <a:t>2) </a:t>
            </a:r>
            <a:r>
              <a:rPr lang="en-IN" dirty="0"/>
              <a:t>Dynamic Host Configuration Protocol (DHCP) </a:t>
            </a:r>
          </a:p>
          <a:p>
            <a:r>
              <a:rPr lang="en-US" dirty="0"/>
              <a:t>DHCP enables auto-configuration of IP address to host. </a:t>
            </a:r>
            <a:endParaRPr lang="en-IN" dirty="0"/>
          </a:p>
        </p:txBody>
      </p:sp>
    </p:spTree>
    <p:extLst>
      <p:ext uri="{BB962C8B-B14F-4D97-AF65-F5344CB8AC3E}">
        <p14:creationId xmlns:p14="http://schemas.microsoft.com/office/powerpoint/2010/main" val="37877686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lstStyle/>
          <a:p>
            <a:r>
              <a:rPr lang="en-IN" b="1" dirty="0"/>
              <a:t>DHCP Protocol </a:t>
            </a:r>
            <a:endParaRPr lang="en-IN" dirty="0"/>
          </a:p>
        </p:txBody>
      </p:sp>
      <p:sp>
        <p:nvSpPr>
          <p:cNvPr id="3" name="Content Placeholder 2"/>
          <p:cNvSpPr>
            <a:spLocks noGrp="1"/>
          </p:cNvSpPr>
          <p:nvPr>
            <p:ph idx="1"/>
          </p:nvPr>
        </p:nvSpPr>
        <p:spPr>
          <a:xfrm>
            <a:off x="335903" y="1188720"/>
            <a:ext cx="11327362" cy="5193419"/>
          </a:xfrm>
        </p:spPr>
        <p:txBody>
          <a:bodyPr>
            <a:normAutofit fontScale="85000" lnSpcReduction="20000"/>
          </a:bodyPr>
          <a:lstStyle/>
          <a:p>
            <a:r>
              <a:rPr lang="en-US" dirty="0"/>
              <a:t>DHCP enables </a:t>
            </a:r>
            <a:r>
              <a:rPr lang="en-US" u="sng" dirty="0"/>
              <a:t>auto-configuration of IP address to host</a:t>
            </a:r>
            <a:r>
              <a:rPr lang="en-US" dirty="0"/>
              <a:t>. </a:t>
            </a:r>
          </a:p>
          <a:p>
            <a:r>
              <a:rPr lang="en-US" dirty="0"/>
              <a:t>DHCP assigns </a:t>
            </a:r>
            <a:r>
              <a:rPr lang="en-US" u="sng" dirty="0"/>
              <a:t>dynamic IP addresses to devices on a network</a:t>
            </a:r>
            <a:r>
              <a:rPr lang="en-US" dirty="0"/>
              <a:t>. </a:t>
            </a:r>
          </a:p>
          <a:p>
            <a:r>
              <a:rPr lang="en-US" dirty="0"/>
              <a:t>Dynamic address allocation is required when a </a:t>
            </a:r>
            <a:r>
              <a:rPr lang="en-US" u="sng" dirty="0"/>
              <a:t>host moves from one network to another </a:t>
            </a:r>
            <a:r>
              <a:rPr lang="en-US" dirty="0"/>
              <a:t>or when a </a:t>
            </a:r>
            <a:r>
              <a:rPr lang="en-US" u="sng" dirty="0"/>
              <a:t>host is connected to a network for the first time</a:t>
            </a:r>
            <a:r>
              <a:rPr lang="en-US" dirty="0"/>
              <a:t>. </a:t>
            </a:r>
          </a:p>
          <a:p>
            <a:r>
              <a:rPr lang="en-US" dirty="0"/>
              <a:t>Because of DHCP’s ability to </a:t>
            </a:r>
            <a:r>
              <a:rPr lang="en-US" u="sng" dirty="0"/>
              <a:t>automate the network-related aspects </a:t>
            </a:r>
            <a:r>
              <a:rPr lang="en-US" dirty="0"/>
              <a:t>of connecting a host into a network, it is often referred to as a </a:t>
            </a:r>
            <a:r>
              <a:rPr lang="en-US" u="sng" dirty="0"/>
              <a:t>plug-and-play protocol. </a:t>
            </a:r>
          </a:p>
          <a:p>
            <a:r>
              <a:rPr lang="pt-BR" dirty="0"/>
              <a:t>DHCP is a </a:t>
            </a:r>
            <a:r>
              <a:rPr lang="pt-BR" u="sng" dirty="0"/>
              <a:t>client-server protocol. </a:t>
            </a:r>
          </a:p>
          <a:p>
            <a:r>
              <a:rPr lang="en-US" u="sng" dirty="0"/>
              <a:t>A client is typically a newly arriving host </a:t>
            </a:r>
            <a:r>
              <a:rPr lang="en-US" dirty="0"/>
              <a:t>wanting to obtain network configuration information, including an IP address for itself. </a:t>
            </a:r>
          </a:p>
          <a:p>
            <a:r>
              <a:rPr lang="en-US" dirty="0"/>
              <a:t>In the simplest case, each </a:t>
            </a:r>
            <a:r>
              <a:rPr lang="en-US" u="sng" dirty="0"/>
              <a:t>subnet will have a DHCP server. </a:t>
            </a:r>
          </a:p>
          <a:p>
            <a:r>
              <a:rPr lang="en-US" dirty="0"/>
              <a:t>If no server is present on the subnet, </a:t>
            </a:r>
            <a:r>
              <a:rPr lang="en-US" u="sng" dirty="0"/>
              <a:t>a DHCP relay agent (typically a router) that knows the address of a DHCP server for that network.</a:t>
            </a:r>
          </a:p>
          <a:p>
            <a:r>
              <a:rPr lang="en-US" dirty="0"/>
              <a:t>DHCP server attached to subnet 223.1.2/24, with the router serving as the relay agent for arriving clients attached to subnets 223.1.1/24 and 223.1.3/24. </a:t>
            </a:r>
          </a:p>
        </p:txBody>
      </p:sp>
    </p:spTree>
    <p:extLst>
      <p:ext uri="{BB962C8B-B14F-4D97-AF65-F5344CB8AC3E}">
        <p14:creationId xmlns:p14="http://schemas.microsoft.com/office/powerpoint/2010/main" val="278523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293223" y="429340"/>
            <a:ext cx="8856617" cy="5919209"/>
          </a:xfrm>
          <a:prstGeom prst="rect">
            <a:avLst/>
          </a:prstGeom>
        </p:spPr>
      </p:pic>
    </p:spTree>
    <p:extLst>
      <p:ext uri="{BB962C8B-B14F-4D97-AF65-F5344CB8AC3E}">
        <p14:creationId xmlns:p14="http://schemas.microsoft.com/office/powerpoint/2010/main" val="3550376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b="1" dirty="0"/>
              <a:t>DHCP server discovery. </a:t>
            </a:r>
            <a:endParaRPr lang="en-IN" dirty="0"/>
          </a:p>
          <a:p>
            <a:r>
              <a:rPr lang="en-US" dirty="0"/>
              <a:t>The first task of a </a:t>
            </a:r>
            <a:r>
              <a:rPr lang="en-US" u="sng" dirty="0"/>
              <a:t>newly arriving host is to find a DHCP server with which to interact. </a:t>
            </a:r>
          </a:p>
          <a:p>
            <a:r>
              <a:rPr lang="en-US" dirty="0"/>
              <a:t>This is done using a </a:t>
            </a:r>
            <a:r>
              <a:rPr lang="en-US" u="sng" dirty="0"/>
              <a:t>DHCP discover message, which a client sends within a UDP packet to port 67. </a:t>
            </a:r>
          </a:p>
          <a:p>
            <a:r>
              <a:rPr lang="en-US" dirty="0"/>
              <a:t>The </a:t>
            </a:r>
            <a:r>
              <a:rPr lang="en-US" u="sng" dirty="0"/>
              <a:t>UDP packet is encapsulated in an IP datagram. </a:t>
            </a:r>
          </a:p>
          <a:p>
            <a:r>
              <a:rPr lang="en-US" dirty="0"/>
              <a:t>DHCP client creates an IP datagram containing its DHCP discover message along with the </a:t>
            </a:r>
            <a:r>
              <a:rPr lang="en-US" u="sng" dirty="0"/>
              <a:t>broadcast destination IP address of 255.255.255.255</a:t>
            </a:r>
            <a:r>
              <a:rPr lang="en-US" dirty="0"/>
              <a:t> and a “this host” </a:t>
            </a:r>
            <a:r>
              <a:rPr lang="en-US" u="sng" dirty="0"/>
              <a:t>source IP address of 0.0.0.0. </a:t>
            </a:r>
          </a:p>
          <a:p>
            <a:r>
              <a:rPr lang="en-US" dirty="0"/>
              <a:t>The DHCP client passes the IP datagram to the </a:t>
            </a:r>
            <a:r>
              <a:rPr lang="en-US" u="sng" dirty="0"/>
              <a:t>link layer, which then broadcasts this frame to all nodes attached to the subnet. </a:t>
            </a:r>
          </a:p>
          <a:p>
            <a:endParaRPr lang="en-IN" dirty="0"/>
          </a:p>
        </p:txBody>
      </p:sp>
    </p:spTree>
    <p:extLst>
      <p:ext uri="{BB962C8B-B14F-4D97-AF65-F5344CB8AC3E}">
        <p14:creationId xmlns:p14="http://schemas.microsoft.com/office/powerpoint/2010/main" val="40739891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b="1" dirty="0"/>
              <a:t>DHCP server offer(s). </a:t>
            </a:r>
            <a:endParaRPr lang="en-IN" dirty="0"/>
          </a:p>
          <a:p>
            <a:r>
              <a:rPr lang="en-US" dirty="0"/>
              <a:t>A DHCP server receiving a DHCP discover message responds to the client with a </a:t>
            </a:r>
            <a:r>
              <a:rPr lang="en-US" u="sng" dirty="0"/>
              <a:t>DHCP offer message that is broadcast to all nodes on the subnet, again using the IP broadcast address of 255.255.255.255. </a:t>
            </a:r>
          </a:p>
          <a:p>
            <a:r>
              <a:rPr lang="en-US" dirty="0"/>
              <a:t>DHCP server broadcasts DHCPOFFER message containing </a:t>
            </a:r>
          </a:p>
          <a:p>
            <a:r>
              <a:rPr lang="en-IN" dirty="0"/>
              <a:t>1. Client's IP address </a:t>
            </a:r>
          </a:p>
          <a:p>
            <a:r>
              <a:rPr lang="en-IN" dirty="0"/>
              <a:t>2. Network mask </a:t>
            </a:r>
          </a:p>
          <a:p>
            <a:r>
              <a:rPr lang="en-US" dirty="0"/>
              <a:t>3. IP address lease time (i.e. the amount of time for which the IP address will be valid). </a:t>
            </a:r>
          </a:p>
          <a:p>
            <a:endParaRPr lang="en-IN" dirty="0"/>
          </a:p>
        </p:txBody>
      </p:sp>
    </p:spTree>
    <p:extLst>
      <p:ext uri="{BB962C8B-B14F-4D97-AF65-F5344CB8AC3E}">
        <p14:creationId xmlns:p14="http://schemas.microsoft.com/office/powerpoint/2010/main" val="33977774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137" y="649969"/>
            <a:ext cx="10515600" cy="2811688"/>
          </a:xfrm>
        </p:spPr>
        <p:txBody>
          <a:bodyPr>
            <a:normAutofit fontScale="92500" lnSpcReduction="10000"/>
          </a:bodyPr>
          <a:lstStyle/>
          <a:p>
            <a:r>
              <a:rPr lang="en-IN" b="1" dirty="0"/>
              <a:t>DHCP request. </a:t>
            </a:r>
            <a:endParaRPr lang="en-IN" dirty="0"/>
          </a:p>
          <a:p>
            <a:r>
              <a:rPr lang="en-US" dirty="0"/>
              <a:t>The newly arriving client will choose from among one or more server offers and </a:t>
            </a:r>
            <a:r>
              <a:rPr lang="en-US" u="sng" dirty="0"/>
              <a:t>respond to its selected offer with a DHCP request message, echoing back </a:t>
            </a:r>
            <a:r>
              <a:rPr lang="en-US" dirty="0"/>
              <a:t>the configuration parameters. </a:t>
            </a:r>
            <a:endParaRPr lang="en-IN" dirty="0"/>
          </a:p>
          <a:p>
            <a:r>
              <a:rPr lang="en-IN" b="1" dirty="0"/>
              <a:t>DHCP ACK. </a:t>
            </a:r>
            <a:endParaRPr lang="en-IN" dirty="0"/>
          </a:p>
          <a:p>
            <a:r>
              <a:rPr lang="en-US" dirty="0"/>
              <a:t>The server responds to the DHCP request message with a </a:t>
            </a:r>
            <a:r>
              <a:rPr lang="en-US" u="sng" dirty="0"/>
              <a:t>DHCP ACK message, </a:t>
            </a:r>
            <a:r>
              <a:rPr lang="en-US" dirty="0"/>
              <a:t>confirming the requested parameters. </a:t>
            </a:r>
          </a:p>
          <a:p>
            <a:endParaRPr lang="en-IN" dirty="0"/>
          </a:p>
        </p:txBody>
      </p:sp>
      <p:pic>
        <p:nvPicPr>
          <p:cNvPr id="4" name="Picture 3"/>
          <p:cNvPicPr>
            <a:picLocks noChangeAspect="1"/>
          </p:cNvPicPr>
          <p:nvPr/>
        </p:nvPicPr>
        <p:blipFill>
          <a:blip r:embed="rId2"/>
          <a:stretch>
            <a:fillRect/>
          </a:stretch>
        </p:blipFill>
        <p:spPr>
          <a:xfrm>
            <a:off x="1449977" y="3461657"/>
            <a:ext cx="8503921" cy="2873829"/>
          </a:xfrm>
          <a:prstGeom prst="rect">
            <a:avLst/>
          </a:prstGeom>
        </p:spPr>
      </p:pic>
    </p:spTree>
    <p:extLst>
      <p:ext uri="{BB962C8B-B14F-4D97-AF65-F5344CB8AC3E}">
        <p14:creationId xmlns:p14="http://schemas.microsoft.com/office/powerpoint/2010/main" val="31365508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21E4-4B90-7C2D-6DC8-A6919E70CB22}"/>
              </a:ext>
            </a:extLst>
          </p:cNvPr>
          <p:cNvSpPr>
            <a:spLocks noGrp="1"/>
          </p:cNvSpPr>
          <p:nvPr>
            <p:ph type="title"/>
          </p:nvPr>
        </p:nvSpPr>
        <p:spPr>
          <a:xfrm>
            <a:off x="454090" y="208536"/>
            <a:ext cx="10515600" cy="1325563"/>
          </a:xfrm>
        </p:spPr>
        <p:txBody>
          <a:bodyPr/>
          <a:lstStyle/>
          <a:p>
            <a:r>
              <a:rPr lang="en-IN" b="1" dirty="0"/>
              <a:t>ARP—The Address Resolution Protocol</a:t>
            </a:r>
            <a:endParaRPr lang="en-IN" dirty="0"/>
          </a:p>
        </p:txBody>
      </p:sp>
      <p:sp>
        <p:nvSpPr>
          <p:cNvPr id="4" name="Rectangle 1">
            <a:extLst>
              <a:ext uri="{FF2B5EF4-FFF2-40B4-BE49-F238E27FC236}">
                <a16:creationId xmlns:a16="http://schemas.microsoft.com/office/drawing/2014/main" id="{2804064A-4E4A-DD53-513C-141DD1A1875F}"/>
              </a:ext>
            </a:extLst>
          </p:cNvPr>
          <p:cNvSpPr>
            <a:spLocks noGrp="1" noChangeArrowheads="1"/>
          </p:cNvSpPr>
          <p:nvPr>
            <p:ph idx="1"/>
          </p:nvPr>
        </p:nvSpPr>
        <p:spPr bwMode="auto">
          <a:xfrm>
            <a:off x="317241" y="1827496"/>
            <a:ext cx="1159795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t>ARP is used to map an </a:t>
            </a:r>
            <a:r>
              <a:rPr lang="en-US" altLang="en-US" dirty="0">
                <a:solidFill>
                  <a:schemeClr val="tx1">
                    <a:lumMod val="20000"/>
                    <a:lumOff val="80000"/>
                  </a:schemeClr>
                </a:solidFill>
              </a:rPr>
              <a:t>IP address to a physical (MAC) address </a:t>
            </a:r>
            <a:r>
              <a:rPr lang="en-US" altLang="en-US" dirty="0"/>
              <a:t>on a local network.</a:t>
            </a:r>
          </a:p>
          <a:p>
            <a:pPr eaLnBrk="0" fontAlgn="base" hangingPunct="0">
              <a:lnSpc>
                <a:spcPct val="100000"/>
              </a:lnSpc>
              <a:spcBef>
                <a:spcPct val="0"/>
              </a:spcBef>
              <a:spcAft>
                <a:spcPct val="0"/>
              </a:spcAft>
            </a:pPr>
            <a:r>
              <a:rPr lang="en-US" altLang="en-US" dirty="0"/>
              <a:t>It is defined in </a:t>
            </a:r>
            <a:r>
              <a:rPr lang="en-US" altLang="en-US" dirty="0">
                <a:solidFill>
                  <a:schemeClr val="tx1">
                    <a:lumMod val="20000"/>
                    <a:lumOff val="80000"/>
                  </a:schemeClr>
                </a:solidFill>
              </a:rPr>
              <a:t>RFC 826 and is used by almost every machine </a:t>
            </a:r>
            <a:r>
              <a:rPr lang="en-US" altLang="en-US" dirty="0"/>
              <a:t>on the Internet.</a:t>
            </a:r>
          </a:p>
          <a:p>
            <a:pPr eaLnBrk="0" fontAlgn="base" hangingPunct="0">
              <a:lnSpc>
                <a:spcPct val="100000"/>
              </a:lnSpc>
              <a:spcBef>
                <a:spcPct val="0"/>
              </a:spcBef>
              <a:spcAft>
                <a:spcPct val="0"/>
              </a:spcAft>
            </a:pPr>
            <a:r>
              <a:rPr lang="en-US" altLang="en-US" dirty="0">
                <a:solidFill>
                  <a:schemeClr val="tx1">
                    <a:lumMod val="20000"/>
                    <a:lumOff val="80000"/>
                  </a:schemeClr>
                </a:solidFill>
              </a:rPr>
              <a:t>ARP simplifies configuration </a:t>
            </a:r>
            <a:r>
              <a:rPr lang="en-US" altLang="en-US" dirty="0"/>
              <a:t>since only IP addresses and subnet masks need to be assigned.</a:t>
            </a:r>
          </a:p>
          <a:p>
            <a:pPr eaLnBrk="0" fontAlgn="base" hangingPunct="0">
              <a:lnSpc>
                <a:spcPct val="100000"/>
              </a:lnSpc>
              <a:spcBef>
                <a:spcPct val="0"/>
              </a:spcBef>
              <a:spcAft>
                <a:spcPct val="0"/>
              </a:spcAft>
            </a:pPr>
            <a:r>
              <a:rPr lang="en-US" altLang="en-US" dirty="0"/>
              <a:t>When a </a:t>
            </a:r>
            <a:r>
              <a:rPr lang="en-US" altLang="en-US" dirty="0">
                <a:solidFill>
                  <a:schemeClr val="tx1">
                    <a:lumMod val="20000"/>
                    <a:lumOff val="80000"/>
                  </a:schemeClr>
                </a:solidFill>
              </a:rPr>
              <a:t>host sends a packet, ARP helps find the receiver’s</a:t>
            </a:r>
            <a:r>
              <a:rPr lang="en-US" altLang="en-US" dirty="0"/>
              <a:t> Ethernet address and builds the frame for transmission.</a:t>
            </a:r>
          </a:p>
          <a:p>
            <a:pPr eaLnBrk="0" fontAlgn="base" hangingPunct="0">
              <a:lnSpc>
                <a:spcPct val="100000"/>
              </a:lnSpc>
              <a:spcBef>
                <a:spcPct val="0"/>
              </a:spcBef>
              <a:spcAft>
                <a:spcPct val="0"/>
              </a:spcAft>
            </a:pPr>
            <a:r>
              <a:rPr lang="en-US" altLang="en-US" dirty="0"/>
              <a:t>Once a </a:t>
            </a:r>
            <a:r>
              <a:rPr lang="en-US" altLang="en-US" dirty="0">
                <a:solidFill>
                  <a:schemeClr val="tx1">
                    <a:lumMod val="20000"/>
                    <a:lumOff val="80000"/>
                  </a:schemeClr>
                </a:solidFill>
              </a:rPr>
              <a:t>mapping is found, it is stored in an ARP cache </a:t>
            </a:r>
            <a:r>
              <a:rPr lang="en-US" altLang="en-US" dirty="0"/>
              <a:t>to avoid repeating the same broadcast.</a:t>
            </a:r>
          </a:p>
        </p:txBody>
      </p:sp>
    </p:spTree>
    <p:extLst>
      <p:ext uri="{BB962C8B-B14F-4D97-AF65-F5344CB8AC3E}">
        <p14:creationId xmlns:p14="http://schemas.microsoft.com/office/powerpoint/2010/main" val="24628731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78B0C-6B16-C91A-D612-CCCF2BA1A875}"/>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1EC62D60-7664-89FB-A0EC-C631F45038E2}"/>
              </a:ext>
            </a:extLst>
          </p:cNvPr>
          <p:cNvSpPr>
            <a:spLocks noGrp="1" noChangeArrowheads="1"/>
          </p:cNvSpPr>
          <p:nvPr>
            <p:ph idx="1"/>
          </p:nvPr>
        </p:nvSpPr>
        <p:spPr bwMode="auto">
          <a:xfrm>
            <a:off x="520960" y="1652384"/>
            <a:ext cx="11001375"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solidFill>
                  <a:schemeClr val="tx1">
                    <a:lumMod val="20000"/>
                    <a:lumOff val="80000"/>
                  </a:schemeClr>
                </a:solidFill>
              </a:rPr>
              <a:t>Hosts can learn each other’s IP-to-MAC mappings from ARP replies</a:t>
            </a:r>
            <a:r>
              <a:rPr lang="en-US" altLang="en-US" dirty="0"/>
              <a:t>, reducing future broadcasts.</a:t>
            </a:r>
          </a:p>
          <a:p>
            <a:pPr eaLnBrk="0" fontAlgn="base" hangingPunct="0">
              <a:lnSpc>
                <a:spcPct val="100000"/>
              </a:lnSpc>
              <a:spcBef>
                <a:spcPct val="0"/>
              </a:spcBef>
              <a:spcAft>
                <a:spcPct val="0"/>
              </a:spcAft>
            </a:pPr>
            <a:r>
              <a:rPr lang="en-US" altLang="en-US" dirty="0"/>
              <a:t>When a </a:t>
            </a:r>
            <a:r>
              <a:rPr lang="en-US" altLang="en-US" dirty="0">
                <a:solidFill>
                  <a:schemeClr val="tx1">
                    <a:lumMod val="20000"/>
                    <a:lumOff val="80000"/>
                  </a:schemeClr>
                </a:solidFill>
              </a:rPr>
              <a:t>machine boots, it can broadcast its mapping </a:t>
            </a:r>
            <a:r>
              <a:rPr lang="en-US" altLang="en-US" dirty="0"/>
              <a:t>to fill ARP caches and detect duplicate IP addresses.</a:t>
            </a:r>
          </a:p>
          <a:p>
            <a:pPr eaLnBrk="0" fontAlgn="base" hangingPunct="0">
              <a:lnSpc>
                <a:spcPct val="100000"/>
              </a:lnSpc>
              <a:spcBef>
                <a:spcPct val="0"/>
              </a:spcBef>
              <a:spcAft>
                <a:spcPct val="0"/>
              </a:spcAft>
            </a:pPr>
            <a:r>
              <a:rPr lang="en-US" altLang="en-US" dirty="0">
                <a:solidFill>
                  <a:schemeClr val="tx1">
                    <a:lumMod val="20000"/>
                    <a:lumOff val="80000"/>
                  </a:schemeClr>
                </a:solidFill>
              </a:rPr>
              <a:t>ARP cache entries automatically expire after a few minutes </a:t>
            </a:r>
            <a:r>
              <a:rPr lang="en-US" altLang="en-US" dirty="0"/>
              <a:t>to allow updates if hardware changes.</a:t>
            </a:r>
          </a:p>
          <a:p>
            <a:pPr eaLnBrk="0" fontAlgn="base" hangingPunct="0">
              <a:lnSpc>
                <a:spcPct val="100000"/>
              </a:lnSpc>
              <a:spcBef>
                <a:spcPct val="0"/>
              </a:spcBef>
              <a:spcAft>
                <a:spcPct val="0"/>
              </a:spcAft>
            </a:pPr>
            <a:r>
              <a:rPr lang="en-US" altLang="en-US" dirty="0"/>
              <a:t>If the destination is on another network, a </a:t>
            </a:r>
            <a:r>
              <a:rPr lang="en-US" altLang="en-US" dirty="0">
                <a:solidFill>
                  <a:schemeClr val="tx1">
                    <a:lumMod val="20000"/>
                    <a:lumOff val="80000"/>
                  </a:schemeClr>
                </a:solidFill>
              </a:rPr>
              <a:t>router can respond to ARP requests </a:t>
            </a:r>
            <a:r>
              <a:rPr lang="en-US" altLang="en-US" dirty="0"/>
              <a:t>on behalf of remote hosts—this is </a:t>
            </a:r>
            <a:r>
              <a:rPr lang="en-US" altLang="en-US" dirty="0">
                <a:solidFill>
                  <a:schemeClr val="tx1">
                    <a:lumMod val="20000"/>
                    <a:lumOff val="80000"/>
                  </a:schemeClr>
                </a:solidFill>
              </a:rPr>
              <a:t>proxy ARP.</a:t>
            </a:r>
          </a:p>
          <a:p>
            <a:pPr eaLnBrk="0" fontAlgn="base" hangingPunct="0">
              <a:lnSpc>
                <a:spcPct val="100000"/>
              </a:lnSpc>
              <a:spcBef>
                <a:spcPct val="0"/>
              </a:spcBef>
              <a:spcAft>
                <a:spcPct val="0"/>
              </a:spcAft>
            </a:pPr>
            <a:r>
              <a:rPr lang="en-US" altLang="en-US" dirty="0"/>
              <a:t>For </a:t>
            </a:r>
            <a:r>
              <a:rPr lang="en-US" altLang="en-US" dirty="0">
                <a:solidFill>
                  <a:schemeClr val="tx1">
                    <a:lumMod val="20000"/>
                    <a:lumOff val="80000"/>
                  </a:schemeClr>
                </a:solidFill>
              </a:rPr>
              <a:t>distant networks, packets are sent to the default router</a:t>
            </a:r>
            <a:r>
              <a:rPr lang="en-US" altLang="en-US" dirty="0"/>
              <a:t>, which uses routing tables and ARP on other networks to deliver them to the final host.</a:t>
            </a:r>
          </a:p>
        </p:txBody>
      </p:sp>
    </p:spTree>
    <p:extLst>
      <p:ext uri="{BB962C8B-B14F-4D97-AF65-F5344CB8AC3E}">
        <p14:creationId xmlns:p14="http://schemas.microsoft.com/office/powerpoint/2010/main" val="4071601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1668" y="3627742"/>
            <a:ext cx="11543523" cy="3095893"/>
          </a:xfrm>
        </p:spPr>
        <p:txBody>
          <a:bodyPr>
            <a:normAutofit lnSpcReduction="10000"/>
          </a:bodyPr>
          <a:lstStyle/>
          <a:p>
            <a:r>
              <a:rPr lang="en-US" dirty="0"/>
              <a:t>small university with several class C (now called /24) networks is illustrated. Here we have </a:t>
            </a:r>
            <a:r>
              <a:rPr lang="en-US" u="sng" dirty="0"/>
              <a:t>two Ethernets</a:t>
            </a:r>
            <a:r>
              <a:rPr lang="en-US" dirty="0"/>
              <a:t>, one in the Computer Science Dept., with IP address 192.31.65.0 and one in Electrical Engineering, with IP address 192.31.63.0. </a:t>
            </a:r>
          </a:p>
          <a:p>
            <a:r>
              <a:rPr lang="en-US" dirty="0"/>
              <a:t>These are connected by a campus backbone ring (e.g., FDDI) with IP address 192.31.60.0. Each machine on an Ethernet has a unique Ethernet address, labeled </a:t>
            </a:r>
            <a:r>
              <a:rPr lang="en-US" i="1" dirty="0"/>
              <a:t>E1 </a:t>
            </a:r>
            <a:r>
              <a:rPr lang="en-US" dirty="0"/>
              <a:t>through </a:t>
            </a:r>
            <a:r>
              <a:rPr lang="en-US" i="1" dirty="0"/>
              <a:t>E6</a:t>
            </a:r>
            <a:r>
              <a:rPr lang="en-US" dirty="0"/>
              <a:t>, and each machine on the FDDI ring has an FDDI address, labeled </a:t>
            </a:r>
            <a:r>
              <a:rPr lang="en-US" i="1" dirty="0"/>
              <a:t>F1 </a:t>
            </a:r>
            <a:r>
              <a:rPr lang="en-US" dirty="0"/>
              <a:t>through </a:t>
            </a:r>
            <a:r>
              <a:rPr lang="en-US" i="1" dirty="0"/>
              <a:t>F3</a:t>
            </a:r>
            <a:r>
              <a:rPr lang="en-US" dirty="0"/>
              <a:t>.</a:t>
            </a:r>
            <a:endParaRPr lang="en-IN" dirty="0"/>
          </a:p>
        </p:txBody>
      </p:sp>
      <p:pic>
        <p:nvPicPr>
          <p:cNvPr id="4" name="Picture 3"/>
          <p:cNvPicPr>
            <a:picLocks noChangeAspect="1"/>
          </p:cNvPicPr>
          <p:nvPr/>
        </p:nvPicPr>
        <p:blipFill>
          <a:blip r:embed="rId2"/>
          <a:stretch>
            <a:fillRect/>
          </a:stretch>
        </p:blipFill>
        <p:spPr>
          <a:xfrm>
            <a:off x="689685" y="179152"/>
            <a:ext cx="10907487" cy="3423936"/>
          </a:xfrm>
          <a:prstGeom prst="rect">
            <a:avLst/>
          </a:prstGeom>
        </p:spPr>
      </p:pic>
    </p:spTree>
    <p:extLst>
      <p:ext uri="{BB962C8B-B14F-4D97-AF65-F5344CB8AC3E}">
        <p14:creationId xmlns:p14="http://schemas.microsoft.com/office/powerpoint/2010/main" val="19733897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46145" y="1834955"/>
            <a:ext cx="10899710" cy="4743126"/>
          </a:xfrm>
        </p:spPr>
        <p:txBody>
          <a:bodyPr>
            <a:normAutofit fontScale="92500" lnSpcReduction="10000"/>
          </a:bodyPr>
          <a:lstStyle/>
          <a:p>
            <a:r>
              <a:rPr lang="en-US" dirty="0"/>
              <a:t>A better solution is for </a:t>
            </a:r>
            <a:r>
              <a:rPr lang="en-US" u="sng" dirty="0"/>
              <a:t>host 1 to output a broadcast packet </a:t>
            </a:r>
            <a:r>
              <a:rPr lang="en-US" dirty="0"/>
              <a:t>onto the Ethernet asking: </a:t>
            </a:r>
            <a:r>
              <a:rPr lang="en-US" dirty="0">
                <a:solidFill>
                  <a:schemeClr val="tx1">
                    <a:lumMod val="20000"/>
                    <a:lumOff val="80000"/>
                  </a:schemeClr>
                </a:solidFill>
              </a:rPr>
              <a:t>Who owns IP address 192.31.65.5? </a:t>
            </a:r>
          </a:p>
          <a:p>
            <a:r>
              <a:rPr lang="en-US" dirty="0"/>
              <a:t>The </a:t>
            </a:r>
            <a:r>
              <a:rPr lang="en-US" u="sng" dirty="0"/>
              <a:t>broadcast will arrive at every machine </a:t>
            </a:r>
            <a:r>
              <a:rPr lang="en-US" dirty="0"/>
              <a:t>on Ethernet 192.31.65.0, and each one will check its IP address. </a:t>
            </a:r>
            <a:r>
              <a:rPr lang="en-US" u="sng" dirty="0"/>
              <a:t>Host 2 alone will respond </a:t>
            </a:r>
            <a:r>
              <a:rPr lang="en-US" dirty="0"/>
              <a:t>with its Ethernet address (</a:t>
            </a:r>
            <a:r>
              <a:rPr lang="en-US" i="1" dirty="0"/>
              <a:t>E2</a:t>
            </a:r>
            <a:r>
              <a:rPr lang="en-US" dirty="0"/>
              <a:t>). </a:t>
            </a:r>
          </a:p>
          <a:p>
            <a:r>
              <a:rPr lang="en-US" dirty="0"/>
              <a:t>In this way host 1 learns that IP address 192.31.65.5 is on the host with Ethernet address </a:t>
            </a:r>
            <a:r>
              <a:rPr lang="en-US" i="1" dirty="0"/>
              <a:t>E2</a:t>
            </a:r>
            <a:r>
              <a:rPr lang="en-US" dirty="0"/>
              <a:t>. </a:t>
            </a:r>
            <a:r>
              <a:rPr lang="en-US" u="sng" dirty="0"/>
              <a:t>The protocol used for asking this question and getting the reply is called </a:t>
            </a:r>
            <a:r>
              <a:rPr lang="en-US" b="1" u="sng" dirty="0"/>
              <a:t>ARP </a:t>
            </a:r>
            <a:r>
              <a:rPr lang="en-US" u="sng" dirty="0"/>
              <a:t>(</a:t>
            </a:r>
            <a:r>
              <a:rPr lang="en-US" b="1" u="sng" dirty="0"/>
              <a:t>Address Resolution Protocol</a:t>
            </a:r>
            <a:r>
              <a:rPr lang="en-US" u="sng" dirty="0"/>
              <a:t>). </a:t>
            </a:r>
            <a:r>
              <a:rPr lang="en-US" dirty="0"/>
              <a:t>Almost every machine on the Internet runs it.</a:t>
            </a:r>
          </a:p>
          <a:p>
            <a:r>
              <a:rPr lang="en-US" dirty="0"/>
              <a:t>The advantage of using ARP over configuration files is the simplicity. The system manager does not have to do much except assign each machine an IP address and decide about subnet masks. ARP does the rest.</a:t>
            </a:r>
            <a:endParaRPr lang="en-IN" dirty="0"/>
          </a:p>
        </p:txBody>
      </p:sp>
    </p:spTree>
    <p:extLst>
      <p:ext uri="{BB962C8B-B14F-4D97-AF65-F5344CB8AC3E}">
        <p14:creationId xmlns:p14="http://schemas.microsoft.com/office/powerpoint/2010/main" val="42686284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75861" y="1856792"/>
            <a:ext cx="10877939" cy="4661573"/>
          </a:xfrm>
        </p:spPr>
        <p:txBody>
          <a:bodyPr>
            <a:normAutofit fontScale="92500" lnSpcReduction="10000"/>
          </a:bodyPr>
          <a:lstStyle/>
          <a:p>
            <a:r>
              <a:rPr lang="en-US" dirty="0"/>
              <a:t>At this point, the IP software on host 1 builds an Ethernet frame addressed to </a:t>
            </a:r>
            <a:r>
              <a:rPr lang="en-US" i="1" dirty="0"/>
              <a:t>E2</a:t>
            </a:r>
            <a:r>
              <a:rPr lang="en-US" dirty="0"/>
              <a:t>, puts the IP packet (addressed to 192.31.65.5) in the payload field, and dumps it onto the Ethernet. The Ethernet board of host 2 detects this frame, recognizes it as a frame for itself, scoops it up, and causes an interrupt. The Ethernet driver extracts the IP packet from the payload and passes it to the IP software, which sees that it is correctly addressed and processes it.</a:t>
            </a:r>
          </a:p>
          <a:p>
            <a:r>
              <a:rPr lang="en-US" dirty="0"/>
              <a:t>Ex: host 1 wants to send a packet to host 4 (192.31.63.8). Using ARP will fail because host 4 will not see the broadcast </a:t>
            </a:r>
            <a:r>
              <a:rPr lang="en-US" dirty="0">
                <a:solidFill>
                  <a:schemeClr val="tx1">
                    <a:lumMod val="20000"/>
                    <a:lumOff val="80000"/>
                  </a:schemeClr>
                </a:solidFill>
              </a:rPr>
              <a:t>(routers do not forward Ethernet-level broadcasts). </a:t>
            </a:r>
            <a:r>
              <a:rPr lang="en-US" dirty="0"/>
              <a:t>There are two solutions. First, the </a:t>
            </a:r>
            <a:r>
              <a:rPr lang="en-US" u="sng" dirty="0"/>
              <a:t>CS router could be configured to respond to ARP requests </a:t>
            </a:r>
            <a:r>
              <a:rPr lang="en-US" dirty="0"/>
              <a:t>for network 192.31.63.0 (and possibly other local networks). In this case, host 1 will make an ARP cache entry of (192.31.63.8, E3) and happily send all traffic for host 4 to the local router. This solution is called </a:t>
            </a:r>
            <a:r>
              <a:rPr lang="en-US" b="1" dirty="0"/>
              <a:t>proxy ARP</a:t>
            </a:r>
            <a:r>
              <a:rPr lang="en-US" dirty="0"/>
              <a:t>.</a:t>
            </a:r>
            <a:endParaRPr lang="en-IN" dirty="0"/>
          </a:p>
        </p:txBody>
      </p:sp>
    </p:spTree>
    <p:extLst>
      <p:ext uri="{BB962C8B-B14F-4D97-AF65-F5344CB8AC3E}">
        <p14:creationId xmlns:p14="http://schemas.microsoft.com/office/powerpoint/2010/main" val="6412435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B79E-F902-EE18-371A-E02CFFD08F43}"/>
              </a:ext>
            </a:extLst>
          </p:cNvPr>
          <p:cNvSpPr>
            <a:spLocks noGrp="1"/>
          </p:cNvSpPr>
          <p:nvPr>
            <p:ph type="title"/>
          </p:nvPr>
        </p:nvSpPr>
        <p:spPr>
          <a:xfrm>
            <a:off x="289249" y="365125"/>
            <a:ext cx="11569959" cy="1325563"/>
          </a:xfrm>
        </p:spPr>
        <p:txBody>
          <a:bodyPr/>
          <a:lstStyle/>
          <a:p>
            <a:r>
              <a:rPr lang="en-US" dirty="0"/>
              <a:t>OSPF—The Interior Gateway Routing Protocol </a:t>
            </a:r>
            <a:endParaRPr lang="en-IN" dirty="0"/>
          </a:p>
        </p:txBody>
      </p:sp>
      <p:sp>
        <p:nvSpPr>
          <p:cNvPr id="4" name="Rectangle 1">
            <a:extLst>
              <a:ext uri="{FF2B5EF4-FFF2-40B4-BE49-F238E27FC236}">
                <a16:creationId xmlns:a16="http://schemas.microsoft.com/office/drawing/2014/main" id="{C2B17E5C-8724-88FF-32DB-0D727C9EB318}"/>
              </a:ext>
            </a:extLst>
          </p:cNvPr>
          <p:cNvSpPr>
            <a:spLocks noGrp="1" noChangeArrowheads="1"/>
          </p:cNvSpPr>
          <p:nvPr>
            <p:ph idx="1"/>
          </p:nvPr>
        </p:nvSpPr>
        <p:spPr bwMode="auto">
          <a:xfrm>
            <a:off x="763556" y="1570717"/>
            <a:ext cx="10515600"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2400" dirty="0"/>
              <a:t>The </a:t>
            </a:r>
            <a:r>
              <a:rPr lang="en-US" altLang="en-US" sz="2400" dirty="0">
                <a:solidFill>
                  <a:schemeClr val="tx1">
                    <a:lumMod val="20000"/>
                    <a:lumOff val="80000"/>
                  </a:schemeClr>
                </a:solidFill>
              </a:rPr>
              <a:t>Internet consists of many autonomous systems (</a:t>
            </a:r>
            <a:r>
              <a:rPr lang="en-US" altLang="en-US" sz="2400" dirty="0" err="1">
                <a:solidFill>
                  <a:schemeClr val="tx1">
                    <a:lumMod val="20000"/>
                    <a:lumOff val="80000"/>
                  </a:schemeClr>
                </a:solidFill>
              </a:rPr>
              <a:t>ASes</a:t>
            </a:r>
            <a:r>
              <a:rPr lang="en-US" altLang="en-US" sz="2400" dirty="0">
                <a:solidFill>
                  <a:schemeClr val="tx1">
                    <a:lumMod val="20000"/>
                    <a:lumOff val="80000"/>
                  </a:schemeClr>
                </a:solidFill>
              </a:rPr>
              <a:t>), </a:t>
            </a:r>
            <a:r>
              <a:rPr lang="en-US" altLang="en-US" sz="2400" dirty="0"/>
              <a:t>each managed by </a:t>
            </a:r>
            <a:r>
              <a:rPr lang="en-US" altLang="en-US" sz="2400" u="sng" dirty="0"/>
              <a:t>different organizations </a:t>
            </a:r>
            <a:r>
              <a:rPr lang="en-US" altLang="en-US" sz="2400" dirty="0"/>
              <a:t>using their own internal routing methods.</a:t>
            </a:r>
          </a:p>
          <a:p>
            <a:pPr eaLnBrk="0" fontAlgn="base" hangingPunct="0">
              <a:lnSpc>
                <a:spcPct val="100000"/>
              </a:lnSpc>
              <a:spcBef>
                <a:spcPct val="0"/>
              </a:spcBef>
              <a:spcAft>
                <a:spcPct val="0"/>
              </a:spcAft>
            </a:pPr>
            <a:r>
              <a:rPr lang="en-US" altLang="en-US" sz="2400" u="sng" dirty="0">
                <a:solidFill>
                  <a:schemeClr val="tx1">
                    <a:lumMod val="20000"/>
                    <a:lumOff val="80000"/>
                  </a:schemeClr>
                </a:solidFill>
              </a:rPr>
              <a:t>Routing within an AS uses an Interior Gateway Protocol (IGP), </a:t>
            </a:r>
            <a:r>
              <a:rPr lang="en-US" altLang="en-US" sz="2400" dirty="0">
                <a:solidFill>
                  <a:schemeClr val="tx1">
                    <a:lumMod val="20000"/>
                    <a:lumOff val="80000"/>
                  </a:schemeClr>
                </a:solidFill>
              </a:rPr>
              <a:t>while </a:t>
            </a:r>
            <a:r>
              <a:rPr lang="en-US" altLang="en-US" sz="2400" u="sng" dirty="0">
                <a:solidFill>
                  <a:schemeClr val="tx1">
                    <a:lumMod val="20000"/>
                    <a:lumOff val="80000"/>
                  </a:schemeClr>
                </a:solidFill>
              </a:rPr>
              <a:t>routing between </a:t>
            </a:r>
            <a:r>
              <a:rPr lang="en-US" altLang="en-US" sz="2400" u="sng" dirty="0" err="1">
                <a:solidFill>
                  <a:schemeClr val="tx1">
                    <a:lumMod val="20000"/>
                    <a:lumOff val="80000"/>
                  </a:schemeClr>
                </a:solidFill>
              </a:rPr>
              <a:t>ASes</a:t>
            </a:r>
            <a:r>
              <a:rPr lang="en-US" altLang="en-US" sz="2400" u="sng" dirty="0">
                <a:solidFill>
                  <a:schemeClr val="tx1">
                    <a:lumMod val="20000"/>
                    <a:lumOff val="80000"/>
                  </a:schemeClr>
                </a:solidFill>
              </a:rPr>
              <a:t> uses an Exterior Gateway Protocol (EGP).</a:t>
            </a:r>
          </a:p>
          <a:p>
            <a:pPr eaLnBrk="0" fontAlgn="base" hangingPunct="0">
              <a:lnSpc>
                <a:spcPct val="100000"/>
              </a:lnSpc>
              <a:spcBef>
                <a:spcPct val="0"/>
              </a:spcBef>
              <a:spcAft>
                <a:spcPct val="0"/>
              </a:spcAft>
            </a:pPr>
            <a:r>
              <a:rPr lang="en-US" altLang="en-US" sz="2400" dirty="0"/>
              <a:t>The </a:t>
            </a:r>
            <a:r>
              <a:rPr lang="en-US" altLang="en-US" sz="2400" dirty="0">
                <a:solidFill>
                  <a:schemeClr val="tx1">
                    <a:lumMod val="20000"/>
                    <a:lumOff val="80000"/>
                  </a:schemeClr>
                </a:solidFill>
              </a:rPr>
              <a:t>original IGP used in the Internet was RIP (Routing Information Protocol), </a:t>
            </a:r>
            <a:r>
              <a:rPr lang="en-US" altLang="en-US" sz="2400" dirty="0"/>
              <a:t>a distance vector protocol based on the Bellman-Ford algorithm.</a:t>
            </a:r>
          </a:p>
          <a:p>
            <a:pPr eaLnBrk="0" fontAlgn="base" hangingPunct="0">
              <a:lnSpc>
                <a:spcPct val="100000"/>
              </a:lnSpc>
              <a:spcBef>
                <a:spcPct val="0"/>
              </a:spcBef>
              <a:spcAft>
                <a:spcPct val="0"/>
              </a:spcAft>
            </a:pPr>
            <a:r>
              <a:rPr lang="en-US" altLang="en-US" sz="2400" dirty="0">
                <a:solidFill>
                  <a:schemeClr val="tx1">
                    <a:lumMod val="20000"/>
                    <a:lumOff val="80000"/>
                  </a:schemeClr>
                </a:solidFill>
              </a:rPr>
              <a:t>RIP worked for small networks but had issues like slow convergence </a:t>
            </a:r>
            <a:r>
              <a:rPr lang="en-US" altLang="en-US" sz="2400" dirty="0"/>
              <a:t>and the count-to-infinity problem as networks grew larger.</a:t>
            </a:r>
          </a:p>
          <a:p>
            <a:pPr eaLnBrk="0" fontAlgn="base" hangingPunct="0">
              <a:lnSpc>
                <a:spcPct val="100000"/>
              </a:lnSpc>
              <a:spcBef>
                <a:spcPct val="0"/>
              </a:spcBef>
              <a:spcAft>
                <a:spcPct val="0"/>
              </a:spcAft>
            </a:pPr>
            <a:r>
              <a:rPr lang="en-US" altLang="en-US" sz="2400" dirty="0"/>
              <a:t>To overcome these issues, RIP was replaced in 1979 by a </a:t>
            </a:r>
            <a:r>
              <a:rPr lang="en-US" altLang="en-US" sz="2400" dirty="0">
                <a:solidFill>
                  <a:schemeClr val="tx1">
                    <a:lumMod val="20000"/>
                    <a:lumOff val="80000"/>
                  </a:schemeClr>
                </a:solidFill>
              </a:rPr>
              <a:t>link state protocol, and later improved to OSPF (Open Shortest Path First) in 1990.</a:t>
            </a:r>
          </a:p>
          <a:p>
            <a:pPr eaLnBrk="0" fontAlgn="base" hangingPunct="0">
              <a:lnSpc>
                <a:spcPct val="100000"/>
              </a:lnSpc>
              <a:spcBef>
                <a:spcPct val="0"/>
              </a:spcBef>
              <a:spcAft>
                <a:spcPct val="0"/>
              </a:spcAft>
            </a:pPr>
            <a:r>
              <a:rPr lang="en-US" altLang="en-US" sz="2400" dirty="0"/>
              <a:t>OSPF was developed by the Internet Engineering Task Force (IETF) and is defined in RFC 2328.</a:t>
            </a:r>
          </a:p>
        </p:txBody>
      </p:sp>
    </p:spTree>
    <p:extLst>
      <p:ext uri="{BB962C8B-B14F-4D97-AF65-F5344CB8AC3E}">
        <p14:creationId xmlns:p14="http://schemas.microsoft.com/office/powerpoint/2010/main" val="33398332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US" dirty="0"/>
              <a:t>Requirements for OSPF</a:t>
            </a:r>
            <a:endParaRPr lang="en-IN" dirty="0"/>
          </a:p>
        </p:txBody>
      </p:sp>
      <p:sp>
        <p:nvSpPr>
          <p:cNvPr id="3" name="Content Placeholder 2"/>
          <p:cNvSpPr>
            <a:spLocks noGrp="1"/>
          </p:cNvSpPr>
          <p:nvPr>
            <p:ph idx="1"/>
          </p:nvPr>
        </p:nvSpPr>
        <p:spPr>
          <a:xfrm>
            <a:off x="838200" y="1423851"/>
            <a:ext cx="10515600" cy="4753112"/>
          </a:xfrm>
        </p:spPr>
        <p:txBody>
          <a:bodyPr>
            <a:normAutofit fontScale="92500" lnSpcReduction="20000"/>
          </a:bodyPr>
          <a:lstStyle/>
          <a:p>
            <a:r>
              <a:rPr lang="en-US" dirty="0"/>
              <a:t>First, the algorithm had to be published in the </a:t>
            </a:r>
            <a:r>
              <a:rPr lang="en-US" u="sng" dirty="0">
                <a:solidFill>
                  <a:schemeClr val="tx1">
                    <a:lumMod val="20000"/>
                    <a:lumOff val="80000"/>
                  </a:schemeClr>
                </a:solidFill>
              </a:rPr>
              <a:t>open literature</a:t>
            </a:r>
            <a:r>
              <a:rPr lang="en-US" dirty="0"/>
              <a:t>, hence the ''O'' in OSPF. </a:t>
            </a:r>
            <a:r>
              <a:rPr lang="en-US" altLang="en-US" dirty="0">
                <a:solidFill>
                  <a:schemeClr val="tx1">
                    <a:lumMod val="20000"/>
                    <a:lumOff val="80000"/>
                  </a:schemeClr>
                </a:solidFill>
              </a:rPr>
              <a:t>publicly available, not proprietary.</a:t>
            </a:r>
            <a:endParaRPr lang="en-US" dirty="0"/>
          </a:p>
          <a:p>
            <a:r>
              <a:rPr lang="en-US" dirty="0"/>
              <a:t>Second, the new protocol had to </a:t>
            </a:r>
            <a:r>
              <a:rPr lang="en-US" u="sng" dirty="0">
                <a:solidFill>
                  <a:schemeClr val="tx1">
                    <a:lumMod val="20000"/>
                    <a:lumOff val="80000"/>
                  </a:schemeClr>
                </a:solidFill>
              </a:rPr>
              <a:t>support a variety of distance metrics</a:t>
            </a:r>
            <a:r>
              <a:rPr lang="en-US" dirty="0">
                <a:solidFill>
                  <a:schemeClr val="tx1">
                    <a:lumMod val="20000"/>
                    <a:lumOff val="80000"/>
                  </a:schemeClr>
                </a:solidFill>
              </a:rPr>
              <a:t>, including physical distance, delay, and so on. </a:t>
            </a:r>
          </a:p>
          <a:p>
            <a:r>
              <a:rPr lang="en-US" dirty="0"/>
              <a:t>Third, it had to be a </a:t>
            </a:r>
            <a:r>
              <a:rPr lang="en-US" u="sng" dirty="0">
                <a:solidFill>
                  <a:schemeClr val="tx1">
                    <a:lumMod val="20000"/>
                    <a:lumOff val="80000"/>
                  </a:schemeClr>
                </a:solidFill>
              </a:rPr>
              <a:t>dynamic algorithm, one that adapted to changes </a:t>
            </a:r>
            <a:r>
              <a:rPr lang="en-US" dirty="0">
                <a:solidFill>
                  <a:schemeClr val="tx1">
                    <a:lumMod val="20000"/>
                    <a:lumOff val="80000"/>
                  </a:schemeClr>
                </a:solidFill>
              </a:rPr>
              <a:t>in the topology automatically and quickly.</a:t>
            </a:r>
          </a:p>
          <a:p>
            <a:r>
              <a:rPr lang="en-US" dirty="0"/>
              <a:t>Fourth, and new for OSPF, it had to support</a:t>
            </a:r>
            <a:r>
              <a:rPr lang="en-US" u="sng" dirty="0"/>
              <a:t> </a:t>
            </a:r>
            <a:r>
              <a:rPr lang="en-US" u="sng" dirty="0">
                <a:solidFill>
                  <a:schemeClr val="tx1">
                    <a:lumMod val="20000"/>
                    <a:lumOff val="80000"/>
                  </a:schemeClr>
                </a:solidFill>
              </a:rPr>
              <a:t>routing based on type of service</a:t>
            </a:r>
            <a:r>
              <a:rPr lang="en-US" u="sng" dirty="0"/>
              <a:t>. </a:t>
            </a:r>
            <a:r>
              <a:rPr lang="en-US" dirty="0"/>
              <a:t>The new protocol had to be able to route real-time traffic one way and other traffic a different way. </a:t>
            </a:r>
          </a:p>
          <a:p>
            <a:r>
              <a:rPr lang="en-US" dirty="0"/>
              <a:t>Fifth, and related to the above, the </a:t>
            </a:r>
            <a:r>
              <a:rPr lang="en-US" u="sng" dirty="0">
                <a:solidFill>
                  <a:schemeClr val="tx1">
                    <a:lumMod val="20000"/>
                    <a:lumOff val="80000"/>
                  </a:schemeClr>
                </a:solidFill>
              </a:rPr>
              <a:t>new protocol had to do load balancing</a:t>
            </a:r>
            <a:r>
              <a:rPr lang="en-US" dirty="0">
                <a:solidFill>
                  <a:schemeClr val="tx1">
                    <a:lumMod val="20000"/>
                    <a:lumOff val="80000"/>
                  </a:schemeClr>
                </a:solidFill>
              </a:rPr>
              <a:t>, splitting the load </a:t>
            </a:r>
            <a:r>
              <a:rPr lang="en-IN" dirty="0">
                <a:solidFill>
                  <a:schemeClr val="tx1">
                    <a:lumMod val="20000"/>
                    <a:lumOff val="80000"/>
                  </a:schemeClr>
                </a:solidFill>
              </a:rPr>
              <a:t>over multiple lines</a:t>
            </a:r>
          </a:p>
          <a:p>
            <a:r>
              <a:rPr lang="en-US" dirty="0"/>
              <a:t>Sixth</a:t>
            </a:r>
            <a:r>
              <a:rPr lang="en-US" dirty="0">
                <a:solidFill>
                  <a:schemeClr val="tx1">
                    <a:lumMod val="20000"/>
                    <a:lumOff val="80000"/>
                  </a:schemeClr>
                </a:solidFill>
              </a:rPr>
              <a:t>, </a:t>
            </a:r>
            <a:r>
              <a:rPr lang="en-US" u="sng" dirty="0">
                <a:solidFill>
                  <a:schemeClr val="tx1">
                    <a:lumMod val="20000"/>
                    <a:lumOff val="80000"/>
                  </a:schemeClr>
                </a:solidFill>
              </a:rPr>
              <a:t>support for hierarchical systems </a:t>
            </a:r>
            <a:r>
              <a:rPr lang="en-US" dirty="0"/>
              <a:t>was needed.</a:t>
            </a:r>
          </a:p>
          <a:p>
            <a:r>
              <a:rPr lang="en-US" dirty="0"/>
              <a:t>Seventh, </a:t>
            </a:r>
            <a:r>
              <a:rPr lang="en-US" u="sng" dirty="0">
                <a:solidFill>
                  <a:schemeClr val="tx1">
                    <a:lumMod val="20000"/>
                    <a:lumOff val="80000"/>
                  </a:schemeClr>
                </a:solidFill>
              </a:rPr>
              <a:t>some level of security </a:t>
            </a:r>
            <a:r>
              <a:rPr lang="en-US" dirty="0"/>
              <a:t>was required</a:t>
            </a:r>
            <a:endParaRPr lang="en-IN" dirty="0"/>
          </a:p>
        </p:txBody>
      </p:sp>
    </p:spTree>
    <p:extLst>
      <p:ext uri="{BB962C8B-B14F-4D97-AF65-F5344CB8AC3E}">
        <p14:creationId xmlns:p14="http://schemas.microsoft.com/office/powerpoint/2010/main" val="18413047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199" y="1825625"/>
            <a:ext cx="11039669" cy="4667250"/>
          </a:xfrm>
        </p:spPr>
        <p:txBody>
          <a:bodyPr/>
          <a:lstStyle/>
          <a:p>
            <a:r>
              <a:rPr lang="en-US" b="1" dirty="0"/>
              <a:t>Area</a:t>
            </a:r>
            <a:r>
              <a:rPr lang="en-US" dirty="0"/>
              <a:t> is a network or a </a:t>
            </a:r>
            <a:r>
              <a:rPr lang="en-US" u="sng" dirty="0">
                <a:solidFill>
                  <a:schemeClr val="tx1">
                    <a:lumMod val="20000"/>
                    <a:lumOff val="80000"/>
                  </a:schemeClr>
                </a:solidFill>
              </a:rPr>
              <a:t>set of contiguous </a:t>
            </a:r>
            <a:r>
              <a:rPr lang="en-IN" u="sng" dirty="0">
                <a:solidFill>
                  <a:schemeClr val="tx1">
                    <a:lumMod val="20000"/>
                    <a:lumOff val="80000"/>
                  </a:schemeClr>
                </a:solidFill>
              </a:rPr>
              <a:t>networks.</a:t>
            </a:r>
            <a:endParaRPr lang="en-US" u="sng" dirty="0">
              <a:solidFill>
                <a:schemeClr val="tx1">
                  <a:lumMod val="20000"/>
                  <a:lumOff val="80000"/>
                </a:schemeClr>
              </a:solidFill>
            </a:endParaRPr>
          </a:p>
          <a:p>
            <a:r>
              <a:rPr lang="en-US" dirty="0"/>
              <a:t>Every AS has a </a:t>
            </a:r>
            <a:r>
              <a:rPr lang="en-US" b="1" dirty="0">
                <a:solidFill>
                  <a:schemeClr val="tx1">
                    <a:lumMod val="20000"/>
                    <a:lumOff val="80000"/>
                  </a:schemeClr>
                </a:solidFill>
              </a:rPr>
              <a:t>backbone </a:t>
            </a:r>
            <a:r>
              <a:rPr lang="en-US" dirty="0">
                <a:solidFill>
                  <a:schemeClr val="tx1">
                    <a:lumMod val="20000"/>
                    <a:lumOff val="80000"/>
                  </a:schemeClr>
                </a:solidFill>
              </a:rPr>
              <a:t>area, called area 0</a:t>
            </a:r>
            <a:r>
              <a:rPr lang="en-US" dirty="0"/>
              <a:t>. </a:t>
            </a:r>
            <a:r>
              <a:rPr lang="en-US" u="sng" dirty="0"/>
              <a:t>All areas are connected to the backbone, </a:t>
            </a:r>
            <a:r>
              <a:rPr lang="en-IN" u="sng" dirty="0"/>
              <a:t>possibly by tunnels,</a:t>
            </a:r>
          </a:p>
          <a:p>
            <a:r>
              <a:rPr lang="en-US" dirty="0"/>
              <a:t>OSPF distinguishes four classes of routers:</a:t>
            </a:r>
          </a:p>
          <a:p>
            <a:pPr marL="0" indent="0">
              <a:buNone/>
            </a:pPr>
            <a:r>
              <a:rPr lang="en-US" dirty="0"/>
              <a:t>1. </a:t>
            </a:r>
            <a:r>
              <a:rPr lang="en-US" u="sng" dirty="0">
                <a:solidFill>
                  <a:schemeClr val="tx1">
                    <a:lumMod val="20000"/>
                    <a:lumOff val="80000"/>
                  </a:schemeClr>
                </a:solidFill>
              </a:rPr>
              <a:t>Internal routers </a:t>
            </a:r>
            <a:r>
              <a:rPr lang="en-US" dirty="0"/>
              <a:t>are wholly </a:t>
            </a:r>
            <a:r>
              <a:rPr lang="en-US" u="sng" dirty="0"/>
              <a:t>within one area.</a:t>
            </a:r>
          </a:p>
          <a:p>
            <a:pPr marL="0" indent="0">
              <a:buNone/>
            </a:pPr>
            <a:r>
              <a:rPr lang="en-US" dirty="0"/>
              <a:t>2. </a:t>
            </a:r>
            <a:r>
              <a:rPr lang="en-US" u="sng" dirty="0">
                <a:solidFill>
                  <a:schemeClr val="tx1">
                    <a:lumMod val="20000"/>
                    <a:lumOff val="80000"/>
                  </a:schemeClr>
                </a:solidFill>
              </a:rPr>
              <a:t>Area border routers </a:t>
            </a:r>
            <a:r>
              <a:rPr lang="en-US" u="sng" dirty="0"/>
              <a:t>connect two or more areas</a:t>
            </a:r>
            <a:r>
              <a:rPr lang="en-US" dirty="0"/>
              <a:t>.</a:t>
            </a:r>
          </a:p>
          <a:p>
            <a:pPr marL="0" indent="0">
              <a:buNone/>
            </a:pPr>
            <a:r>
              <a:rPr lang="en-US" dirty="0"/>
              <a:t>3. </a:t>
            </a:r>
            <a:r>
              <a:rPr lang="en-US" u="sng" dirty="0">
                <a:solidFill>
                  <a:schemeClr val="tx1">
                    <a:lumMod val="20000"/>
                    <a:lumOff val="80000"/>
                  </a:schemeClr>
                </a:solidFill>
              </a:rPr>
              <a:t>Backbone routers </a:t>
            </a:r>
            <a:r>
              <a:rPr lang="en-US" u="sng" dirty="0"/>
              <a:t>are on the backbone</a:t>
            </a:r>
            <a:r>
              <a:rPr lang="en-US" dirty="0"/>
              <a:t>.</a:t>
            </a:r>
          </a:p>
          <a:p>
            <a:pPr marL="0" indent="0">
              <a:buNone/>
            </a:pPr>
            <a:r>
              <a:rPr lang="en-US" dirty="0"/>
              <a:t>4. </a:t>
            </a:r>
            <a:r>
              <a:rPr lang="en-US" u="sng" dirty="0">
                <a:solidFill>
                  <a:schemeClr val="tx1">
                    <a:lumMod val="20000"/>
                    <a:lumOff val="80000"/>
                  </a:schemeClr>
                </a:solidFill>
              </a:rPr>
              <a:t>AS boundary </a:t>
            </a:r>
            <a:r>
              <a:rPr lang="en-US" dirty="0"/>
              <a:t>routers </a:t>
            </a:r>
            <a:r>
              <a:rPr lang="en-US" u="sng" dirty="0"/>
              <a:t>talk to routers in other </a:t>
            </a:r>
            <a:r>
              <a:rPr lang="en-US" u="sng" dirty="0" err="1"/>
              <a:t>ASes</a:t>
            </a:r>
            <a:r>
              <a:rPr lang="en-US" dirty="0"/>
              <a:t>.</a:t>
            </a:r>
            <a:endParaRPr lang="en-IN" dirty="0"/>
          </a:p>
        </p:txBody>
      </p:sp>
    </p:spTree>
    <p:extLst>
      <p:ext uri="{BB962C8B-B14F-4D97-AF65-F5344CB8AC3E}">
        <p14:creationId xmlns:p14="http://schemas.microsoft.com/office/powerpoint/2010/main" val="20957825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632857" y="535576"/>
            <a:ext cx="8895806" cy="5790616"/>
          </a:xfrm>
          <a:prstGeom prst="rect">
            <a:avLst/>
          </a:prstGeom>
        </p:spPr>
      </p:pic>
    </p:spTree>
    <p:extLst>
      <p:ext uri="{BB962C8B-B14F-4D97-AF65-F5344CB8AC3E}">
        <p14:creationId xmlns:p14="http://schemas.microsoft.com/office/powerpoint/2010/main" val="33566514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677A0-F565-F701-405B-8134112EE369}"/>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7EF87EB1-33C3-BBF1-9BD7-D841323A807C}"/>
              </a:ext>
            </a:extLst>
          </p:cNvPr>
          <p:cNvSpPr>
            <a:spLocks noGrp="1" noChangeArrowheads="1"/>
          </p:cNvSpPr>
          <p:nvPr>
            <p:ph idx="1"/>
          </p:nvPr>
        </p:nvSpPr>
        <p:spPr bwMode="auto">
          <a:xfrm>
            <a:off x="519112" y="1846389"/>
            <a:ext cx="1143340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2400" dirty="0">
                <a:solidFill>
                  <a:schemeClr val="tx1">
                    <a:lumMod val="20000"/>
                    <a:lumOff val="80000"/>
                  </a:schemeClr>
                </a:solidFill>
              </a:rPr>
              <a:t>OSPF represents the entire network as a directed graph, </a:t>
            </a:r>
            <a:r>
              <a:rPr lang="en-US" altLang="en-US" sz="2400" dirty="0"/>
              <a:t>where </a:t>
            </a:r>
            <a:r>
              <a:rPr lang="en-US" altLang="en-US" sz="2400" dirty="0">
                <a:solidFill>
                  <a:schemeClr val="tx1">
                    <a:lumMod val="20000"/>
                    <a:lumOff val="80000"/>
                  </a:schemeClr>
                </a:solidFill>
              </a:rPr>
              <a:t>routers and networks are nodes </a:t>
            </a:r>
            <a:r>
              <a:rPr lang="en-US" altLang="en-US" sz="2400" dirty="0"/>
              <a:t>connected by </a:t>
            </a:r>
            <a:r>
              <a:rPr lang="en-US" altLang="en-US" sz="2400" dirty="0">
                <a:solidFill>
                  <a:schemeClr val="tx1">
                    <a:lumMod val="20000"/>
                    <a:lumOff val="80000"/>
                  </a:schemeClr>
                </a:solidFill>
              </a:rPr>
              <a:t>arcs with assigned costs </a:t>
            </a:r>
            <a:r>
              <a:rPr lang="en-US" altLang="en-US" sz="2400" dirty="0"/>
              <a:t>such as </a:t>
            </a:r>
            <a:r>
              <a:rPr lang="en-US" altLang="en-US" sz="2400" u="sng" dirty="0"/>
              <a:t>distance or delay.</a:t>
            </a:r>
          </a:p>
          <a:p>
            <a:pPr eaLnBrk="0" fontAlgn="base" hangingPunct="0">
              <a:lnSpc>
                <a:spcPct val="100000"/>
              </a:lnSpc>
              <a:spcBef>
                <a:spcPct val="0"/>
              </a:spcBef>
              <a:spcAft>
                <a:spcPct val="0"/>
              </a:spcAft>
            </a:pPr>
            <a:r>
              <a:rPr lang="en-US" altLang="en-US" sz="2400" dirty="0"/>
              <a:t>It calculates the </a:t>
            </a:r>
            <a:r>
              <a:rPr lang="en-US" altLang="en-US" sz="2400" u="sng" dirty="0">
                <a:solidFill>
                  <a:schemeClr val="tx1">
                    <a:lumMod val="20000"/>
                    <a:lumOff val="80000"/>
                  </a:schemeClr>
                </a:solidFill>
              </a:rPr>
              <a:t>shortest path between routers using the link costs</a:t>
            </a:r>
            <a:r>
              <a:rPr lang="en-US" altLang="en-US" sz="2400" u="sng" dirty="0"/>
              <a:t> to determine the most efficient routes.</a:t>
            </a:r>
          </a:p>
          <a:p>
            <a:pPr eaLnBrk="0" fontAlgn="base" hangingPunct="0">
              <a:lnSpc>
                <a:spcPct val="100000"/>
              </a:lnSpc>
              <a:spcBef>
                <a:spcPct val="0"/>
              </a:spcBef>
              <a:spcAft>
                <a:spcPct val="0"/>
              </a:spcAft>
            </a:pPr>
            <a:r>
              <a:rPr lang="en-US" altLang="en-US" sz="2400" u="sng" dirty="0"/>
              <a:t>Large networks are divided into areas</a:t>
            </a:r>
            <a:r>
              <a:rPr lang="en-US" altLang="en-US" sz="2400" dirty="0"/>
              <a:t>, each containing routers and networks that are close together to simplify routing management.</a:t>
            </a:r>
          </a:p>
          <a:p>
            <a:pPr eaLnBrk="0" fontAlgn="base" hangingPunct="0">
              <a:lnSpc>
                <a:spcPct val="100000"/>
              </a:lnSpc>
              <a:spcBef>
                <a:spcPct val="0"/>
              </a:spcBef>
              <a:spcAft>
                <a:spcPct val="0"/>
              </a:spcAft>
            </a:pPr>
            <a:r>
              <a:rPr lang="en-US" altLang="en-US" sz="2400" dirty="0"/>
              <a:t>Every </a:t>
            </a:r>
            <a:r>
              <a:rPr lang="en-US" altLang="en-US" sz="2400" u="sng" dirty="0"/>
              <a:t>OSPF system has a backbone area (area 0) that connects all other areas</a:t>
            </a:r>
            <a:r>
              <a:rPr lang="en-US" altLang="en-US" sz="2400" dirty="0"/>
              <a:t>, and all </a:t>
            </a:r>
            <a:r>
              <a:rPr lang="en-US" altLang="en-US" sz="2400" dirty="0">
                <a:solidFill>
                  <a:schemeClr val="tx1">
                    <a:lumMod val="20000"/>
                    <a:lumOff val="80000"/>
                  </a:schemeClr>
                </a:solidFill>
              </a:rPr>
              <a:t>interarea communication passes through this backbone</a:t>
            </a:r>
            <a:r>
              <a:rPr lang="en-US" altLang="en-US" sz="2400" dirty="0"/>
              <a:t>.</a:t>
            </a:r>
          </a:p>
          <a:p>
            <a:pPr eaLnBrk="0" fontAlgn="base" hangingPunct="0">
              <a:lnSpc>
                <a:spcPct val="100000"/>
              </a:lnSpc>
              <a:spcBef>
                <a:spcPct val="0"/>
              </a:spcBef>
              <a:spcAft>
                <a:spcPct val="0"/>
              </a:spcAft>
            </a:pPr>
            <a:r>
              <a:rPr lang="en-US" altLang="en-US" sz="2400" dirty="0"/>
              <a:t>Routers that connect multiple areas are known as </a:t>
            </a:r>
            <a:r>
              <a:rPr lang="en-US" altLang="en-US" sz="2400" dirty="0">
                <a:solidFill>
                  <a:schemeClr val="tx1">
                    <a:lumMod val="20000"/>
                    <a:lumOff val="80000"/>
                  </a:schemeClr>
                </a:solidFill>
              </a:rPr>
              <a:t>area border routers</a:t>
            </a:r>
            <a:r>
              <a:rPr lang="en-US" altLang="en-US" sz="2400" dirty="0"/>
              <a:t>, while those on the backbone are called </a:t>
            </a:r>
            <a:r>
              <a:rPr lang="en-US" altLang="en-US" sz="2400" dirty="0">
                <a:solidFill>
                  <a:schemeClr val="tx1">
                    <a:lumMod val="20000"/>
                    <a:lumOff val="80000"/>
                  </a:schemeClr>
                </a:solidFill>
              </a:rPr>
              <a:t>backbone routers.</a:t>
            </a:r>
          </a:p>
          <a:p>
            <a:pPr eaLnBrk="0" fontAlgn="base" hangingPunct="0">
              <a:lnSpc>
                <a:spcPct val="100000"/>
              </a:lnSpc>
              <a:spcBef>
                <a:spcPct val="0"/>
              </a:spcBef>
              <a:spcAft>
                <a:spcPct val="0"/>
              </a:spcAft>
            </a:pPr>
            <a:r>
              <a:rPr lang="en-US" altLang="en-US" sz="2400" dirty="0"/>
              <a:t>OSPF supports three types of routing: </a:t>
            </a:r>
            <a:r>
              <a:rPr lang="en-US" altLang="en-US" sz="2400" dirty="0">
                <a:solidFill>
                  <a:schemeClr val="tx1">
                    <a:lumMod val="20000"/>
                    <a:lumOff val="80000"/>
                  </a:schemeClr>
                </a:solidFill>
              </a:rPr>
              <a:t>intra-area (within an area), interarea (between areas), and inter-AS (between different autonomous systems).</a:t>
            </a:r>
          </a:p>
        </p:txBody>
      </p:sp>
    </p:spTree>
    <p:extLst>
      <p:ext uri="{BB962C8B-B14F-4D97-AF65-F5344CB8AC3E}">
        <p14:creationId xmlns:p14="http://schemas.microsoft.com/office/powerpoint/2010/main" val="10066873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5576"/>
            <a:ext cx="10515600" cy="3605349"/>
          </a:xfrm>
        </p:spPr>
        <p:txBody>
          <a:bodyPr>
            <a:normAutofit fontScale="92500"/>
          </a:bodyPr>
          <a:lstStyle/>
          <a:p>
            <a:r>
              <a:rPr lang="en-US" dirty="0"/>
              <a:t>Using </a:t>
            </a:r>
            <a:r>
              <a:rPr lang="en-US" u="sng" dirty="0">
                <a:solidFill>
                  <a:schemeClr val="tx1">
                    <a:lumMod val="20000"/>
                    <a:lumOff val="80000"/>
                  </a:schemeClr>
                </a:solidFill>
              </a:rPr>
              <a:t>flooding, </a:t>
            </a:r>
            <a:r>
              <a:rPr lang="en-US" dirty="0"/>
              <a:t>each router informs all the other routers in its area of its </a:t>
            </a:r>
            <a:r>
              <a:rPr lang="en-US" u="sng" dirty="0"/>
              <a:t>neighbors and costs. </a:t>
            </a:r>
          </a:p>
          <a:p>
            <a:r>
              <a:rPr lang="en-US" dirty="0"/>
              <a:t>This information allows each router to construct the graph for its area(s) and </a:t>
            </a:r>
            <a:r>
              <a:rPr lang="en-US" u="sng" dirty="0"/>
              <a:t>compute the shortest path</a:t>
            </a:r>
            <a:r>
              <a:rPr lang="en-US" dirty="0"/>
              <a:t>. The backbone area does this too. </a:t>
            </a:r>
          </a:p>
          <a:p>
            <a:r>
              <a:rPr lang="en-US" dirty="0"/>
              <a:t>In addition, the </a:t>
            </a:r>
            <a:r>
              <a:rPr lang="en-US" dirty="0">
                <a:solidFill>
                  <a:schemeClr val="tx1">
                    <a:lumMod val="20000"/>
                    <a:lumOff val="80000"/>
                  </a:schemeClr>
                </a:solidFill>
              </a:rPr>
              <a:t>backbone routers accept information from the area border routers </a:t>
            </a:r>
            <a:r>
              <a:rPr lang="en-US" dirty="0"/>
              <a:t>in order to compute </a:t>
            </a:r>
            <a:r>
              <a:rPr lang="en-US" u="sng" dirty="0"/>
              <a:t>the best route from each backbone router to every other router.</a:t>
            </a:r>
            <a:r>
              <a:rPr lang="en-US" dirty="0"/>
              <a:t> This information is propagated back to the area </a:t>
            </a:r>
            <a:r>
              <a:rPr lang="en-US" u="sng" dirty="0"/>
              <a:t>border routers</a:t>
            </a:r>
            <a:r>
              <a:rPr lang="en-US" dirty="0"/>
              <a:t>, which advertise it within their areas.</a:t>
            </a:r>
            <a:endParaRPr lang="en-IN" dirty="0"/>
          </a:p>
        </p:txBody>
      </p:sp>
      <p:pic>
        <p:nvPicPr>
          <p:cNvPr id="5" name="Picture 4"/>
          <p:cNvPicPr>
            <a:picLocks noChangeAspect="1"/>
          </p:cNvPicPr>
          <p:nvPr/>
        </p:nvPicPr>
        <p:blipFill>
          <a:blip r:embed="rId2"/>
          <a:stretch>
            <a:fillRect/>
          </a:stretch>
        </p:blipFill>
        <p:spPr>
          <a:xfrm>
            <a:off x="1807912" y="4140925"/>
            <a:ext cx="8149117" cy="2494222"/>
          </a:xfrm>
          <a:prstGeom prst="rect">
            <a:avLst/>
          </a:prstGeom>
        </p:spPr>
      </p:pic>
    </p:spTree>
    <p:extLst>
      <p:ext uri="{BB962C8B-B14F-4D97-AF65-F5344CB8AC3E}">
        <p14:creationId xmlns:p14="http://schemas.microsoft.com/office/powerpoint/2010/main" val="18359693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266" y="334554"/>
            <a:ext cx="10515600" cy="692966"/>
          </a:xfrm>
        </p:spPr>
        <p:txBody>
          <a:bodyPr>
            <a:normAutofit fontScale="90000"/>
          </a:bodyPr>
          <a:lstStyle/>
          <a:p>
            <a:r>
              <a:rPr lang="en-US" dirty="0"/>
              <a:t>BGP—The Exterior Gateway Routing Protocol </a:t>
            </a:r>
            <a:endParaRPr lang="en-IN" dirty="0"/>
          </a:p>
        </p:txBody>
      </p:sp>
      <p:sp>
        <p:nvSpPr>
          <p:cNvPr id="4" name="Rectangle 1">
            <a:extLst>
              <a:ext uri="{FF2B5EF4-FFF2-40B4-BE49-F238E27FC236}">
                <a16:creationId xmlns:a16="http://schemas.microsoft.com/office/drawing/2014/main" id="{7A0625C8-902B-5CD4-91A2-B2340B44EBA8}"/>
              </a:ext>
            </a:extLst>
          </p:cNvPr>
          <p:cNvSpPr>
            <a:spLocks noGrp="1" noChangeArrowheads="1"/>
          </p:cNvSpPr>
          <p:nvPr>
            <p:ph idx="1"/>
          </p:nvPr>
        </p:nvSpPr>
        <p:spPr bwMode="auto">
          <a:xfrm>
            <a:off x="408992" y="1260467"/>
            <a:ext cx="1109662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solidFill>
                  <a:schemeClr val="tx1">
                    <a:lumMod val="20000"/>
                    <a:lumOff val="80000"/>
                  </a:schemeClr>
                </a:solidFill>
              </a:rPr>
              <a:t>BGP stands for Border Gateway Protocol</a:t>
            </a:r>
            <a:r>
              <a:rPr lang="en-US" altLang="en-US" dirty="0"/>
              <a:t>, which is used to </a:t>
            </a:r>
            <a:r>
              <a:rPr lang="en-US" altLang="en-US" u="sng" dirty="0"/>
              <a:t>exchange routing information between different Autonomous Systems (</a:t>
            </a:r>
            <a:r>
              <a:rPr lang="en-US" altLang="en-US" u="sng" dirty="0" err="1"/>
              <a:t>ASes</a:t>
            </a:r>
            <a:r>
              <a:rPr lang="en-US" altLang="en-US" u="sng" dirty="0"/>
              <a:t>) on the Internet.</a:t>
            </a:r>
          </a:p>
          <a:p>
            <a:pPr eaLnBrk="0" fontAlgn="base" hangingPunct="0">
              <a:lnSpc>
                <a:spcPct val="100000"/>
              </a:lnSpc>
              <a:spcBef>
                <a:spcPct val="0"/>
              </a:spcBef>
              <a:spcAft>
                <a:spcPct val="0"/>
              </a:spcAft>
            </a:pPr>
            <a:r>
              <a:rPr lang="en-US" altLang="en-US" dirty="0"/>
              <a:t>It acts as an </a:t>
            </a:r>
            <a:r>
              <a:rPr lang="en-US" altLang="en-US" dirty="0">
                <a:solidFill>
                  <a:schemeClr val="tx1">
                    <a:lumMod val="20000"/>
                    <a:lumOff val="80000"/>
                  </a:schemeClr>
                </a:solidFill>
              </a:rPr>
              <a:t>Exterior Gateway Protocol (EGP), </a:t>
            </a:r>
            <a:r>
              <a:rPr lang="en-US" altLang="en-US" dirty="0"/>
              <a:t>meaning</a:t>
            </a:r>
            <a:r>
              <a:rPr lang="en-US" altLang="en-US" u="sng" dirty="0"/>
              <a:t> it operates between organizations or administrative domains</a:t>
            </a:r>
            <a:r>
              <a:rPr lang="en-US" altLang="en-US" dirty="0"/>
              <a:t>, not within them.</a:t>
            </a:r>
          </a:p>
          <a:p>
            <a:pPr eaLnBrk="0" fontAlgn="base" hangingPunct="0">
              <a:lnSpc>
                <a:spcPct val="100000"/>
              </a:lnSpc>
              <a:spcBef>
                <a:spcPct val="0"/>
              </a:spcBef>
              <a:spcAft>
                <a:spcPct val="0"/>
              </a:spcAft>
            </a:pPr>
            <a:r>
              <a:rPr lang="en-US" altLang="en-US" dirty="0"/>
              <a:t>In contrast, Interior Gateway Protocols (IGPs) like OSPF or RIP are used inside a single AS to manage internal routing efficiently.</a:t>
            </a:r>
          </a:p>
          <a:p>
            <a:pPr eaLnBrk="0" fontAlgn="base" hangingPunct="0">
              <a:lnSpc>
                <a:spcPct val="100000"/>
              </a:lnSpc>
              <a:spcBef>
                <a:spcPct val="0"/>
              </a:spcBef>
              <a:spcAft>
                <a:spcPct val="0"/>
              </a:spcAft>
            </a:pPr>
            <a:r>
              <a:rPr lang="en-US" altLang="en-US" dirty="0"/>
              <a:t>The main objective of BGP is to manage routing between organizations that </a:t>
            </a:r>
            <a:r>
              <a:rPr lang="en-US" altLang="en-US" dirty="0">
                <a:solidFill>
                  <a:schemeClr val="tx1">
                    <a:lumMod val="20000"/>
                    <a:lumOff val="80000"/>
                  </a:schemeClr>
                </a:solidFill>
              </a:rPr>
              <a:t>have their own policies, rather than just finding the shortest or quickest path.</a:t>
            </a:r>
          </a:p>
          <a:p>
            <a:pPr eaLnBrk="0" fontAlgn="base" hangingPunct="0">
              <a:lnSpc>
                <a:spcPct val="100000"/>
              </a:lnSpc>
              <a:spcBef>
                <a:spcPct val="0"/>
              </a:spcBef>
              <a:spcAft>
                <a:spcPct val="0"/>
              </a:spcAft>
            </a:pPr>
            <a:r>
              <a:rPr lang="en-US" altLang="en-US" dirty="0"/>
              <a:t>BGP takes into </a:t>
            </a:r>
            <a:r>
              <a:rPr lang="en-US" altLang="en-US" dirty="0">
                <a:solidFill>
                  <a:schemeClr val="tx1">
                    <a:lumMod val="20000"/>
                    <a:lumOff val="80000"/>
                  </a:schemeClr>
                </a:solidFill>
              </a:rPr>
              <a:t>account political, economic, and security considerations when selecting routes </a:t>
            </a:r>
            <a:r>
              <a:rPr lang="en-US" altLang="en-US" dirty="0"/>
              <a:t>between different networks.</a:t>
            </a:r>
          </a:p>
        </p:txBody>
      </p:sp>
    </p:spTree>
    <p:extLst>
      <p:ext uri="{BB962C8B-B14F-4D97-AF65-F5344CB8AC3E}">
        <p14:creationId xmlns:p14="http://schemas.microsoft.com/office/powerpoint/2010/main" val="28192568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9153"/>
          </a:xfrm>
        </p:spPr>
        <p:txBody>
          <a:bodyPr/>
          <a:lstStyle/>
          <a:p>
            <a:endParaRPr lang="en-IN" dirty="0"/>
          </a:p>
        </p:txBody>
      </p:sp>
      <p:sp>
        <p:nvSpPr>
          <p:cNvPr id="4" name="Rectangle 1">
            <a:extLst>
              <a:ext uri="{FF2B5EF4-FFF2-40B4-BE49-F238E27FC236}">
                <a16:creationId xmlns:a16="http://schemas.microsoft.com/office/drawing/2014/main" id="{FFCA9AA4-4B8A-C227-D4E8-94D4291232B4}"/>
              </a:ext>
            </a:extLst>
          </p:cNvPr>
          <p:cNvSpPr>
            <a:spLocks noGrp="1" noChangeArrowheads="1"/>
          </p:cNvSpPr>
          <p:nvPr>
            <p:ph idx="1"/>
          </p:nvPr>
        </p:nvSpPr>
        <p:spPr bwMode="auto">
          <a:xfrm>
            <a:off x="317241" y="1506459"/>
            <a:ext cx="11719249"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2400" dirty="0"/>
              <a:t>For instance, some </a:t>
            </a:r>
            <a:r>
              <a:rPr lang="en-US" altLang="en-US" sz="2400" dirty="0">
                <a:solidFill>
                  <a:schemeClr val="tx1">
                    <a:lumMod val="20000"/>
                    <a:lumOff val="80000"/>
                  </a:schemeClr>
                </a:solidFill>
              </a:rPr>
              <a:t>networks may refuse to carry transit traffic between foreign networks or may only carry traffic for paying customers.</a:t>
            </a:r>
          </a:p>
          <a:p>
            <a:pPr eaLnBrk="0" fontAlgn="base" hangingPunct="0">
              <a:lnSpc>
                <a:spcPct val="100000"/>
              </a:lnSpc>
              <a:spcBef>
                <a:spcPct val="0"/>
              </a:spcBef>
              <a:spcAft>
                <a:spcPct val="0"/>
              </a:spcAft>
            </a:pPr>
            <a:r>
              <a:rPr lang="en-US" altLang="en-US" sz="2400" dirty="0"/>
              <a:t>Such routing decisions are manually </a:t>
            </a:r>
            <a:r>
              <a:rPr lang="en-US" altLang="en-US" sz="2400" dirty="0">
                <a:solidFill>
                  <a:schemeClr val="tx1">
                    <a:lumMod val="20000"/>
                    <a:lumOff val="80000"/>
                  </a:schemeClr>
                </a:solidFill>
              </a:rPr>
              <a:t>configured by network administrators and are not automatically handled by the BGP protocol itself.</a:t>
            </a:r>
          </a:p>
          <a:p>
            <a:pPr eaLnBrk="0" fontAlgn="base" hangingPunct="0">
              <a:lnSpc>
                <a:spcPct val="100000"/>
              </a:lnSpc>
              <a:spcBef>
                <a:spcPct val="0"/>
              </a:spcBef>
              <a:spcAft>
                <a:spcPct val="0"/>
              </a:spcAft>
            </a:pPr>
            <a:r>
              <a:rPr lang="en-US" altLang="en-US" sz="2400" dirty="0"/>
              <a:t>From a </a:t>
            </a:r>
            <a:r>
              <a:rPr lang="en-US" altLang="en-US" sz="2400" dirty="0">
                <a:solidFill>
                  <a:schemeClr val="tx1">
                    <a:lumMod val="20000"/>
                    <a:lumOff val="80000"/>
                  </a:schemeClr>
                </a:solidFill>
              </a:rPr>
              <a:t>BGP router’s point of view</a:t>
            </a:r>
            <a:r>
              <a:rPr lang="en-US" altLang="en-US" sz="2400" dirty="0"/>
              <a:t>, the </a:t>
            </a:r>
            <a:r>
              <a:rPr lang="en-US" altLang="en-US" sz="2400" u="sng" dirty="0"/>
              <a:t>Internet looks like a graph of multiple </a:t>
            </a:r>
            <a:r>
              <a:rPr lang="en-US" altLang="en-US" sz="2400" u="sng" dirty="0" err="1"/>
              <a:t>ASes</a:t>
            </a:r>
            <a:r>
              <a:rPr lang="en-US" altLang="en-US" sz="2400" u="sng" dirty="0"/>
              <a:t> interconnected through border routers.</a:t>
            </a:r>
          </a:p>
          <a:p>
            <a:pPr eaLnBrk="0" fontAlgn="base" hangingPunct="0">
              <a:lnSpc>
                <a:spcPct val="100000"/>
              </a:lnSpc>
              <a:spcBef>
                <a:spcPct val="0"/>
              </a:spcBef>
              <a:spcAft>
                <a:spcPct val="0"/>
              </a:spcAft>
            </a:pPr>
            <a:r>
              <a:rPr lang="en-US" altLang="en-US" sz="2400" dirty="0"/>
              <a:t>Two </a:t>
            </a:r>
            <a:r>
              <a:rPr lang="en-US" altLang="en-US" sz="2400" dirty="0" err="1"/>
              <a:t>ASes</a:t>
            </a:r>
            <a:r>
              <a:rPr lang="en-US" altLang="en-US" sz="2400" dirty="0"/>
              <a:t> are considered connected if there is a physical or </a:t>
            </a:r>
            <a:r>
              <a:rPr lang="en-US" altLang="en-US" sz="2400" u="sng" dirty="0"/>
              <a:t>logical link between their border routers.</a:t>
            </a:r>
          </a:p>
          <a:p>
            <a:pPr eaLnBrk="0" fontAlgn="base" hangingPunct="0">
              <a:lnSpc>
                <a:spcPct val="100000"/>
              </a:lnSpc>
              <a:spcBef>
                <a:spcPct val="0"/>
              </a:spcBef>
              <a:spcAft>
                <a:spcPct val="0"/>
              </a:spcAft>
            </a:pPr>
            <a:r>
              <a:rPr lang="en-US" altLang="en-US" sz="2400" dirty="0"/>
              <a:t>BGP networks are divided into three categories based on how they handle transit traffic: </a:t>
            </a:r>
            <a:r>
              <a:rPr lang="en-US" altLang="en-US" sz="2400" dirty="0">
                <a:solidFill>
                  <a:schemeClr val="tx1">
                    <a:lumMod val="20000"/>
                    <a:lumOff val="80000"/>
                  </a:schemeClr>
                </a:solidFill>
              </a:rPr>
              <a:t>stub, multiconnected, and transit networks.</a:t>
            </a:r>
          </a:p>
          <a:p>
            <a:pPr marL="457200" lvl="1" indent="0" eaLnBrk="0" fontAlgn="base" hangingPunct="0">
              <a:lnSpc>
                <a:spcPct val="100000"/>
              </a:lnSpc>
              <a:spcBef>
                <a:spcPct val="0"/>
              </a:spcBef>
              <a:spcAft>
                <a:spcPct val="0"/>
              </a:spcAft>
              <a:buFontTx/>
              <a:buChar char="•"/>
            </a:pPr>
            <a:r>
              <a:rPr lang="en-US" altLang="en-US" sz="1800" dirty="0">
                <a:solidFill>
                  <a:schemeClr val="tx1">
                    <a:lumMod val="20000"/>
                    <a:lumOff val="80000"/>
                  </a:schemeClr>
                </a:solidFill>
              </a:rPr>
              <a:t>Stub networks have only one connection to another AS </a:t>
            </a:r>
            <a:r>
              <a:rPr lang="en-US" altLang="en-US" sz="1800" dirty="0"/>
              <a:t>and therefore cannot carry traffic for other networks.</a:t>
            </a:r>
          </a:p>
          <a:p>
            <a:pPr marL="457200" lvl="1" indent="0" eaLnBrk="0" fontAlgn="base" hangingPunct="0">
              <a:lnSpc>
                <a:spcPct val="100000"/>
              </a:lnSpc>
              <a:spcBef>
                <a:spcPct val="0"/>
              </a:spcBef>
              <a:spcAft>
                <a:spcPct val="0"/>
              </a:spcAft>
              <a:buFontTx/>
              <a:buChar char="•"/>
            </a:pPr>
            <a:r>
              <a:rPr lang="en-US" altLang="en-US" sz="1800" dirty="0">
                <a:solidFill>
                  <a:schemeClr val="tx1">
                    <a:lumMod val="20000"/>
                    <a:lumOff val="80000"/>
                  </a:schemeClr>
                </a:solidFill>
              </a:rPr>
              <a:t>Multiconnected networks have multiple external connections </a:t>
            </a:r>
            <a:r>
              <a:rPr lang="en-US" altLang="en-US" sz="1800" dirty="0"/>
              <a:t>but do not allow transit traffic to pass through them.</a:t>
            </a:r>
          </a:p>
          <a:p>
            <a:pPr marL="457200" lvl="1" indent="0" eaLnBrk="0" fontAlgn="base" hangingPunct="0">
              <a:lnSpc>
                <a:spcPct val="100000"/>
              </a:lnSpc>
              <a:spcBef>
                <a:spcPct val="0"/>
              </a:spcBef>
              <a:spcAft>
                <a:spcPct val="0"/>
              </a:spcAft>
              <a:buFontTx/>
              <a:buChar char="•"/>
            </a:pPr>
            <a:r>
              <a:rPr lang="en-US" altLang="en-US" sz="1800" dirty="0">
                <a:solidFill>
                  <a:schemeClr val="tx1">
                    <a:lumMod val="20000"/>
                    <a:lumOff val="80000"/>
                  </a:schemeClr>
                </a:solidFill>
              </a:rPr>
              <a:t>Transit networks, such as Internet backbones, allow data from other networks to pass through, </a:t>
            </a:r>
            <a:r>
              <a:rPr lang="en-US" altLang="en-US" sz="1800" dirty="0"/>
              <a:t>often for commercial reasons.</a:t>
            </a:r>
          </a:p>
        </p:txBody>
      </p:sp>
    </p:spTree>
    <p:extLst>
      <p:ext uri="{BB962C8B-B14F-4D97-AF65-F5344CB8AC3E}">
        <p14:creationId xmlns:p14="http://schemas.microsoft.com/office/powerpoint/2010/main" val="1654889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9CBE94F-84CC-2092-1BEC-729185E6FDC0}"/>
              </a:ext>
            </a:extLst>
          </p:cNvPr>
          <p:cNvSpPr>
            <a:spLocks noGrp="1" noChangeArrowheads="1"/>
          </p:cNvSpPr>
          <p:nvPr>
            <p:ph idx="1"/>
          </p:nvPr>
        </p:nvSpPr>
        <p:spPr bwMode="auto">
          <a:xfrm>
            <a:off x="242596" y="705812"/>
            <a:ext cx="1152330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2400" dirty="0"/>
              <a:t>BGP routers exchange routing information using TCP connections, which ensure </a:t>
            </a:r>
            <a:r>
              <a:rPr lang="en-US" altLang="en-US" sz="2400" dirty="0">
                <a:solidFill>
                  <a:schemeClr val="tx1">
                    <a:lumMod val="20000"/>
                    <a:lumOff val="80000"/>
                  </a:schemeClr>
                </a:solidFill>
              </a:rPr>
              <a:t>reliable delivery and error-free communication.</a:t>
            </a:r>
          </a:p>
          <a:p>
            <a:pPr eaLnBrk="0" fontAlgn="base" hangingPunct="0">
              <a:lnSpc>
                <a:spcPct val="100000"/>
              </a:lnSpc>
              <a:spcBef>
                <a:spcPct val="0"/>
              </a:spcBef>
              <a:spcAft>
                <a:spcPct val="0"/>
              </a:spcAft>
            </a:pPr>
            <a:r>
              <a:rPr lang="en-US" altLang="en-US" sz="2400" dirty="0"/>
              <a:t>Unlike traditional distance vector protocols such as RIP, </a:t>
            </a:r>
            <a:r>
              <a:rPr lang="en-US" altLang="en-US" sz="2400" dirty="0">
                <a:solidFill>
                  <a:schemeClr val="tx1">
                    <a:lumMod val="20000"/>
                    <a:lumOff val="80000"/>
                  </a:schemeClr>
                </a:solidFill>
              </a:rPr>
              <a:t>BGP advertises the entire AS path to a destination rather than just the cost or distance.</a:t>
            </a:r>
          </a:p>
          <a:p>
            <a:pPr eaLnBrk="0" fontAlgn="base" hangingPunct="0">
              <a:lnSpc>
                <a:spcPct val="100000"/>
              </a:lnSpc>
              <a:spcBef>
                <a:spcPct val="0"/>
              </a:spcBef>
              <a:spcAft>
                <a:spcPct val="0"/>
              </a:spcAft>
            </a:pPr>
            <a:r>
              <a:rPr lang="en-US" altLang="en-US" sz="2400" dirty="0"/>
              <a:t>This path information allows routers to clearly identify the route that data will take and </a:t>
            </a:r>
            <a:r>
              <a:rPr lang="en-US" altLang="en-US" sz="2400" dirty="0">
                <a:solidFill>
                  <a:schemeClr val="tx1">
                    <a:lumMod val="20000"/>
                    <a:lumOff val="80000"/>
                  </a:schemeClr>
                </a:solidFill>
              </a:rPr>
              <a:t>helps in detecting routing loops.</a:t>
            </a:r>
          </a:p>
          <a:p>
            <a:pPr eaLnBrk="0" fontAlgn="base" hangingPunct="0">
              <a:lnSpc>
                <a:spcPct val="100000"/>
              </a:lnSpc>
              <a:spcBef>
                <a:spcPct val="0"/>
              </a:spcBef>
              <a:spcAft>
                <a:spcPct val="0"/>
              </a:spcAft>
            </a:pPr>
            <a:r>
              <a:rPr lang="en-US" altLang="en-US" sz="2400" dirty="0"/>
              <a:t>When multiple routes are available, </a:t>
            </a:r>
            <a:r>
              <a:rPr lang="en-US" altLang="en-US" sz="2400" dirty="0">
                <a:solidFill>
                  <a:schemeClr val="tx1">
                    <a:lumMod val="20000"/>
                    <a:lumOff val="80000"/>
                  </a:schemeClr>
                </a:solidFill>
              </a:rPr>
              <a:t>BGP uses a scoring system based on local administrative preferences </a:t>
            </a:r>
            <a:r>
              <a:rPr lang="en-US" altLang="en-US" sz="2400" dirty="0"/>
              <a:t>to select the best path.</a:t>
            </a:r>
          </a:p>
          <a:p>
            <a:pPr eaLnBrk="0" fontAlgn="base" hangingPunct="0">
              <a:lnSpc>
                <a:spcPct val="100000"/>
              </a:lnSpc>
              <a:spcBef>
                <a:spcPct val="0"/>
              </a:spcBef>
              <a:spcAft>
                <a:spcPct val="0"/>
              </a:spcAft>
            </a:pPr>
            <a:r>
              <a:rPr lang="en-US" altLang="en-US" sz="2400" dirty="0"/>
              <a:t>Any route that violates an organization’s policy is given an </a:t>
            </a:r>
            <a:r>
              <a:rPr lang="en-US" altLang="en-US" sz="2400" dirty="0">
                <a:solidFill>
                  <a:schemeClr val="tx1">
                    <a:lumMod val="20000"/>
                    <a:lumOff val="80000"/>
                  </a:schemeClr>
                </a:solidFill>
              </a:rPr>
              <a:t>infinite cost and is automatically discarded.</a:t>
            </a:r>
          </a:p>
          <a:p>
            <a:pPr eaLnBrk="0" fontAlgn="base" hangingPunct="0">
              <a:lnSpc>
                <a:spcPct val="100000"/>
              </a:lnSpc>
              <a:spcBef>
                <a:spcPct val="0"/>
              </a:spcBef>
              <a:spcAft>
                <a:spcPct val="0"/>
              </a:spcAft>
            </a:pPr>
            <a:r>
              <a:rPr lang="en-US" altLang="en-US" sz="2400" dirty="0"/>
              <a:t>Because </a:t>
            </a:r>
            <a:r>
              <a:rPr lang="en-US" altLang="en-US" sz="2400" dirty="0">
                <a:solidFill>
                  <a:schemeClr val="tx1">
                    <a:lumMod val="20000"/>
                    <a:lumOff val="80000"/>
                  </a:schemeClr>
                </a:solidFill>
              </a:rPr>
              <a:t>BGP routers know complete paths, they can easily detect loops and avoid the count-to-infinity problem </a:t>
            </a:r>
            <a:r>
              <a:rPr lang="en-US" altLang="en-US" sz="2400" dirty="0"/>
              <a:t>common in simpler distance vector protocols.</a:t>
            </a:r>
          </a:p>
          <a:p>
            <a:pPr eaLnBrk="0" fontAlgn="base" hangingPunct="0">
              <a:lnSpc>
                <a:spcPct val="100000"/>
              </a:lnSpc>
              <a:spcBef>
                <a:spcPct val="0"/>
              </a:spcBef>
              <a:spcAft>
                <a:spcPct val="0"/>
              </a:spcAft>
            </a:pPr>
            <a:r>
              <a:rPr lang="en-US" altLang="en-US" sz="2400" u="sng" dirty="0">
                <a:solidFill>
                  <a:schemeClr val="tx1">
                    <a:lumMod val="20000"/>
                    <a:lumOff val="80000"/>
                  </a:schemeClr>
                </a:solidFill>
              </a:rPr>
              <a:t>BGP serves as the policy-based backbone of interdomain routing</a:t>
            </a:r>
            <a:r>
              <a:rPr lang="en-US" altLang="en-US" sz="2400" dirty="0"/>
              <a:t>, allowing millions of networks to interconnect globally while following their own business, political, and security policies — as formally defined in RFCs 1771 to 1774.</a:t>
            </a:r>
          </a:p>
        </p:txBody>
      </p:sp>
    </p:spTree>
    <p:extLst>
      <p:ext uri="{BB962C8B-B14F-4D97-AF65-F5344CB8AC3E}">
        <p14:creationId xmlns:p14="http://schemas.microsoft.com/office/powerpoint/2010/main" val="9307153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endParaRPr lang="en-IN" dirty="0"/>
          </a:p>
        </p:txBody>
      </p:sp>
      <p:sp>
        <p:nvSpPr>
          <p:cNvPr id="3" name="Content Placeholder 2"/>
          <p:cNvSpPr>
            <a:spLocks noGrp="1"/>
          </p:cNvSpPr>
          <p:nvPr>
            <p:ph idx="1"/>
          </p:nvPr>
        </p:nvSpPr>
        <p:spPr>
          <a:xfrm>
            <a:off x="502298" y="1060593"/>
            <a:ext cx="11049000" cy="1989287"/>
          </a:xfrm>
        </p:spPr>
        <p:txBody>
          <a:bodyPr>
            <a:normAutofit fontScale="92500" lnSpcReduction="20000"/>
          </a:bodyPr>
          <a:lstStyle/>
          <a:p>
            <a:r>
              <a:rPr lang="en-US" dirty="0"/>
              <a:t>After all the paths come in from the neighbors, </a:t>
            </a:r>
            <a:r>
              <a:rPr lang="en-US" i="1" dirty="0"/>
              <a:t>F </a:t>
            </a:r>
            <a:r>
              <a:rPr lang="en-US" dirty="0"/>
              <a:t>examines them to see which is the best. It quickly discards the paths from </a:t>
            </a:r>
            <a:r>
              <a:rPr lang="en-US" i="1" dirty="0"/>
              <a:t>I </a:t>
            </a:r>
            <a:r>
              <a:rPr lang="en-US" dirty="0"/>
              <a:t>and </a:t>
            </a:r>
            <a:r>
              <a:rPr lang="en-US" i="1" dirty="0"/>
              <a:t>E</a:t>
            </a:r>
            <a:r>
              <a:rPr lang="en-US" dirty="0"/>
              <a:t>, since these paths pass through </a:t>
            </a:r>
            <a:r>
              <a:rPr lang="en-US" i="1" dirty="0"/>
              <a:t>F </a:t>
            </a:r>
            <a:r>
              <a:rPr lang="en-US" dirty="0"/>
              <a:t>itself. The choice is then between using </a:t>
            </a:r>
            <a:r>
              <a:rPr lang="en-US" i="1" dirty="0"/>
              <a:t>B </a:t>
            </a:r>
            <a:r>
              <a:rPr lang="en-US" dirty="0"/>
              <a:t>and </a:t>
            </a:r>
            <a:r>
              <a:rPr lang="en-US" i="1" dirty="0"/>
              <a:t>G</a:t>
            </a:r>
            <a:r>
              <a:rPr lang="en-US" dirty="0"/>
              <a:t>. Every BGP router contains a module that examines routes to a given destination and scores them, returning a number for the ''distance'' to that destination </a:t>
            </a:r>
            <a:r>
              <a:rPr lang="en-IN" dirty="0"/>
              <a:t>for each route.</a:t>
            </a:r>
          </a:p>
        </p:txBody>
      </p:sp>
      <p:pic>
        <p:nvPicPr>
          <p:cNvPr id="5" name="Picture 4"/>
          <p:cNvPicPr>
            <a:picLocks noChangeAspect="1"/>
          </p:cNvPicPr>
          <p:nvPr/>
        </p:nvPicPr>
        <p:blipFill>
          <a:blip r:embed="rId2"/>
          <a:stretch>
            <a:fillRect/>
          </a:stretch>
        </p:blipFill>
        <p:spPr>
          <a:xfrm>
            <a:off x="2316253" y="3096533"/>
            <a:ext cx="6488113" cy="3466912"/>
          </a:xfrm>
          <a:prstGeom prst="rect">
            <a:avLst/>
          </a:prstGeom>
        </p:spPr>
      </p:pic>
    </p:spTree>
    <p:extLst>
      <p:ext uri="{BB962C8B-B14F-4D97-AF65-F5344CB8AC3E}">
        <p14:creationId xmlns:p14="http://schemas.microsoft.com/office/powerpoint/2010/main" val="5265898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IPv6</a:t>
            </a:r>
            <a:endParaRPr lang="en-IN" dirty="0"/>
          </a:p>
        </p:txBody>
      </p:sp>
      <p:sp>
        <p:nvSpPr>
          <p:cNvPr id="3" name="Content Placeholder 2"/>
          <p:cNvSpPr>
            <a:spLocks noGrp="1"/>
          </p:cNvSpPr>
          <p:nvPr>
            <p:ph idx="1"/>
          </p:nvPr>
        </p:nvSpPr>
        <p:spPr>
          <a:xfrm>
            <a:off x="231913" y="1590263"/>
            <a:ext cx="11728174" cy="4916554"/>
          </a:xfrm>
        </p:spPr>
        <p:txBody>
          <a:bodyPr>
            <a:normAutofit lnSpcReduction="10000"/>
          </a:bodyPr>
          <a:lstStyle/>
          <a:p>
            <a:r>
              <a:rPr lang="en-IN" dirty="0"/>
              <a:t>Its major goals were:</a:t>
            </a:r>
          </a:p>
          <a:p>
            <a:r>
              <a:rPr lang="en-US" dirty="0"/>
              <a:t>1. Support </a:t>
            </a:r>
            <a:r>
              <a:rPr lang="en-US" u="sng" dirty="0"/>
              <a:t>billions of hosts, even with inefficient address space allocation.</a:t>
            </a:r>
          </a:p>
          <a:p>
            <a:r>
              <a:rPr lang="en-US" dirty="0"/>
              <a:t>2. </a:t>
            </a:r>
            <a:r>
              <a:rPr lang="en-US" u="sng" dirty="0"/>
              <a:t>Reduce the size of the routing tables</a:t>
            </a:r>
            <a:r>
              <a:rPr lang="en-US" dirty="0"/>
              <a:t>.</a:t>
            </a:r>
          </a:p>
          <a:p>
            <a:r>
              <a:rPr lang="en-US" dirty="0"/>
              <a:t>3. Simplify the protocol, to </a:t>
            </a:r>
            <a:r>
              <a:rPr lang="en-US" u="sng" dirty="0"/>
              <a:t>allow routers to process packets faster.</a:t>
            </a:r>
          </a:p>
          <a:p>
            <a:r>
              <a:rPr lang="en-US" dirty="0"/>
              <a:t>4. Provide </a:t>
            </a:r>
            <a:r>
              <a:rPr lang="en-US" u="sng" dirty="0"/>
              <a:t>better security </a:t>
            </a:r>
            <a:r>
              <a:rPr lang="en-US" dirty="0"/>
              <a:t>(authentication and privacy) than current IP.</a:t>
            </a:r>
          </a:p>
          <a:p>
            <a:r>
              <a:rPr lang="en-US" dirty="0"/>
              <a:t>5. Pay more attention to </a:t>
            </a:r>
            <a:r>
              <a:rPr lang="en-US" u="sng" dirty="0"/>
              <a:t>type of service, particularly for real-time data.</a:t>
            </a:r>
          </a:p>
          <a:p>
            <a:r>
              <a:rPr lang="en-US" dirty="0"/>
              <a:t>6. Aid </a:t>
            </a:r>
            <a:r>
              <a:rPr lang="en-US" u="sng" dirty="0"/>
              <a:t>multicasting</a:t>
            </a:r>
            <a:r>
              <a:rPr lang="en-US" dirty="0"/>
              <a:t> by allowing scopes to be specified.</a:t>
            </a:r>
          </a:p>
          <a:p>
            <a:r>
              <a:rPr lang="en-US" dirty="0"/>
              <a:t>7. </a:t>
            </a:r>
            <a:r>
              <a:rPr lang="en-US" u="sng" dirty="0"/>
              <a:t>Make it possible for a host to roam </a:t>
            </a:r>
            <a:r>
              <a:rPr lang="en-US" dirty="0"/>
              <a:t>without changing its address.</a:t>
            </a:r>
          </a:p>
          <a:p>
            <a:r>
              <a:rPr lang="en-US" dirty="0"/>
              <a:t>8. Allow the protocol to </a:t>
            </a:r>
            <a:r>
              <a:rPr lang="en-US" u="sng" dirty="0"/>
              <a:t>evolve in the future.</a:t>
            </a:r>
          </a:p>
          <a:p>
            <a:r>
              <a:rPr lang="en-US" dirty="0"/>
              <a:t>9. Permit the </a:t>
            </a:r>
            <a:r>
              <a:rPr lang="en-US" u="sng" dirty="0"/>
              <a:t>old and new protocols to coexist </a:t>
            </a:r>
            <a:r>
              <a:rPr lang="en-US" dirty="0"/>
              <a:t>for years.</a:t>
            </a:r>
            <a:endParaRPr lang="en-IN" dirty="0"/>
          </a:p>
        </p:txBody>
      </p:sp>
    </p:spTree>
    <p:extLst>
      <p:ext uri="{BB962C8B-B14F-4D97-AF65-F5344CB8AC3E}">
        <p14:creationId xmlns:p14="http://schemas.microsoft.com/office/powerpoint/2010/main" val="24098088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A </a:t>
            </a:r>
            <a:r>
              <a:rPr lang="en-US" dirty="0"/>
              <a:t>modified combined version of </a:t>
            </a:r>
            <a:r>
              <a:rPr lang="en-US" u="sng" dirty="0"/>
              <a:t>the Deering and Francis </a:t>
            </a:r>
            <a:r>
              <a:rPr lang="en-US" dirty="0"/>
              <a:t>proposals, by now called </a:t>
            </a:r>
            <a:r>
              <a:rPr lang="en-US" b="1" dirty="0"/>
              <a:t>SIPP </a:t>
            </a:r>
            <a:r>
              <a:rPr lang="en-US" dirty="0"/>
              <a:t>(</a:t>
            </a:r>
            <a:r>
              <a:rPr lang="en-US" b="1" dirty="0"/>
              <a:t>Simple Internet Protocol Plus</a:t>
            </a:r>
            <a:r>
              <a:rPr lang="en-US" dirty="0"/>
              <a:t>) was selected and given the designation </a:t>
            </a:r>
            <a:r>
              <a:rPr lang="en-US" b="1" dirty="0"/>
              <a:t>IPv6.</a:t>
            </a:r>
            <a:endParaRPr lang="en-US" dirty="0"/>
          </a:p>
          <a:p>
            <a:r>
              <a:rPr lang="en-US" dirty="0"/>
              <a:t>IPv6 meets the goals fairly well. It maintains the </a:t>
            </a:r>
            <a:r>
              <a:rPr lang="en-US" u="sng" dirty="0"/>
              <a:t>good features of IP, discards or deemphasizes the bad ones, </a:t>
            </a:r>
            <a:r>
              <a:rPr lang="en-US" dirty="0"/>
              <a:t>and </a:t>
            </a:r>
            <a:r>
              <a:rPr lang="en-US" u="sng" dirty="0"/>
              <a:t>adds new ones where needed</a:t>
            </a:r>
            <a:r>
              <a:rPr lang="en-US" u="sng"/>
              <a:t>.</a:t>
            </a:r>
            <a:r>
              <a:rPr lang="en-US"/>
              <a:t> </a:t>
            </a:r>
          </a:p>
          <a:p>
            <a:r>
              <a:rPr lang="en-US"/>
              <a:t>In </a:t>
            </a:r>
            <a:r>
              <a:rPr lang="en-US" dirty="0"/>
              <a:t>general, IPv6 is not compatible with IPv4, but it is compatible with the other auxiliary Internet protocols, including TCP, UDP, ICMP, IGMP, OSPF, BGP, and DNS, sometimes with small modifications being required</a:t>
            </a:r>
            <a:endParaRPr lang="en-IN" dirty="0"/>
          </a:p>
        </p:txBody>
      </p:sp>
    </p:spTree>
    <p:extLst>
      <p:ext uri="{BB962C8B-B14F-4D97-AF65-F5344CB8AC3E}">
        <p14:creationId xmlns:p14="http://schemas.microsoft.com/office/powerpoint/2010/main" val="23042881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main features of IPv6:</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1)IPv6 has </a:t>
            </a:r>
            <a:r>
              <a:rPr lang="en-US" u="sng" dirty="0"/>
              <a:t>longer addresses than IPv4. </a:t>
            </a:r>
            <a:r>
              <a:rPr lang="en-US" dirty="0"/>
              <a:t>They are 16 bytes long, which solves the problem that IPv6 set out to solve: provide an effectively </a:t>
            </a:r>
            <a:r>
              <a:rPr lang="en-US" u="sng" dirty="0"/>
              <a:t>unlimited supply of Internet addresses. </a:t>
            </a:r>
          </a:p>
          <a:p>
            <a:pPr marL="0" indent="0">
              <a:buNone/>
            </a:pPr>
            <a:r>
              <a:rPr lang="en-US" dirty="0"/>
              <a:t>2) simplification of the header. It contains </a:t>
            </a:r>
            <a:r>
              <a:rPr lang="en-US" u="sng" dirty="0"/>
              <a:t>only seven fields </a:t>
            </a:r>
            <a:r>
              <a:rPr lang="en-US" dirty="0"/>
              <a:t>(versus 13 in IPv4). This change allows routers to </a:t>
            </a:r>
            <a:r>
              <a:rPr lang="en-US" u="sng" dirty="0"/>
              <a:t>process packets faster and thus </a:t>
            </a:r>
            <a:r>
              <a:rPr lang="en-IN" u="sng" dirty="0"/>
              <a:t>improve throughput and delay.</a:t>
            </a:r>
          </a:p>
          <a:p>
            <a:pPr marL="0" indent="0">
              <a:buNone/>
            </a:pPr>
            <a:r>
              <a:rPr lang="en-IN" dirty="0"/>
              <a:t>3)</a:t>
            </a:r>
            <a:r>
              <a:rPr lang="en-US" dirty="0"/>
              <a:t>The third major improvement was better </a:t>
            </a:r>
            <a:r>
              <a:rPr lang="en-US" u="sng" dirty="0"/>
              <a:t>support for options. </a:t>
            </a:r>
            <a:r>
              <a:rPr lang="en-US" dirty="0"/>
              <a:t>This change was essential with the new header because fields that previously were required are now optional. In addition, the way options are represented is different, making it simple for routers to skip over options not intended for them. This feature speeds up packet processing time.</a:t>
            </a:r>
          </a:p>
          <a:p>
            <a:pPr marL="0" indent="0">
              <a:buNone/>
            </a:pPr>
            <a:r>
              <a:rPr lang="en-US" dirty="0"/>
              <a:t>4) IPv6 represents a big advance is in </a:t>
            </a:r>
            <a:r>
              <a:rPr lang="en-US" u="sng" dirty="0"/>
              <a:t>security.</a:t>
            </a:r>
          </a:p>
          <a:p>
            <a:pPr marL="0" indent="0">
              <a:buNone/>
            </a:pPr>
            <a:r>
              <a:rPr lang="en-US" dirty="0"/>
              <a:t>5)more attention has been paid to </a:t>
            </a:r>
            <a:r>
              <a:rPr lang="en-US" u="sng" dirty="0"/>
              <a:t>quality of service.</a:t>
            </a:r>
            <a:endParaRPr lang="en-IN" u="sng" dirty="0"/>
          </a:p>
          <a:p>
            <a:pPr marL="0" indent="0">
              <a:buNone/>
            </a:pPr>
            <a:endParaRPr lang="en-IN" dirty="0"/>
          </a:p>
        </p:txBody>
      </p:sp>
    </p:spTree>
    <p:extLst>
      <p:ext uri="{BB962C8B-B14F-4D97-AF65-F5344CB8AC3E}">
        <p14:creationId xmlns:p14="http://schemas.microsoft.com/office/powerpoint/2010/main" val="34781661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666207" y="561703"/>
            <a:ext cx="10267404" cy="5525588"/>
          </a:xfrm>
          <a:prstGeom prst="rect">
            <a:avLst/>
          </a:prstGeom>
        </p:spPr>
      </p:pic>
    </p:spTree>
    <p:extLst>
      <p:ext uri="{BB962C8B-B14F-4D97-AF65-F5344CB8AC3E}">
        <p14:creationId xmlns:p14="http://schemas.microsoft.com/office/powerpoint/2010/main" val="25792045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a:t>
            </a:r>
            <a:r>
              <a:rPr lang="en-US" i="1" dirty="0">
                <a:solidFill>
                  <a:schemeClr val="tx1">
                    <a:lumMod val="20000"/>
                    <a:lumOff val="80000"/>
                  </a:schemeClr>
                </a:solidFill>
              </a:rPr>
              <a:t>Version</a:t>
            </a:r>
            <a:r>
              <a:rPr lang="en-US" i="1" dirty="0"/>
              <a:t> </a:t>
            </a:r>
            <a:r>
              <a:rPr lang="en-US" dirty="0"/>
              <a:t>field is always 6 for IPv6 (and 4 for IPv4).</a:t>
            </a:r>
          </a:p>
          <a:p>
            <a:r>
              <a:rPr lang="en-US" dirty="0"/>
              <a:t> The </a:t>
            </a:r>
            <a:r>
              <a:rPr lang="en-US" i="1" dirty="0">
                <a:solidFill>
                  <a:schemeClr val="tx1">
                    <a:lumMod val="20000"/>
                    <a:lumOff val="80000"/>
                  </a:schemeClr>
                </a:solidFill>
              </a:rPr>
              <a:t>Traffic class </a:t>
            </a:r>
            <a:r>
              <a:rPr lang="en-US" dirty="0"/>
              <a:t>field is used to </a:t>
            </a:r>
            <a:r>
              <a:rPr lang="en-US" u="sng" dirty="0"/>
              <a:t>distinguish between packets with different real-time delivery </a:t>
            </a:r>
            <a:r>
              <a:rPr lang="en-IN" dirty="0"/>
              <a:t>requirements.</a:t>
            </a:r>
          </a:p>
          <a:p>
            <a:r>
              <a:rPr lang="en-US" dirty="0"/>
              <a:t>The </a:t>
            </a:r>
            <a:r>
              <a:rPr lang="en-US" i="1" dirty="0">
                <a:solidFill>
                  <a:schemeClr val="tx1">
                    <a:lumMod val="20000"/>
                    <a:lumOff val="80000"/>
                  </a:schemeClr>
                </a:solidFill>
              </a:rPr>
              <a:t>Flow label </a:t>
            </a:r>
            <a:r>
              <a:rPr lang="en-US" dirty="0"/>
              <a:t>field provides a way for a source and destination to mark groups of </a:t>
            </a:r>
            <a:r>
              <a:rPr lang="en-US" u="sng" dirty="0"/>
              <a:t>packets that have the same requirements and should be treated in the same way by the network,</a:t>
            </a:r>
            <a:endParaRPr lang="en-IN" u="sng" dirty="0"/>
          </a:p>
        </p:txBody>
      </p:sp>
    </p:spTree>
    <p:extLst>
      <p:ext uri="{BB962C8B-B14F-4D97-AF65-F5344CB8AC3E}">
        <p14:creationId xmlns:p14="http://schemas.microsoft.com/office/powerpoint/2010/main" val="3728692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The </a:t>
            </a:r>
            <a:r>
              <a:rPr lang="en-US" i="1" dirty="0">
                <a:solidFill>
                  <a:schemeClr val="tx1">
                    <a:lumMod val="20000"/>
                    <a:lumOff val="80000"/>
                  </a:schemeClr>
                </a:solidFill>
              </a:rPr>
              <a:t>Payload length </a:t>
            </a:r>
            <a:r>
              <a:rPr lang="en-US" dirty="0"/>
              <a:t>field tells how many bytes follow the 40-byte header .</a:t>
            </a:r>
            <a:r>
              <a:rPr lang="en-US" u="sng" dirty="0"/>
              <a:t>The name was changed from the IPv4 </a:t>
            </a:r>
            <a:r>
              <a:rPr lang="en-US" i="1" u="sng" dirty="0"/>
              <a:t>Total length </a:t>
            </a:r>
            <a:r>
              <a:rPr lang="en-US" u="sng" dirty="0"/>
              <a:t>field </a:t>
            </a:r>
            <a:r>
              <a:rPr lang="en-US" dirty="0"/>
              <a:t>because the meaning was changed slightly: the 40 header bytes are no longer counted as part of the length.</a:t>
            </a:r>
          </a:p>
          <a:p>
            <a:r>
              <a:rPr lang="en-US" dirty="0"/>
              <a:t>The </a:t>
            </a:r>
            <a:r>
              <a:rPr lang="en-US" i="1" dirty="0">
                <a:solidFill>
                  <a:schemeClr val="tx1">
                    <a:lumMod val="20000"/>
                    <a:lumOff val="80000"/>
                  </a:schemeClr>
                </a:solidFill>
              </a:rPr>
              <a:t>Next header </a:t>
            </a:r>
            <a:r>
              <a:rPr lang="en-US" dirty="0"/>
              <a:t>field :The reason the header could be simplified is that there can be additional (optional) extension headers. This field tells which of the (currently) six extension headers, if any, follow this one. If this header is the last IP header, the </a:t>
            </a:r>
            <a:r>
              <a:rPr lang="en-US" i="1" dirty="0"/>
              <a:t>Next header </a:t>
            </a:r>
            <a:r>
              <a:rPr lang="en-US" dirty="0"/>
              <a:t>field tells which transport protocol handler (e.g., TCP, UDP) to pass the packet </a:t>
            </a:r>
            <a:r>
              <a:rPr lang="en-IN" dirty="0"/>
              <a:t>to.</a:t>
            </a:r>
          </a:p>
        </p:txBody>
      </p:sp>
    </p:spTree>
    <p:extLst>
      <p:ext uri="{BB962C8B-B14F-4D97-AF65-F5344CB8AC3E}">
        <p14:creationId xmlns:p14="http://schemas.microsoft.com/office/powerpoint/2010/main" val="5424162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8800"/>
            <a:ext cx="10515600" cy="4873096"/>
          </a:xfrm>
        </p:spPr>
        <p:txBody>
          <a:bodyPr>
            <a:normAutofit/>
          </a:bodyPr>
          <a:lstStyle/>
          <a:p>
            <a:r>
              <a:rPr lang="en-US" dirty="0"/>
              <a:t>The </a:t>
            </a:r>
            <a:r>
              <a:rPr lang="en-US" i="1" dirty="0">
                <a:solidFill>
                  <a:schemeClr val="tx1">
                    <a:lumMod val="20000"/>
                    <a:lumOff val="80000"/>
                  </a:schemeClr>
                </a:solidFill>
              </a:rPr>
              <a:t>Hop limit </a:t>
            </a:r>
            <a:r>
              <a:rPr lang="en-US" dirty="0"/>
              <a:t>field is used to keep packets from living forever. It is, in practice, the same as the </a:t>
            </a:r>
            <a:r>
              <a:rPr lang="en-US" i="1" dirty="0"/>
              <a:t>Time to live </a:t>
            </a:r>
            <a:r>
              <a:rPr lang="en-US" dirty="0"/>
              <a:t>field in IPv4, namely, a field that is decremented on each hop. </a:t>
            </a:r>
          </a:p>
          <a:p>
            <a:r>
              <a:rPr lang="en-US" dirty="0"/>
              <a:t>Next come the </a:t>
            </a:r>
            <a:r>
              <a:rPr lang="en-US" i="1" dirty="0">
                <a:solidFill>
                  <a:schemeClr val="tx1">
                    <a:lumMod val="20000"/>
                    <a:lumOff val="80000"/>
                  </a:schemeClr>
                </a:solidFill>
              </a:rPr>
              <a:t>Source address </a:t>
            </a:r>
            <a:r>
              <a:rPr lang="en-US" dirty="0">
                <a:solidFill>
                  <a:schemeClr val="tx1">
                    <a:lumMod val="20000"/>
                    <a:lumOff val="80000"/>
                  </a:schemeClr>
                </a:solidFill>
              </a:rPr>
              <a:t>and </a:t>
            </a:r>
            <a:r>
              <a:rPr lang="en-US" i="1" dirty="0">
                <a:solidFill>
                  <a:schemeClr val="tx1">
                    <a:lumMod val="20000"/>
                    <a:lumOff val="80000"/>
                  </a:schemeClr>
                </a:solidFill>
              </a:rPr>
              <a:t>Destination address </a:t>
            </a:r>
            <a:r>
              <a:rPr lang="en-US" dirty="0"/>
              <a:t>fields. Deering's original proposal, SIP, used 8-byte addresses, but during the review process many people felt that with 8-byte addresses IPv6 would run out of addresses within a few decades, whereas with 16-byte addresses it would never run out.</a:t>
            </a:r>
          </a:p>
          <a:p>
            <a:r>
              <a:rPr lang="en-US" dirty="0"/>
              <a:t>Finally, the </a:t>
            </a:r>
            <a:r>
              <a:rPr lang="en-US" i="1" dirty="0">
                <a:solidFill>
                  <a:schemeClr val="tx1">
                    <a:lumMod val="20000"/>
                    <a:lumOff val="80000"/>
                  </a:schemeClr>
                </a:solidFill>
              </a:rPr>
              <a:t>Checksum</a:t>
            </a:r>
            <a:r>
              <a:rPr lang="en-US" i="1" dirty="0"/>
              <a:t> </a:t>
            </a:r>
            <a:r>
              <a:rPr lang="en-US" dirty="0"/>
              <a:t>field is gone because calculating it greatly reduces performance</a:t>
            </a:r>
            <a:endParaRPr lang="en-IN" dirty="0"/>
          </a:p>
        </p:txBody>
      </p:sp>
    </p:spTree>
    <p:extLst>
      <p:ext uri="{BB962C8B-B14F-4D97-AF65-F5344CB8AC3E}">
        <p14:creationId xmlns:p14="http://schemas.microsoft.com/office/powerpoint/2010/main" val="1185435191"/>
      </p:ext>
    </p:extLst>
  </p:cSld>
  <p:clrMapOvr>
    <a:masterClrMapping/>
  </p:clrMapOvr>
</p:sld>
</file>

<file path=ppt/theme/theme1.xml><?xml version="1.0" encoding="utf-8"?>
<a:theme xmlns:a="http://schemas.openxmlformats.org/drawingml/2006/main" name="yellow1">
  <a:themeElements>
    <a:clrScheme name="Custom 10">
      <a:dk1>
        <a:srgbClr val="FFC000"/>
      </a:dk1>
      <a:lt1>
        <a:srgbClr val="000000"/>
      </a:lt1>
      <a:dk2>
        <a:srgbClr val="000000"/>
      </a:dk2>
      <a:lt2>
        <a:srgbClr val="FF0000"/>
      </a:lt2>
      <a:accent1>
        <a:srgbClr val="FFC000"/>
      </a:accent1>
      <a:accent2>
        <a:srgbClr val="FFC000"/>
      </a:accent2>
      <a:accent3>
        <a:srgbClr val="FFC000"/>
      </a:accent3>
      <a:accent4>
        <a:srgbClr val="FFC000"/>
      </a:accent4>
      <a:accent5>
        <a:srgbClr val="FFC000"/>
      </a:accent5>
      <a:accent6>
        <a:srgbClr val="FFC000"/>
      </a:accent6>
      <a:hlink>
        <a:srgbClr val="FFC000"/>
      </a:hlink>
      <a:folHlink>
        <a:srgbClr val="FFC000"/>
      </a:folHlink>
    </a:clrScheme>
    <a:fontScheme name="Custom 1">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ellow1" id="{32DFD3F3-502A-44FD-8EE1-1667FF207D98}" vid="{76D31E06-B53A-4D6E-8DAA-321D3E82B682}"/>
    </a:ext>
  </a:extLst>
</a:theme>
</file>

<file path=docProps/app.xml><?xml version="1.0" encoding="utf-8"?>
<Properties xmlns="http://schemas.openxmlformats.org/officeDocument/2006/extended-properties" xmlns:vt="http://schemas.openxmlformats.org/officeDocument/2006/docPropsVTypes">
  <Template>yellow1</Template>
  <TotalTime>10523</TotalTime>
  <Words>8215</Words>
  <Application>Microsoft Office PowerPoint</Application>
  <PresentationFormat>Widescreen</PresentationFormat>
  <Paragraphs>420</Paragraphs>
  <Slides>97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97</vt:i4>
      </vt:variant>
    </vt:vector>
  </HeadingPairs>
  <TitlesOfParts>
    <vt:vector size="101" baseType="lpstr">
      <vt:lpstr>Arial</vt:lpstr>
      <vt:lpstr>Cambria</vt:lpstr>
      <vt:lpstr>Symbol</vt:lpstr>
      <vt:lpstr>yellow1</vt:lpstr>
      <vt:lpstr>Module 3-Network Layer</vt:lpstr>
      <vt:lpstr>PowerPoint Presentation</vt:lpstr>
      <vt:lpstr>Quality of Service</vt:lpstr>
      <vt:lpstr>Techniques for Achieving Good Quality of Service</vt:lpstr>
      <vt:lpstr>At t = 10 sec, playback begins. At this time, packets 1 through 6 have been buffered so that they can be removed from the buffer at uniform intervals for smooth play. Unfortunately, packet 8 has been delayed so much that it is not available when its play slot comes up, so playback must stop until it arrives, creating an annoying gap in the music or movie.  This problem can be alleviated by delaying the starting time even more, although doing so also requires a larger buffer. Commercial Web sites that contain streaming audio or video all use players that buffer for about 10 seconds before starting to play.</vt:lpstr>
      <vt:lpstr>PowerPoint Presentation</vt:lpstr>
      <vt:lpstr>The Leaky Bucket(LB) Algorithm</vt:lpstr>
      <vt:lpstr>PowerPoint Presentation</vt:lpstr>
      <vt:lpstr>The Leaky Bucket(LB) Algorithm</vt:lpstr>
      <vt:lpstr>The Token Bucket(TB) Algorithm</vt:lpstr>
      <vt:lpstr>The Token Bucket(TB) Algorithm</vt:lpstr>
      <vt:lpstr>Leaky Bucket vs Token Bucket</vt:lpstr>
      <vt:lpstr>Resource Reservation</vt:lpstr>
      <vt:lpstr>Admission Control </vt:lpstr>
      <vt:lpstr>Proportional Routing</vt:lpstr>
      <vt:lpstr>Packet Scheduling</vt:lpstr>
      <vt:lpstr>PowerPoint Presentation</vt:lpstr>
      <vt:lpstr>Internetworking</vt:lpstr>
      <vt:lpstr>Collection of interconnected networks</vt:lpstr>
      <vt:lpstr>How Networks Differ</vt:lpstr>
      <vt:lpstr>PowerPoint Presentation</vt:lpstr>
      <vt:lpstr>How Networks Can Be Connected</vt:lpstr>
      <vt:lpstr>PowerPoint Presentation</vt:lpstr>
      <vt:lpstr>PowerPoint Presentation</vt:lpstr>
      <vt:lpstr>Tunneling</vt:lpstr>
      <vt:lpstr>PowerPoint Presentation</vt:lpstr>
      <vt:lpstr>PowerPoint Presentation</vt:lpstr>
      <vt:lpstr>Internetwork Routing</vt:lpstr>
      <vt:lpstr>Fragmentation</vt:lpstr>
      <vt:lpstr>PowerPoint Presentation</vt:lpstr>
      <vt:lpstr>PowerPoint Presentation</vt:lpstr>
      <vt:lpstr>PowerPoint Presentation</vt:lpstr>
      <vt:lpstr>PowerPoint Presentation</vt:lpstr>
      <vt:lpstr>PowerPoint Presentation</vt:lpstr>
      <vt:lpstr>PowerPoint Presentation</vt:lpstr>
      <vt:lpstr>Integrated Services </vt:lpstr>
      <vt:lpstr>RSVP—The Resource reSerVation Protocol</vt:lpstr>
      <vt:lpstr>PowerPoint Presentation</vt:lpstr>
      <vt:lpstr>PowerPoint Presentation</vt:lpstr>
      <vt:lpstr>PowerPoint Presentation</vt:lpstr>
      <vt:lpstr>PowerPoint Presentation</vt:lpstr>
      <vt:lpstr>The Network Layer in the Internet</vt:lpstr>
      <vt:lpstr>PowerPoint Presentation</vt:lpstr>
      <vt:lpstr>PowerPoint Presentation</vt:lpstr>
      <vt:lpstr>PowerPoint Presentation</vt:lpstr>
      <vt:lpstr>The IP Protocol</vt:lpstr>
      <vt:lpstr>IPV4</vt:lpstr>
      <vt:lpstr>PowerPoint Presentation</vt:lpstr>
      <vt:lpstr>PowerPoint Presentation</vt:lpstr>
      <vt:lpstr>PowerPoint Presentation</vt:lpstr>
      <vt:lpstr>PowerPoint Presentation</vt:lpstr>
      <vt:lpstr>PowerPoint Presentation</vt:lpstr>
      <vt:lpstr>PowerPoint Presentation</vt:lpstr>
      <vt:lpstr>IP Addresses</vt:lpstr>
      <vt:lpstr>PowerPoint Presentation</vt:lpstr>
      <vt:lpstr>IPv4 Classful Addressing  </vt:lpstr>
      <vt:lpstr>PowerPoint Presentation</vt:lpstr>
      <vt:lpstr>PowerPoint Presentation</vt:lpstr>
      <vt:lpstr>Subnets</vt:lpstr>
      <vt:lpstr>PowerPoint Presentation</vt:lpstr>
      <vt:lpstr>Subnets </vt:lpstr>
      <vt:lpstr>PowerPoint Presentation</vt:lpstr>
      <vt:lpstr>CIDR (Classless Interdomain Routing) </vt:lpstr>
      <vt:lpstr>PowerPoint Presentation</vt:lpstr>
      <vt:lpstr>NAT </vt:lpstr>
      <vt:lpstr>PowerPoint Presentation</vt:lpstr>
      <vt:lpstr>Internet Control Protocols- Internet Control Message Protocol (ICMP) </vt:lpstr>
      <vt:lpstr>PowerPoint Presentation</vt:lpstr>
      <vt:lpstr>PowerPoint Presentation</vt:lpstr>
      <vt:lpstr>PowerPoint Presentation</vt:lpstr>
      <vt:lpstr>DHCP Protocol </vt:lpstr>
      <vt:lpstr>PowerPoint Presentation</vt:lpstr>
      <vt:lpstr>PowerPoint Presentation</vt:lpstr>
      <vt:lpstr>PowerPoint Presentation</vt:lpstr>
      <vt:lpstr>PowerPoint Presentation</vt:lpstr>
      <vt:lpstr>ARP—The Address Resolution Protocol</vt:lpstr>
      <vt:lpstr>PowerPoint Presentation</vt:lpstr>
      <vt:lpstr>PowerPoint Presentation</vt:lpstr>
      <vt:lpstr>PowerPoint Presentation</vt:lpstr>
      <vt:lpstr>PowerPoint Presentation</vt:lpstr>
      <vt:lpstr>OSPF—The Interior Gateway Routing Protocol </vt:lpstr>
      <vt:lpstr>Requirements for OSPF</vt:lpstr>
      <vt:lpstr>PowerPoint Presentation</vt:lpstr>
      <vt:lpstr>PowerPoint Presentation</vt:lpstr>
      <vt:lpstr>PowerPoint Presentation</vt:lpstr>
      <vt:lpstr>PowerPoint Presentation</vt:lpstr>
      <vt:lpstr>BGP—The Exterior Gateway Routing Protocol </vt:lpstr>
      <vt:lpstr>PowerPoint Presentation</vt:lpstr>
      <vt:lpstr>PowerPoint Presentation</vt:lpstr>
      <vt:lpstr>PowerPoint Presentation</vt:lpstr>
      <vt:lpstr>IPv6</vt:lpstr>
      <vt:lpstr>PowerPoint Presentation</vt:lpstr>
      <vt:lpstr>The main features of IPv6:</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vanisha santhmayor</cp:lastModifiedBy>
  <cp:revision>137</cp:revision>
  <dcterms:created xsi:type="dcterms:W3CDTF">2024-01-05T03:30:45Z</dcterms:created>
  <dcterms:modified xsi:type="dcterms:W3CDTF">2025-11-07T09:50:04Z</dcterms:modified>
</cp:coreProperties>
</file>